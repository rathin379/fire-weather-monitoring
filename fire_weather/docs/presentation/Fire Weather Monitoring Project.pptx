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8b028a793d4135" /><Relationship Type="http://schemas.openxmlformats.org/officeDocument/2006/relationships/extended-properties" Target="/docProps/app.xml" Id="Rda7f38b510df415a" /><Relationship Type="http://schemas.openxmlformats.org/officeDocument/2006/relationships/officeDocument" Target="/ppt/presentation.xml" Id="R554abd24cf5f4a1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a3aca77a99384a57"/>
  </p:sldMasterIdLst>
  <p:notesMasterIdLst>
    <p:notesMasterId xmlns:r="http://schemas.openxmlformats.org/officeDocument/2006/relationships" r:id="R48cbc8278bcc4ebc"/>
  </p:notesMasterIdLst>
  <p:sldIdLst>
    <p:sldId xmlns:r="http://schemas.openxmlformats.org/officeDocument/2006/relationships" id="256" r:id="R1f3652fc458a4bdc"/>
    <p:sldId xmlns:r="http://schemas.openxmlformats.org/officeDocument/2006/relationships" id="257" r:id="Rb0b79d55209f46e3"/>
    <p:sldId xmlns:r="http://schemas.openxmlformats.org/officeDocument/2006/relationships" id="258" r:id="R29c64ad5a30d49b8"/>
    <p:sldId xmlns:r="http://schemas.openxmlformats.org/officeDocument/2006/relationships" id="259" r:id="R0b11bf8e68bf4553"/>
    <p:sldId xmlns:r="http://schemas.openxmlformats.org/officeDocument/2006/relationships" id="260" r:id="R683203a18e0f4e9b"/>
    <p:sldId xmlns:r="http://schemas.openxmlformats.org/officeDocument/2006/relationships" id="261" r:id="R2d82dbbed71940c1"/>
    <p:sldId xmlns:r="http://schemas.openxmlformats.org/officeDocument/2006/relationships" id="262" r:id="R67fd2f9c48f640a0"/>
    <p:sldId xmlns:r="http://schemas.openxmlformats.org/officeDocument/2006/relationships" id="263" r:id="R26ec5c4d031240ea"/>
    <p:sldId xmlns:r="http://schemas.openxmlformats.org/officeDocument/2006/relationships" id="264" r:id="R08adc2c3ed5a4aa4"/>
    <p:sldId xmlns:r="http://schemas.openxmlformats.org/officeDocument/2006/relationships" id="265" r:id="Rd78bdca4db224349"/>
    <p:sldId xmlns:r="http://schemas.openxmlformats.org/officeDocument/2006/relationships" id="266" r:id="R2620baebf8fa40da"/>
    <p:sldId xmlns:r="http://schemas.openxmlformats.org/officeDocument/2006/relationships" id="267" r:id="R713cd7779d874b64"/>
    <p:sldId xmlns:r="http://schemas.openxmlformats.org/officeDocument/2006/relationships" id="268" r:id="R539808fa10f54cda"/>
    <p:sldId xmlns:r="http://schemas.openxmlformats.org/officeDocument/2006/relationships" id="269" r:id="R9a3a313946f2496d"/>
    <p:sldId xmlns:r="http://schemas.openxmlformats.org/officeDocument/2006/relationships" id="270" r:id="R6b64436fac1f4d7a"/>
    <p:sldId xmlns:r="http://schemas.openxmlformats.org/officeDocument/2006/relationships" id="271" r:id="Rd6cc2f732f90477c"/>
    <p:sldId xmlns:r="http://schemas.openxmlformats.org/officeDocument/2006/relationships" id="272" r:id="R02c1dd5c11c44515"/>
    <p:sldId xmlns:r="http://schemas.openxmlformats.org/officeDocument/2006/relationships" id="273" r:id="Read74eeb4f43460f"/>
    <p:sldId xmlns:r="http://schemas.openxmlformats.org/officeDocument/2006/relationships" id="274" r:id="Rc7d92ab8193d4fdf"/>
    <p:sldId xmlns:r="http://schemas.openxmlformats.org/officeDocument/2006/relationships" id="275" r:id="Rad7f1f4682e949be"/>
    <p:sldId xmlns:r="http://schemas.openxmlformats.org/officeDocument/2006/relationships" id="276" r:id="R5d8d197a3dfb40ad"/>
    <p:sldId xmlns:r="http://schemas.openxmlformats.org/officeDocument/2006/relationships" id="277" r:id="R35b3f68a02cb4b0d"/>
    <p:sldId xmlns:r="http://schemas.openxmlformats.org/officeDocument/2006/relationships" id="278" r:id="Rd5d58d21ba694cf3"/>
    <p:sldId xmlns:r="http://schemas.openxmlformats.org/officeDocument/2006/relationships" id="279" r:id="R8f513f16aaf348b2"/>
    <p:sldId xmlns:r="http://schemas.openxmlformats.org/officeDocument/2006/relationships" id="280" r:id="R13149cb04ebe4b23"/>
    <p:sldId xmlns:r="http://schemas.openxmlformats.org/officeDocument/2006/relationships" id="281" r:id="R7a34a7368e484959"/>
    <p:sldId xmlns:r="http://schemas.openxmlformats.org/officeDocument/2006/relationships" id="282" r:id="Rcbe8cdc8f96f4d52"/>
  </p:sldIdLst>
  <p:sldSz cx="12192000" cy="6858000"/>
  <p:notesSz cx="6858000" cy="9144000"/>
  <p:embeddedFontLst>
    <p:embeddedFont>
      <p:font typeface="Manrope SemiBold"/>
      <p:regular xmlns:r="http://schemas.openxmlformats.org/officeDocument/2006/relationships" r:id="Rdcc3a7badc814950"/>
      <p:bold xmlns:r="http://schemas.openxmlformats.org/officeDocument/2006/relationships" r:id="R0c6c62208e774b60"/>
    </p:embeddedFont>
    <p:embeddedFont>
      <p:font typeface="Inter"/>
      <p:regular xmlns:r="http://schemas.openxmlformats.org/officeDocument/2006/relationships" r:id="R08bd3d3992f74c6e"/>
      <p:bold xmlns:r="http://schemas.openxmlformats.org/officeDocument/2006/relationships" r:id="R796a12f2d56b4132"/>
      <p:italic xmlns:r="http://schemas.openxmlformats.org/officeDocument/2006/relationships" r:id="R92066b9ba8ae445b"/>
      <p:boldItalic xmlns:r="http://schemas.openxmlformats.org/officeDocument/2006/relationships" r:id="Rf25f589c6e0c4c21"/>
    </p:embeddedFont>
    <p:embeddedFont>
      <p:font typeface="Manrope"/>
      <p:regular xmlns:r="http://schemas.openxmlformats.org/officeDocument/2006/relationships" r:id="Rf88aa764330f43ea"/>
      <p:bold xmlns:r="http://schemas.openxmlformats.org/officeDocument/2006/relationships" r:id="Ref770801c98f467f"/>
    </p:embeddedFont>
    <p:embeddedFont>
      <p:font typeface="Urbanist SemiBold"/>
      <p:regular xmlns:r="http://schemas.openxmlformats.org/officeDocument/2006/relationships" r:id="R957d6c9439544b50"/>
      <p:bold xmlns:r="http://schemas.openxmlformats.org/officeDocument/2006/relationships" r:id="R9034a5f33ccc4fc8"/>
      <p:italic xmlns:r="http://schemas.openxmlformats.org/officeDocument/2006/relationships" r:id="Radf0d987e0404d7f"/>
      <p:boldItalic xmlns:r="http://schemas.openxmlformats.org/officeDocument/2006/relationships" r:id="R9757eb4cc69c4332"/>
    </p:embeddedFont>
    <p:embeddedFont>
      <p:font typeface="Urbanist Medium"/>
      <p:regular xmlns:r="http://schemas.openxmlformats.org/officeDocument/2006/relationships" r:id="Rfa66cdb0d50a454a"/>
      <p:bold xmlns:r="http://schemas.openxmlformats.org/officeDocument/2006/relationships" r:id="R8a6a0869fad24dca"/>
      <p:italic xmlns:r="http://schemas.openxmlformats.org/officeDocument/2006/relationships" r:id="R11d2413a821e4cc5"/>
      <p:boldItalic xmlns:r="http://schemas.openxmlformats.org/officeDocument/2006/relationships" r:id="R114a40f3a3754914"/>
    </p:embeddedFont>
    <p:embeddedFont>
      <p:font typeface="Urbanist"/>
      <p:regular xmlns:r="http://schemas.openxmlformats.org/officeDocument/2006/relationships" r:id="Rbf4f7515c27843a3"/>
      <p:bold xmlns:r="http://schemas.openxmlformats.org/officeDocument/2006/relationships" r:id="Re109c84dfdc440de"/>
      <p:italic xmlns:r="http://schemas.openxmlformats.org/officeDocument/2006/relationships" r:id="R1c2676b285364826"/>
      <p:boldItalic xmlns:r="http://schemas.openxmlformats.org/officeDocument/2006/relationships" r:id="R1ea320f84d2c4a7b"/>
    </p:embeddedFont>
    <p:embeddedFont>
      <p:font typeface="Poppins SemiBold"/>
      <p:regular xmlns:r="http://schemas.openxmlformats.org/officeDocument/2006/relationships" r:id="R748b64b382b24a1c"/>
      <p:bold xmlns:r="http://schemas.openxmlformats.org/officeDocument/2006/relationships" r:id="R8ee75868b26743b7"/>
      <p:italic xmlns:r="http://schemas.openxmlformats.org/officeDocument/2006/relationships" r:id="Rbec3436411ea4e6c"/>
      <p:boldItalic xmlns:r="http://schemas.openxmlformats.org/officeDocument/2006/relationships" r:id="R727c0dd343a6455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d55dc27ac545e2" /><Relationship Type="http://schemas.openxmlformats.org/officeDocument/2006/relationships/slideMaster" Target="/ppt/slideMasters/slideMaster1.xml" Id="Ra3aca77a99384a57" /><Relationship Type="http://schemas.openxmlformats.org/officeDocument/2006/relationships/notesMaster" Target="/ppt/notesMasters/notesMaster1.xml" Id="R48cbc8278bcc4ebc" /><Relationship Type="http://schemas.openxmlformats.org/officeDocument/2006/relationships/presProps" Target="/ppt/presProps.xml" Id="Rb233429a9cf5443a" /><Relationship Type="http://schemas.openxmlformats.org/officeDocument/2006/relationships/viewProps" Target="/ppt/viewProps.xml" Id="R959800bf8d584c28" /><Relationship Type="http://schemas.openxmlformats.org/officeDocument/2006/relationships/tableStyles" Target="/ppt/tableStyles.xml" Id="R5226abc2eea947fe" /><Relationship Type="http://schemas.openxmlformats.org/officeDocument/2006/relationships/font" Target="/ppt/fonts/font.dat" Id="Rdcc3a7badc814950" /><Relationship Type="http://schemas.openxmlformats.org/officeDocument/2006/relationships/font" Target="/ppt/fonts/font2.dat" Id="R0c6c62208e774b60" /><Relationship Type="http://schemas.openxmlformats.org/officeDocument/2006/relationships/font" Target="/ppt/fonts/font3.dat" Id="R08bd3d3992f74c6e" /><Relationship Type="http://schemas.openxmlformats.org/officeDocument/2006/relationships/font" Target="/ppt/fonts/font4.dat" Id="R796a12f2d56b4132" /><Relationship Type="http://schemas.openxmlformats.org/officeDocument/2006/relationships/font" Target="/ppt/fonts/font5.dat" Id="R92066b9ba8ae445b" /><Relationship Type="http://schemas.openxmlformats.org/officeDocument/2006/relationships/font" Target="/ppt/fonts/font6.dat" Id="Rf25f589c6e0c4c21" /><Relationship Type="http://schemas.openxmlformats.org/officeDocument/2006/relationships/font" Target="/ppt/fonts/font7.dat" Id="Rf88aa764330f43ea" /><Relationship Type="http://schemas.openxmlformats.org/officeDocument/2006/relationships/font" Target="/ppt/fonts/font8.dat" Id="Ref770801c98f467f" /><Relationship Type="http://schemas.openxmlformats.org/officeDocument/2006/relationships/font" Target="/ppt/fonts/font9.dat" Id="R957d6c9439544b50" /><Relationship Type="http://schemas.openxmlformats.org/officeDocument/2006/relationships/font" Target="/ppt/fonts/font10.dat" Id="R9034a5f33ccc4fc8" /><Relationship Type="http://schemas.openxmlformats.org/officeDocument/2006/relationships/font" Target="/ppt/fonts/font11.dat" Id="Radf0d987e0404d7f" /><Relationship Type="http://schemas.openxmlformats.org/officeDocument/2006/relationships/font" Target="/ppt/fonts/font12.dat" Id="R9757eb4cc69c4332" /><Relationship Type="http://schemas.openxmlformats.org/officeDocument/2006/relationships/font" Target="/ppt/fonts/font13.dat" Id="Rfa66cdb0d50a454a" /><Relationship Type="http://schemas.openxmlformats.org/officeDocument/2006/relationships/font" Target="/ppt/fonts/font14.dat" Id="R8a6a0869fad24dca" /><Relationship Type="http://schemas.openxmlformats.org/officeDocument/2006/relationships/font" Target="/ppt/fonts/font15.dat" Id="R11d2413a821e4cc5" /><Relationship Type="http://schemas.openxmlformats.org/officeDocument/2006/relationships/font" Target="/ppt/fonts/font16.dat" Id="R114a40f3a3754914" /><Relationship Type="http://schemas.openxmlformats.org/officeDocument/2006/relationships/font" Target="/ppt/fonts/font17.dat" Id="Rbf4f7515c27843a3" /><Relationship Type="http://schemas.openxmlformats.org/officeDocument/2006/relationships/font" Target="/ppt/fonts/font18.dat" Id="Re109c84dfdc440de" /><Relationship Type="http://schemas.openxmlformats.org/officeDocument/2006/relationships/font" Target="/ppt/fonts/font19.dat" Id="R1c2676b285364826" /><Relationship Type="http://schemas.openxmlformats.org/officeDocument/2006/relationships/font" Target="/ppt/fonts/font20.dat" Id="R1ea320f84d2c4a7b" /><Relationship Type="http://schemas.openxmlformats.org/officeDocument/2006/relationships/font" Target="/ppt/fonts/font21.dat" Id="R748b64b382b24a1c" /><Relationship Type="http://schemas.openxmlformats.org/officeDocument/2006/relationships/font" Target="/ppt/fonts/font22.dat" Id="R8ee75868b26743b7" /><Relationship Type="http://schemas.openxmlformats.org/officeDocument/2006/relationships/font" Target="/ppt/fonts/font23.dat" Id="Rbec3436411ea4e6c" /><Relationship Type="http://schemas.openxmlformats.org/officeDocument/2006/relationships/font" Target="/ppt/fonts/font24.dat" Id="R727c0dd343a6455e" /><Relationship Type="http://schemas.openxmlformats.org/officeDocument/2006/relationships/slide" Target="/ppt/slides/slide1.xml" Id="R1f3652fc458a4bdc" /><Relationship Type="http://schemas.openxmlformats.org/officeDocument/2006/relationships/slide" Target="/ppt/slides/slide2.xml" Id="Rb0b79d55209f46e3" /><Relationship Type="http://schemas.openxmlformats.org/officeDocument/2006/relationships/slide" Target="/ppt/slides/slide3.xml" Id="R29c64ad5a30d49b8" /><Relationship Type="http://schemas.openxmlformats.org/officeDocument/2006/relationships/slide" Target="/ppt/slides/slide4.xml" Id="R0b11bf8e68bf4553" /><Relationship Type="http://schemas.openxmlformats.org/officeDocument/2006/relationships/slide" Target="/ppt/slides/slide5.xml" Id="R683203a18e0f4e9b" /><Relationship Type="http://schemas.openxmlformats.org/officeDocument/2006/relationships/slide" Target="/ppt/slides/slide6.xml" Id="R2d82dbbed71940c1" /><Relationship Type="http://schemas.openxmlformats.org/officeDocument/2006/relationships/slide" Target="/ppt/slides/slide7.xml" Id="R67fd2f9c48f640a0" /><Relationship Type="http://schemas.openxmlformats.org/officeDocument/2006/relationships/slide" Target="/ppt/slides/slide8.xml" Id="R26ec5c4d031240ea" /><Relationship Type="http://schemas.openxmlformats.org/officeDocument/2006/relationships/slide" Target="/ppt/slides/slide9.xml" Id="R08adc2c3ed5a4aa4" /><Relationship Type="http://schemas.openxmlformats.org/officeDocument/2006/relationships/slide" Target="/ppt/slides/slide10.xml" Id="Rd78bdca4db224349" /><Relationship Type="http://schemas.openxmlformats.org/officeDocument/2006/relationships/slide" Target="/ppt/slides/slide11.xml" Id="R2620baebf8fa40da" /><Relationship Type="http://schemas.openxmlformats.org/officeDocument/2006/relationships/slide" Target="/ppt/slides/slide12.xml" Id="R713cd7779d874b64" /><Relationship Type="http://schemas.openxmlformats.org/officeDocument/2006/relationships/slide" Target="/ppt/slides/slide13.xml" Id="R539808fa10f54cda" /><Relationship Type="http://schemas.openxmlformats.org/officeDocument/2006/relationships/slide" Target="/ppt/slides/slide14.xml" Id="R9a3a313946f2496d" /><Relationship Type="http://schemas.openxmlformats.org/officeDocument/2006/relationships/slide" Target="/ppt/slides/slide15.xml" Id="R6b64436fac1f4d7a" /><Relationship Type="http://schemas.openxmlformats.org/officeDocument/2006/relationships/slide" Target="/ppt/slides/slide16.xml" Id="Rd6cc2f732f90477c" /><Relationship Type="http://schemas.openxmlformats.org/officeDocument/2006/relationships/slide" Target="/ppt/slides/slide17.xml" Id="R02c1dd5c11c44515" /><Relationship Type="http://schemas.openxmlformats.org/officeDocument/2006/relationships/slide" Target="/ppt/slides/slide18.xml" Id="Read74eeb4f43460f" /><Relationship Type="http://schemas.openxmlformats.org/officeDocument/2006/relationships/slide" Target="/ppt/slides/slide19.xml" Id="Rc7d92ab8193d4fdf" /><Relationship Type="http://schemas.openxmlformats.org/officeDocument/2006/relationships/slide" Target="/ppt/slides/slide20.xml" Id="Rad7f1f4682e949be" /><Relationship Type="http://schemas.openxmlformats.org/officeDocument/2006/relationships/slide" Target="/ppt/slides/slide21.xml" Id="R5d8d197a3dfb40ad" /><Relationship Type="http://schemas.openxmlformats.org/officeDocument/2006/relationships/slide" Target="/ppt/slides/slide22.xml" Id="R35b3f68a02cb4b0d" /><Relationship Type="http://schemas.openxmlformats.org/officeDocument/2006/relationships/slide" Target="/ppt/slides/slide23.xml" Id="Rd5d58d21ba694cf3" /><Relationship Type="http://schemas.openxmlformats.org/officeDocument/2006/relationships/slide" Target="/ppt/slides/slide24.xml" Id="R8f513f16aaf348b2" /><Relationship Type="http://schemas.openxmlformats.org/officeDocument/2006/relationships/slide" Target="/ppt/slides/slide25.xml" Id="R13149cb04ebe4b23" /><Relationship Type="http://schemas.openxmlformats.org/officeDocument/2006/relationships/slide" Target="/ppt/slides/slide26.xml" Id="R7a34a7368e484959" /><Relationship Type="http://schemas.openxmlformats.org/officeDocument/2006/relationships/slide" Target="/ppt/slides/slide27.xml" Id="Rcbe8cdc8f96f4d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6be983edf64d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c4fcdcf534c1e" /><Relationship Type="http://schemas.openxmlformats.org/officeDocument/2006/relationships/notesMaster" Target="/ppt/notesMasters/notesMaster1.xml" Id="R78bdf3f19c3e45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b487bd91243b0" /><Relationship Type="http://schemas.openxmlformats.org/officeDocument/2006/relationships/notesMaster" Target="/ppt/notesMasters/notesMaster1.xml" Id="Rccd9a2abf76649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0e4e5f0c34cb2" /><Relationship Type="http://schemas.openxmlformats.org/officeDocument/2006/relationships/notesMaster" Target="/ppt/notesMasters/notesMaster1.xml" Id="Rc3d5e4d577de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58c1b0915a4e02" /><Relationship Type="http://schemas.openxmlformats.org/officeDocument/2006/relationships/notesMaster" Target="/ppt/notesMasters/notesMaster1.xml" Id="R1960daa026a9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8c19ccab534bfa" /><Relationship Type="http://schemas.openxmlformats.org/officeDocument/2006/relationships/notesMaster" Target="/ppt/notesMasters/notesMaster1.xml" Id="Rcf29cf88f2be49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f58b0161d24f3b" /><Relationship Type="http://schemas.openxmlformats.org/officeDocument/2006/relationships/notesMaster" Target="/ppt/notesMasters/notesMaster1.xml" Id="Rda4d9834a62d49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0127bfe06a45ab" /><Relationship Type="http://schemas.openxmlformats.org/officeDocument/2006/relationships/notesMaster" Target="/ppt/notesMasters/notesMaster1.xml" Id="R45f40c3781ae4a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45c29aeb344b8d" /><Relationship Type="http://schemas.openxmlformats.org/officeDocument/2006/relationships/notesMaster" Target="/ppt/notesMasters/notesMaster1.xml" Id="Ree962627e8f246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4a2ac18d4948e8" /><Relationship Type="http://schemas.openxmlformats.org/officeDocument/2006/relationships/notesMaster" Target="/ppt/notesMasters/notesMaster1.xml" Id="R41cad6522bc646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b7d300a6f44648" /><Relationship Type="http://schemas.openxmlformats.org/officeDocument/2006/relationships/notesMaster" Target="/ppt/notesMasters/notesMaster1.xml" Id="R64094d3293b747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96ab22c0dd4216" /><Relationship Type="http://schemas.openxmlformats.org/officeDocument/2006/relationships/notesMaster" Target="/ppt/notesMasters/notesMaster1.xml" Id="R296dd4fc3f0542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59a3da78a24808" /><Relationship Type="http://schemas.openxmlformats.org/officeDocument/2006/relationships/notesMaster" Target="/ppt/notesMasters/notesMaster1.xml" Id="R534427ad7b7c48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6d16e18451441f" /><Relationship Type="http://schemas.openxmlformats.org/officeDocument/2006/relationships/notesMaster" Target="/ppt/notesMasters/notesMaster1.xml" Id="Rce7386da4c6d41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77788233464ecb" /><Relationship Type="http://schemas.openxmlformats.org/officeDocument/2006/relationships/notesMaster" Target="/ppt/notesMasters/notesMaster1.xml" Id="R2500b6a136c941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929eacf3c6467f" /><Relationship Type="http://schemas.openxmlformats.org/officeDocument/2006/relationships/notesMaster" Target="/ppt/notesMasters/notesMaster1.xml" Id="Rcc41d3b9a43c4a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e0bee03ba24a2f" /><Relationship Type="http://schemas.openxmlformats.org/officeDocument/2006/relationships/notesMaster" Target="/ppt/notesMasters/notesMaster1.xml" Id="Ra1db239009e143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edb817e4b247f3" /><Relationship Type="http://schemas.openxmlformats.org/officeDocument/2006/relationships/notesMaster" Target="/ppt/notesMasters/notesMaster1.xml" Id="Re71a1b61c3ea4a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66b43eaef54784" /><Relationship Type="http://schemas.openxmlformats.org/officeDocument/2006/relationships/notesMaster" Target="/ppt/notesMasters/notesMaster1.xml" Id="R36b9034ef644451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8434a1831fa467f" /><Relationship Type="http://schemas.openxmlformats.org/officeDocument/2006/relationships/notesMaster" Target="/ppt/notesMasters/notesMaster1.xml" Id="Rf1beee4aa3ff413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8885c43eaf42c2" /><Relationship Type="http://schemas.openxmlformats.org/officeDocument/2006/relationships/notesMaster" Target="/ppt/notesMasters/notesMaster1.xml" Id="Rcd687cf3cb7844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03f8940d49b4804" /><Relationship Type="http://schemas.openxmlformats.org/officeDocument/2006/relationships/notesMaster" Target="/ppt/notesMasters/notesMaster1.xml" Id="R6f06e2a9119b431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4ba592a239540af" /><Relationship Type="http://schemas.openxmlformats.org/officeDocument/2006/relationships/notesMaster" Target="/ppt/notesMasters/notesMaster1.xml" Id="R3cf29b282da44b4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ad0ba3e1f554b28" /><Relationship Type="http://schemas.openxmlformats.org/officeDocument/2006/relationships/notesMaster" Target="/ppt/notesMasters/notesMaster1.xml" Id="Rcc33cef987ad4f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792157d1e54c33" /><Relationship Type="http://schemas.openxmlformats.org/officeDocument/2006/relationships/notesMaster" Target="/ppt/notesMasters/notesMaster1.xml" Id="Rae045a3d88af45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56817063ad449a" /><Relationship Type="http://schemas.openxmlformats.org/officeDocument/2006/relationships/notesMaster" Target="/ppt/notesMasters/notesMaster1.xml" Id="Rdbbf8f33eeb04e3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938b145de44318" /><Relationship Type="http://schemas.openxmlformats.org/officeDocument/2006/relationships/notesMaster" Target="/ppt/notesMasters/notesMaster1.xml" Id="R705be372761a44c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efa1816faf4ead" /><Relationship Type="http://schemas.openxmlformats.org/officeDocument/2006/relationships/notesMaster" Target="/ppt/notesMasters/notesMaster1.xml" Id="R023a0800a771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457200" lvl="0" indent="-29845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u="sng">
                <a:solidFill>
                  <a:schemeClr val="hlink"/>
                </a:solidFill>
              </a:rPr>
              <a:t>[Sources]</a:t>
            </a:r>
          </a:p>
          <a:p xmlns:a="http://schemas.openxmlformats.org/drawingml/2006/main">
            <a:pPr marL="457200" lvl="0" indent="-29845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u="sng">
                <a:solidFill>
                  <a:schemeClr val="hlink"/>
                </a:solidFill>
              </a:rPr>
              <a:t>- Weather Archive Jena dataset and research sources listed on slide 26.</a:t>
            </a:r>
          </a:p>
          <a:p xmlns:a="http://schemas.openxmlformats.org/drawingml/2006/main">
            <a:pPr marL="457200" lvl="0" indent="-29845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u="sng">
                <a:solidFill>
                  <a:schemeClr val="hlink"/>
                </a:solidFill>
              </a:rP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Weather Archive Jena dataset and research sources listed on slide 26.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Fire_Weather_Monitoring_Deep_Dive.docx.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ai_worker/models/manifest.json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ai_worker/train_models.py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ai_worker/ml_service.py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docs/FIRE_DATA_CONTRACT.md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 source files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integration validation completed August 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docs/FIRE_DATA_CONTRACT.md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 source files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integration validation completed August 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docs/FIRE_DATA_CONTRACT.md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 source files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integration validation completed August 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docs/FIRE_DATA_CONTRACT.md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 source files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integration validation completed August 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docs/FIRE_DATA_CONTRACT.md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backend source files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Local integration validation completed August 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Sources and project files listed in the presentation and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Sources and project files listed in the presentation and final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5f6cd05b649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b3cc5434cf4a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ed9e4a7564c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a9d9c5a12e41e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579f8dc3146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4405c38ab4be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8ddbf05e364f1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95b02b51f4d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e876ee206455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b968407d2459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4ade24b84a4701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E3EF55E-DA95-4B33-8A41-29FB684A28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3666B82-F18D-434E-8283-BADD6800EC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089076EA-0244-4FEC-83AA-3694A3681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53B43285-792C-4826-82E0-783FCB3957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0DD3FB7C-CD97-483B-9232-992C542EA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F683F934-0D88-46C9-9503-C753F1EA6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F4EFECAC-5064-468E-8CD8-2D32F41E77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5BE175BF-7283-400F-9C7F-02937014DC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E60B0DE9-1E12-4CD2-9FB8-DB1BC25B80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3FE7E825-D0D4-484B-BD59-CE9D340CE3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19C0C247-D348-4881-8D93-5F6752BECC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DB55DB40-9EEE-4AD6-90F6-C0661689CD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8715D35E-8802-46AB-8AEA-A9AF78C183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7FCA7309-BACD-4504-AE59-DD92253B0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59A65E86-91C5-44C6-877D-17DAF65087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E31CAA57-2533-41EE-BA03-47558368B7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95BD3507-E122-4328-9DB6-A5B47B224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B0E99574-EB04-4DD9-A0E4-DF449A2D58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D256915F-B1F0-4537-8456-460C45423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7B059F37-5F67-4D63-ADD0-BF308B6637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2721F1D4-7327-4F0E-A179-05F4FCA6B8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EEDB2C8D-1D9B-441F-A1C0-59E11B5169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311891E9-6E7B-43AB-BDF4-7D6B27E6D8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99396FC4-66F9-4843-A8FD-50AF573FAD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6F0C23B1-4B16-465B-91CE-28ACAA699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3DAE962D-88B9-4532-9888-825B95FC24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BD5F6C16-6B38-462F-BAB7-47D7EBFF84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9AEB68C6-AEF2-4CD5-8FBA-41BEA6DFB71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7E8A4CBD-F4EF-4CD9-A4C7-CEB10965F95A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196C386-5D70-4AB8-9558-E135939906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08E2FE5A-C64A-4900-AECD-BDA7BFD1D0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88C21081-6A82-45A7-B059-FCC37880E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ACEC211F-6F94-4E00-A625-0A4E595073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8AB2876D-985E-49D0-BFEF-519A841FC8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97E3B49D-3BC7-45D7-ADF3-06F627E66D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87AFC5D2-9D21-40FC-984D-A4B5E34E9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44ED693D-7B72-4DCD-BA0E-C4DB8A4FF3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1ED721D2-C826-4FB3-94AF-04D59CA2E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C115239A-3B2A-4ED1-BC16-8EA83E133C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51EBE4E1-7874-4FEC-8B9D-AFF446AC52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979CF39E-61E9-4D76-BCBB-A4B0F120EE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5CBD5859-8A7D-42AA-9C47-1D7DEA74F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191CBFBD-012B-4769-A882-E553B49A4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33C2B589-F234-4F10-89BA-76EDB5FCD40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90555358-7951-4025-B30D-7DED47F32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1F305D77-6676-46E1-A87F-14C730722C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AB8A11C8-B977-4B9A-84CE-BBA53724B0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C69EC847-0682-402F-BB90-C0D2C63AA0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033DB19A-6A93-4A6C-BE1D-4CDD887BA6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B6451397-781A-46E3-AF1E-6CDAA6452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31A4E202-6F4B-4F60-B2B1-756C8F6FED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BF294410-74D8-4258-9F26-0572083B2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05D55727-93F1-4A48-9441-DD473A688C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E0FB6FDC-C6D1-45CA-A397-3FBB3558D8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3566DA2E-D4B3-403B-82BF-6E457596D1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7F2ED0A8-4358-4A61-A6D7-42F882653E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4325E041-5454-427D-B2AC-C1D1AB094C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BEAB1598-5811-4994-AE08-32582DDE11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9e8be7930f4934" /><Relationship Type="http://schemas.openxmlformats.org/officeDocument/2006/relationships/slideLayout" Target="/ppt/slideLayouts/slideLayout1.xml" Id="R970fa373686d44ae" /><Relationship Type="http://schemas.openxmlformats.org/officeDocument/2006/relationships/slideLayout" Target="/ppt/slideLayouts/slideLayout2.xml" Id="R1dcc0a88a8f841a4" /><Relationship Type="http://schemas.openxmlformats.org/officeDocument/2006/relationships/slideLayout" Target="/ppt/slideLayouts/slideLayout3.xml" Id="R4507860fea9a4c35" /><Relationship Type="http://schemas.openxmlformats.org/officeDocument/2006/relationships/slideLayout" Target="/ppt/slideLayouts/slideLayout4.xml" Id="R27f307ffdc0f4d61" /><Relationship Type="http://schemas.openxmlformats.org/officeDocument/2006/relationships/slideLayout" Target="/ppt/slideLayouts/slideLayout5.xml" Id="R4056b6e3fb4e49f8" /><Relationship Type="http://schemas.openxmlformats.org/officeDocument/2006/relationships/slideLayout" Target="/ppt/slideLayouts/slideLayout6.xml" Id="Re6564a742d05481f" /><Relationship Type="http://schemas.openxmlformats.org/officeDocument/2006/relationships/slideLayout" Target="/ppt/slideLayouts/slideLayout7.xml" Id="Re4199e4a1bca4d55" /><Relationship Type="http://schemas.openxmlformats.org/officeDocument/2006/relationships/slideLayout" Target="/ppt/slideLayouts/slideLayout8.xml" Id="R7d52a7081ca24d8c" /><Relationship Type="http://schemas.openxmlformats.org/officeDocument/2006/relationships/slideLayout" Target="/ppt/slideLayouts/slideLayout9.xml" Id="R2bd2a5216f79450e" /><Relationship Type="http://schemas.openxmlformats.org/officeDocument/2006/relationships/slideLayout" Target="/ppt/slideLayouts/slideLayout10.xml" Id="R26e8d1d81fdd4e87" /><Relationship Type="http://schemas.openxmlformats.org/officeDocument/2006/relationships/slideLayout" Target="/ppt/slideLayouts/slideLayout11.xml" Id="R5cd048f54edc465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5DCBAFE3-21E1-450C-B225-6884C8559F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BEFA10D3-8C05-4245-8723-61EBA93A3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D872C0F-891C-4BA0-8A07-E54D8595D2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F4EE748E-2455-41B2-8053-69D7D187AA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A4CDEAA6-318C-4B3F-BCE6-69BEF63D8E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fa373686d44ae"/>
    <p:sldLayoutId xmlns:r="http://schemas.openxmlformats.org/officeDocument/2006/relationships" id="2147483650" r:id="R1dcc0a88a8f841a4"/>
    <p:sldLayoutId xmlns:r="http://schemas.openxmlformats.org/officeDocument/2006/relationships" id="2147483651" r:id="R4507860fea9a4c35"/>
    <p:sldLayoutId xmlns:r="http://schemas.openxmlformats.org/officeDocument/2006/relationships" id="2147483652" r:id="R27f307ffdc0f4d61"/>
    <p:sldLayoutId xmlns:r="http://schemas.openxmlformats.org/officeDocument/2006/relationships" id="2147483653" r:id="R4056b6e3fb4e49f8"/>
    <p:sldLayoutId xmlns:r="http://schemas.openxmlformats.org/officeDocument/2006/relationships" id="2147483654" r:id="Re6564a742d05481f"/>
    <p:sldLayoutId xmlns:r="http://schemas.openxmlformats.org/officeDocument/2006/relationships" id="2147483655" r:id="Re4199e4a1bca4d55"/>
    <p:sldLayoutId xmlns:r="http://schemas.openxmlformats.org/officeDocument/2006/relationships" id="2147483656" r:id="R7d52a7081ca24d8c"/>
    <p:sldLayoutId xmlns:r="http://schemas.openxmlformats.org/officeDocument/2006/relationships" id="2147483657" r:id="R2bd2a5216f79450e"/>
    <p:sldLayoutId xmlns:r="http://schemas.openxmlformats.org/officeDocument/2006/relationships" id="2147483658" r:id="R26e8d1d81fdd4e87"/>
    <p:sldLayoutId xmlns:r="http://schemas.openxmlformats.org/officeDocument/2006/relationships" id="2147483659" r:id="R5cd048f54edc465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6efc5d6aa4f5b" /><Relationship Type="http://schemas.openxmlformats.org/officeDocument/2006/relationships/image" Target="/ppt/media/image.png" Id="R7c7ea06b65e54fc6" /><Relationship Type="http://schemas.openxmlformats.org/officeDocument/2006/relationships/notesSlide" Target="/ppt/notesSlides/notesSlide1.xml" Id="R939f674496f7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81be294594f2b" /><Relationship Type="http://schemas.openxmlformats.org/officeDocument/2006/relationships/image" Target="/ppt/media/image.png" Id="Ra4c1ebea94bf4212" /><Relationship Type="http://schemas.openxmlformats.org/officeDocument/2006/relationships/notesSlide" Target="/ppt/notesSlides/notesSlide2.xml" Id="R430936f0d8c545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b61e1fc284d68" /><Relationship Type="http://schemas.openxmlformats.org/officeDocument/2006/relationships/image" Target="/ppt/media/image.png" Id="R7c50bd3432cf4f32" /><Relationship Type="http://schemas.openxmlformats.org/officeDocument/2006/relationships/image" Target="/ppt/media/image2.png" Id="R427209be68a84458" /><Relationship Type="http://schemas.openxmlformats.org/officeDocument/2006/relationships/image" Target="/ppt/media/image3.png" Id="R51795c51b86c4af5" /><Relationship Type="http://schemas.openxmlformats.org/officeDocument/2006/relationships/image" Target="/ppt/media/image4.png" Id="R85db763b017e493c" /><Relationship Type="http://schemas.openxmlformats.org/officeDocument/2006/relationships/image" Target="/ppt/media/image5.png" Id="R60347da0903f46bf" /><Relationship Type="http://schemas.openxmlformats.org/officeDocument/2006/relationships/image" Target="/ppt/media/image6.png" Id="R28cb6b8744ba4a98" /><Relationship Type="http://schemas.openxmlformats.org/officeDocument/2006/relationships/notesSlide" Target="/ppt/notesSlides/notesSlide3.xml" Id="Ra4209fa9cf274c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ba3df51d04a66" /><Relationship Type="http://schemas.openxmlformats.org/officeDocument/2006/relationships/image" Target="/ppt/media/image.png" Id="R798e920fb9094456" /><Relationship Type="http://schemas.openxmlformats.org/officeDocument/2006/relationships/image" Target="/ppt/media/image7.png" Id="Rfdbed08e3845462e" /><Relationship Type="http://schemas.openxmlformats.org/officeDocument/2006/relationships/image" Target="/ppt/media/image8.png" Id="R1a3e22fbf6c548de" /><Relationship Type="http://schemas.openxmlformats.org/officeDocument/2006/relationships/image" Target="/ppt/media/image9.png" Id="R548a3770c6d243e7" /><Relationship Type="http://schemas.openxmlformats.org/officeDocument/2006/relationships/image" Target="/ppt/media/image10.png" Id="Rbbdc09732d0f4d58" /><Relationship Type="http://schemas.openxmlformats.org/officeDocument/2006/relationships/image" Target="/ppt/media/image11.png" Id="R219e0cea82b84330" /><Relationship Type="http://schemas.openxmlformats.org/officeDocument/2006/relationships/image" Target="/ppt/media/image12.png" Id="Rccc1de4301de4272" /><Relationship Type="http://schemas.openxmlformats.org/officeDocument/2006/relationships/notesSlide" Target="/ppt/notesSlides/notesSlide4.xml" Id="R0b356f6611fd4b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1fb1c67d54d72" /><Relationship Type="http://schemas.openxmlformats.org/officeDocument/2006/relationships/image" Target="/ppt/media/image.png" Id="Rdb3f82386e1644df" /><Relationship Type="http://schemas.openxmlformats.org/officeDocument/2006/relationships/notesSlide" Target="/ppt/notesSlides/notesSlide5.xml" Id="Re9f1c5618ead45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4732f30da40c4" /><Relationship Type="http://schemas.openxmlformats.org/officeDocument/2006/relationships/image" Target="/ppt/media/image.png" Id="Rc94d8f88677748d1" /><Relationship Type="http://schemas.openxmlformats.org/officeDocument/2006/relationships/image" Target="/ppt/media/image13.png" Id="R466e8f276e2846cf" /><Relationship Type="http://schemas.openxmlformats.org/officeDocument/2006/relationships/notesSlide" Target="/ppt/notesSlides/notesSlide6.xml" Id="Rba11c1926cdb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431a83e784c07" /><Relationship Type="http://schemas.openxmlformats.org/officeDocument/2006/relationships/image" Target="/ppt/media/image14.png" Id="R5a328ad2d38e473b" /><Relationship Type="http://schemas.openxmlformats.org/officeDocument/2006/relationships/image" Target="/ppt/media/image15.png" Id="R1a5993a8bfc64025" /><Relationship Type="http://schemas.openxmlformats.org/officeDocument/2006/relationships/image" Target="/ppt/media/image16.png" Id="Rc298b3743edc4ae5" /><Relationship Type="http://schemas.openxmlformats.org/officeDocument/2006/relationships/image" Target="/ppt/media/image17.png" Id="R57febc3b435d4b36" /><Relationship Type="http://schemas.openxmlformats.org/officeDocument/2006/relationships/image" Target="/ppt/media/image18.png" Id="R7a066ebfa2fc44df" /><Relationship Type="http://schemas.openxmlformats.org/officeDocument/2006/relationships/notesSlide" Target="/ppt/notesSlides/notesSlide7.xml" Id="Rd4156360ed574e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31925281f477b" /><Relationship Type="http://schemas.openxmlformats.org/officeDocument/2006/relationships/image" Target="/ppt/media/image.png" Id="R85dffc396a884c17" /><Relationship Type="http://schemas.openxmlformats.org/officeDocument/2006/relationships/image" Target="/ppt/media/image19.png" Id="R22d3564fa4ef4ee0" /><Relationship Type="http://schemas.openxmlformats.org/officeDocument/2006/relationships/notesSlide" Target="/ppt/notesSlides/notesSlide8.xml" Id="Rd6459c2895204f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6cd822ddf4bf5" /><Relationship Type="http://schemas.openxmlformats.org/officeDocument/2006/relationships/image" Target="/ppt/media/image.png" Id="R20549397a46d4d52" /><Relationship Type="http://schemas.openxmlformats.org/officeDocument/2006/relationships/image" Target="/ppt/media/image20.png" Id="Ra76dce1a803b4a18" /><Relationship Type="http://schemas.openxmlformats.org/officeDocument/2006/relationships/image" Target="/ppt/media/image21.png" Id="R8007ca7670644ccd" /><Relationship Type="http://schemas.openxmlformats.org/officeDocument/2006/relationships/notesSlide" Target="/ppt/notesSlides/notesSlide9.xml" Id="R578ef56c4f2344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d754786da42fc" /><Relationship Type="http://schemas.openxmlformats.org/officeDocument/2006/relationships/image" Target="/ppt/media/image14.png" Id="Rec363cd9e53c4322" /><Relationship Type="http://schemas.openxmlformats.org/officeDocument/2006/relationships/image" Target="/ppt/media/image22.png" Id="R3f075b0085b04c99" /><Relationship Type="http://schemas.openxmlformats.org/officeDocument/2006/relationships/image" Target="/ppt/media/image23.png" Id="Rbd795c5026164c04" /><Relationship Type="http://schemas.openxmlformats.org/officeDocument/2006/relationships/notesSlide" Target="/ppt/notesSlides/notesSlide10.xml" Id="R0a875f5bb89f41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47033177d499b" /><Relationship Type="http://schemas.openxmlformats.org/officeDocument/2006/relationships/image" Target="/ppt/media/image.png" Id="R057b5e3b570c45c2" /><Relationship Type="http://schemas.openxmlformats.org/officeDocument/2006/relationships/image" Target="/ppt/media/image24.png" Id="Recacd3794df64eb6" /><Relationship Type="http://schemas.openxmlformats.org/officeDocument/2006/relationships/image" Target="/ppt/media/image25.png" Id="Rf1c2703bcb164984" /><Relationship Type="http://schemas.openxmlformats.org/officeDocument/2006/relationships/notesSlide" Target="/ppt/notesSlides/notesSlide11.xml" Id="Ra90de81f899b44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721afebfa4ad1" /><Relationship Type="http://schemas.openxmlformats.org/officeDocument/2006/relationships/image" Target="/ppt/media/image.png" Id="Rf61abf37bb3b4d2c" /><Relationship Type="http://schemas.openxmlformats.org/officeDocument/2006/relationships/image" Target="/ppt/media/image2.png" Id="R73dbabf291674409" /><Relationship Type="http://schemas.openxmlformats.org/officeDocument/2006/relationships/image" Target="/ppt/media/image26.png" Id="Ra08bd6632dca4464" /><Relationship Type="http://schemas.openxmlformats.org/officeDocument/2006/relationships/image" Target="/ppt/media/image27.png" Id="R4a18bf0aca66440a" /><Relationship Type="http://schemas.openxmlformats.org/officeDocument/2006/relationships/notesSlide" Target="/ppt/notesSlides/notesSlide12.xml" Id="R2fb3b6844cae47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5ef247f94fd5" /><Relationship Type="http://schemas.openxmlformats.org/officeDocument/2006/relationships/image" Target="/ppt/media/image.png" Id="R7ccb0f9410eb4f4c" /><Relationship Type="http://schemas.openxmlformats.org/officeDocument/2006/relationships/notesSlide" Target="/ppt/notesSlides/notesSlide13.xml" Id="Rba0922a634f048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60c32118496d" /><Relationship Type="http://schemas.openxmlformats.org/officeDocument/2006/relationships/image" Target="/ppt/media/image.png" Id="R2f3371a0d5074228" /><Relationship Type="http://schemas.openxmlformats.org/officeDocument/2006/relationships/image" Target="/ppt/media/image28.png" Id="R82d09496cae9478a" /><Relationship Type="http://schemas.openxmlformats.org/officeDocument/2006/relationships/image" Target="/ppt/media/image29.png" Id="Rfbc17be18277415d" /><Relationship Type="http://schemas.openxmlformats.org/officeDocument/2006/relationships/notesSlide" Target="/ppt/notesSlides/notesSlide14.xml" Id="R3392cc6b612d4e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bef5ef20f4648" /><Relationship Type="http://schemas.openxmlformats.org/officeDocument/2006/relationships/image" Target="/ppt/media/image30.png" Id="R92b77b7bdb3b4ff4" /><Relationship Type="http://schemas.openxmlformats.org/officeDocument/2006/relationships/image" Target="/ppt/media/image29.png" Id="R9d942d9eb0474367" /><Relationship Type="http://schemas.openxmlformats.org/officeDocument/2006/relationships/notesSlide" Target="/ppt/notesSlides/notesSlide15.xml" Id="Rca16dc82ec1d4c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154b9d8f04dc0" /><Relationship Type="http://schemas.openxmlformats.org/officeDocument/2006/relationships/image" Target="/ppt/media/image29.png" Id="R61044bd001aa4b99" /><Relationship Type="http://schemas.openxmlformats.org/officeDocument/2006/relationships/image" Target="/ppt/media/image31.png" Id="R9be07841e3e646be" /><Relationship Type="http://schemas.openxmlformats.org/officeDocument/2006/relationships/notesSlide" Target="/ppt/notesSlides/notesSlide16.xml" Id="R7690a07abd044c8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397efdeaa4571" /><Relationship Type="http://schemas.openxmlformats.org/officeDocument/2006/relationships/notesSlide" Target="/ppt/notesSlides/notesSlide17.xml" Id="R6b21c8c0c2084c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6201a84cb4b4c" /><Relationship Type="http://schemas.openxmlformats.org/officeDocument/2006/relationships/image" Target="/ppt/media/image.png" Id="Ra2f865a2f7bf4dc3" /><Relationship Type="http://schemas.openxmlformats.org/officeDocument/2006/relationships/image" Target="/ppt/media/image29.png" Id="Ref18d61de1e84801" /><Relationship Type="http://schemas.openxmlformats.org/officeDocument/2006/relationships/image" Target="/ppt/media/image32.png" Id="R24a67a9875d14d26" /><Relationship Type="http://schemas.openxmlformats.org/officeDocument/2006/relationships/notesSlide" Target="/ppt/notesSlides/notesSlide18.xml" Id="Ra833d3cc08d949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6f76405d6b4c71" /><Relationship Type="http://schemas.openxmlformats.org/officeDocument/2006/relationships/image" Target="/ppt/media/image.png" Id="R0d57c4d5d189429d" /><Relationship Type="http://schemas.openxmlformats.org/officeDocument/2006/relationships/image" Target="/ppt/media/image29.png" Id="R372f995b96da4d19" /><Relationship Type="http://schemas.openxmlformats.org/officeDocument/2006/relationships/image" Target="/ppt/media/image33.png" Id="R693312c0bc144a44" /><Relationship Type="http://schemas.openxmlformats.org/officeDocument/2006/relationships/notesSlide" Target="/ppt/notesSlides/notesSlide19.xml" Id="Rd5a8de863b2745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154a69a104fd0" /><Relationship Type="http://schemas.openxmlformats.org/officeDocument/2006/relationships/image" Target="/ppt/media/image.png" Id="Rb722e5db2e9c41e5" /><Relationship Type="http://schemas.openxmlformats.org/officeDocument/2006/relationships/image" Target="/ppt/media/image29.png" Id="R20ece13723e94be0" /><Relationship Type="http://schemas.openxmlformats.org/officeDocument/2006/relationships/image" Target="/ppt/media/image34.png" Id="R809f72ff51f74c99" /><Relationship Type="http://schemas.openxmlformats.org/officeDocument/2006/relationships/notesSlide" Target="/ppt/notesSlides/notesSlide20.xml" Id="Rcbdc3df0fbfa425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13d731d2f443c" /><Relationship Type="http://schemas.openxmlformats.org/officeDocument/2006/relationships/notesSlide" Target="/ppt/notesSlides/notesSlide21.xml" Id="Rf9bd7691b3c44b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9a6c78dc84f82" /><Relationship Type="http://schemas.openxmlformats.org/officeDocument/2006/relationships/notesSlide" Target="/ppt/notesSlides/notesSlide22.xml" Id="Rd5611d4408a945b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b905792824bb4" /><Relationship Type="http://schemas.openxmlformats.org/officeDocument/2006/relationships/notesSlide" Target="/ppt/notesSlides/notesSlide23.xml" Id="R95feac0bb0bd47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1e8db7e24c45" /><Relationship Type="http://schemas.openxmlformats.org/officeDocument/2006/relationships/notesSlide" Target="/ppt/notesSlides/notesSlide24.xml" Id="R03ab4280597f42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6b44ddae54317" /><Relationship Type="http://schemas.openxmlformats.org/officeDocument/2006/relationships/image" Target="/ppt/media/image.png" Id="R37dbebf0ac864c24" /><Relationship Type="http://schemas.openxmlformats.org/officeDocument/2006/relationships/notesSlide" Target="/ppt/notesSlides/notesSlide25.xml" Id="Rf01f546142fa4c2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dd57709cb4626" /><Relationship Type="http://schemas.openxmlformats.org/officeDocument/2006/relationships/image" Target="/ppt/media/image.png" Id="Rf40af90b96894245" /><Relationship Type="http://schemas.openxmlformats.org/officeDocument/2006/relationships/hyperlink" Target="https://www.theweathernetwork.com/en/news/weather/severe/how-the-30-30-30-rule-is-essential-for-wildfire-safety" TargetMode="External" Id="Rdf1a0005d6294006" /><Relationship Type="http://schemas.openxmlformats.org/officeDocument/2006/relationships/hyperlink" Target="https://www.theweathernetwork.com/en/news/weather/severe/how-the-30-30-30-rule-is-essential-for-wildfire-safety" TargetMode="External" Id="R7e38b34db1da48ac" /><Relationship Type="http://schemas.openxmlformats.org/officeDocument/2006/relationships/hyperlink" Target="https://www.weather.gov/safety/wildfire-ww" TargetMode="External" Id="R70c353bcdbef4f92" /><Relationship Type="http://schemas.openxmlformats.org/officeDocument/2006/relationships/hyperlink" Target="https://www.weather.gov/fire/" TargetMode="External" Id="R74937584e9ab455d" /><Relationship Type="http://schemas.openxmlformats.org/officeDocument/2006/relationships/hyperlink" Target="https://firms.modaps.eosdis.nasa.gov/" TargetMode="External" Id="R54c2a4bdf0d04084" /><Relationship Type="http://schemas.openxmlformats.org/officeDocument/2006/relationships/hyperlink" Target="https://archive.ics.uci.edu/dataset/162/forest+fires" TargetMode="External" Id="R5eb5fbcbc13f45bf" /><Relationship Type="http://schemas.openxmlformats.org/officeDocument/2006/relationships/hyperlink" Target="https://www.kaggle.com/datasets/pankrzysiu/weather-archive-jena" TargetMode="External" Id="Rf13b30339c4f4930" /><Relationship Type="http://schemas.openxmlformats.org/officeDocument/2006/relationships/hyperlink" Target="https://www.w3schools.com/python/" TargetMode="External" Id="R7cbed1ee7df74f68" /><Relationship Type="http://schemas.openxmlformats.org/officeDocument/2006/relationships/notesSlide" Target="/ppt/notesSlides/notesSlide26.xml" Id="Rf617e8444ab9425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3caecda634069" /><Relationship Type="http://schemas.openxmlformats.org/officeDocument/2006/relationships/image" Target="/ppt/media/image35.png" Id="R5d89b4cc29104e68" /><Relationship Type="http://schemas.openxmlformats.org/officeDocument/2006/relationships/image" Target="/ppt/media/image36.png" Id="Rde8f70e4603c487c" /><Relationship Type="http://schemas.openxmlformats.org/officeDocument/2006/relationships/image" Target="/ppt/media/image37.png" Id="R1fb71c1a8fe9438b" /><Relationship Type="http://schemas.openxmlformats.org/officeDocument/2006/relationships/image" Target="/ppt/media/image38.png" Id="R375cca847cb644ed" /><Relationship Type="http://schemas.openxmlformats.org/officeDocument/2006/relationships/image" Target="/ppt/media/image39.png" Id="R874274fbd0a84f0f" /><Relationship Type="http://schemas.openxmlformats.org/officeDocument/2006/relationships/image" Target="/ppt/media/image40.png" Id="R1003b7cddaaa4950" /><Relationship Type="http://schemas.openxmlformats.org/officeDocument/2006/relationships/image" Target="/ppt/media/image41.png" Id="R412eee62d76f443a" /><Relationship Type="http://schemas.openxmlformats.org/officeDocument/2006/relationships/image" Target="/ppt/media/image42.png" Id="R5e290dd646d14e00" /><Relationship Type="http://schemas.openxmlformats.org/officeDocument/2006/relationships/image" Target="/ppt/media/image43.png" Id="R7447bd8deb8f4331" /><Relationship Type="http://schemas.openxmlformats.org/officeDocument/2006/relationships/image" Target="/ppt/media/image44.png" Id="Ra0826e3afe82420a" /><Relationship Type="http://schemas.openxmlformats.org/officeDocument/2006/relationships/image" Target="/ppt/media/image45.png" Id="R94225df1c9404845" /><Relationship Type="http://schemas.openxmlformats.org/officeDocument/2006/relationships/image" Target="/ppt/media/image46.png" Id="Rcb5a108584254e08" /><Relationship Type="http://schemas.openxmlformats.org/officeDocument/2006/relationships/image" Target="/ppt/media/image47.png" Id="R55aba92deb9a45ff" /><Relationship Type="http://schemas.openxmlformats.org/officeDocument/2006/relationships/image" Target="/ppt/media/image48.png" Id="R219fa6f5bdc44a58" /><Relationship Type="http://schemas.openxmlformats.org/officeDocument/2006/relationships/image" Target="/ppt/media/image49.png" Id="R62eef5ecf8064fa8" /><Relationship Type="http://schemas.openxmlformats.org/officeDocument/2006/relationships/image" Target="/ppt/media/image50.png" Id="R41a87a90678443f0" /><Relationship Type="http://schemas.openxmlformats.org/officeDocument/2006/relationships/image" Target="/ppt/media/image51.png" Id="R757b21ad331848b8" /><Relationship Type="http://schemas.openxmlformats.org/officeDocument/2006/relationships/image" Target="/ppt/media/image52.png" Id="Rc3cbdc15c1ce4302" /><Relationship Type="http://schemas.openxmlformats.org/officeDocument/2006/relationships/notesSlide" Target="/ppt/notesSlides/notesSlide27.xml" Id="R78450be0e5924f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7ea06b65e54fc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6491E410-2057-4E43-8B6F-9EAACC8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51719"/>
            <a:ext cx="8001000" cy="1340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FIRE WEATHER </a:t>
            </a:r>
            <a:br/>
            <a:r>
              <a:rPr sz="48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 MONITORING PROJECT</a:t>
            </a:r>
          </a:p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4F72218B-5948-4647-8241-FBD4DBB0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421260"/>
            <a:ext cx="7620000" cy="43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F59E0B"/>
                </a:solidFill>
                <a:latin typeface="Manrope SemiBold"/>
                <a:ea typeface="Manrope SemiBold"/>
                <a:cs typeface="Manrope SemiBold"/>
              </a:rPr>
              <a:t>ByteSmart Internship | Research, IoT Pipeline, Dashboard &amp; ML Portfolio</a:t>
            </a: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D51C02DF-8311-4654-AFB7-698F5B54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72681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8A1896C9-FBCE-4859-BFDB-85A0DB64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96531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From Jena climate research to a live MQTT, PostgreSQL, dashboard, and ML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895298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9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c1ebea94bf42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0F244284-F4E9-47A7-AFD1-298C9BE4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593" y="2190750"/>
            <a:ext cx="6500812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5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RESEARCH </a:t>
            </a:r>
            <a:br/>
            <a:r>
              <a:rPr sz="45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FRAMEWORK</a:t>
            </a:r>
          </a:p>
        </p:txBody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618217C6-0F5D-458D-A669-26F94B66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67C7AF01-D1DE-48E5-B723-D1A3C1B2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Refining the analytical lens to focus on actionable fire danger metrics.</a:t>
            </a:r>
          </a:p>
        </p:txBody>
      </p:sp>
    </p:spTree>
    <p:extLst>
      <p:ext uri="{BB962C8B-B14F-4D97-AF65-F5344CB8AC3E}">
        <p14:creationId xmlns:p14="http://schemas.microsoft.com/office/powerpoint/2010/main" val="1497417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Google Shape;10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50bd3432cf4f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1" name="Google Shape;102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7209be68a844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750" y="2028825"/>
            <a:ext cx="5229225" cy="361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9F708C2D-9A4C-46E3-AA72-0175A6A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28825"/>
            <a:ext cx="54906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DATASET PROFILE</a:t>
            </a: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9895A224-4B7B-455D-8E44-1BECE1FE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91000"/>
            <a:ext cx="52292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The dataset includes full summer cycles, providing critical data for tracking extreme heat events and prolonged dry spells necessary for fire weather modeling.</a:t>
            </a:r>
          </a:p>
        </p:txBody>
      </p:sp>
      <p:pic>
        <p:nvPicPr>
          <p:cNvPr id="124" name="Google Shape;10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795c51b86c4a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1275" y="2038350"/>
            <a:ext cx="5210175" cy="3600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3F5C05B8-9C0E-4C7D-A0D8-B2F117AB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00300"/>
            <a:ext cx="522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6670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Temporal Scope:</a:t>
            </a: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 2009 — 2016 (8 Full Years)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03C76EE9-2704-450C-8F41-88ECA978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95600"/>
            <a:ext cx="522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Granularity:</a:t>
            </a: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 Original 10-minute intervals</a:t>
            </a:r>
          </a:p>
        </p:txBody>
      </p:sp>
      <p:sp>
        <p:nvSpPr>
          <p:cNvPr id="108" name="Google Shape;108;p15">
            <a:extLst xmlns:a="http://schemas.openxmlformats.org/drawingml/2006/main">
              <a:ext uri="{FF2B5EF4-FFF2-40B4-BE49-F238E27FC236}">
                <a16:creationId xmlns:a16="http://schemas.microsoft.com/office/drawing/2014/main" id="{92276504-5FB4-461A-B5FC-E687AD50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90900"/>
            <a:ext cx="522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Core Metrics:</a:t>
            </a: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 Temperature (°C), Humidity (%), Pressure (mbar)</a:t>
            </a:r>
          </a:p>
        </p:txBody>
      </p:sp>
      <p:pic>
        <p:nvPicPr>
          <p:cNvPr id="128" name="Google Shape;10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db763b017e49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452687"/>
            <a:ext cx="17145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9" name="Google Shape;11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0347da0903f46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947987"/>
            <a:ext cx="19050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0" name="Google Shape;111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cb6b8744ba4a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3443287"/>
            <a:ext cx="19050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p15">
            <a:extLst xmlns:a="http://schemas.openxmlformats.org/drawingml/2006/main">
              <a:ext uri="{FF2B5EF4-FFF2-40B4-BE49-F238E27FC236}">
                <a16:creationId xmlns:a16="http://schemas.microsoft.com/office/drawing/2014/main" id="{ED4BA19D-E451-4EFE-BD7A-2F18D0C1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PRIMARY DATA SOURCE: JENA CLIMATE</a:t>
            </a:r>
          </a:p>
        </p:txBody>
      </p:sp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52B4A510-24FC-4DCC-B628-A6513CFA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85791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1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8e920fb90944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1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dbed08e384546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176462"/>
            <a:ext cx="3549550" cy="3324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12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3e22fbf6c548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21075" y="2176462"/>
            <a:ext cx="3549699" cy="3324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3" name="Google Shape;12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8a3770c6d243e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61275" y="2176462"/>
            <a:ext cx="3549550" cy="3324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4" name="Google Shape;12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dc09732d0f4d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6300" y="2471737"/>
            <a:ext cx="428625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60A2EA2D-C850-49FD-B31E-40230BA9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3237"/>
            <a:ext cx="310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Temporal Resampling</a:t>
            </a:r>
          </a:p>
        </p:txBody>
      </p:sp>
      <p:sp>
        <p:nvSpPr>
          <p:cNvPr id="124" name="Google Shape;124;p16">
            <a:extLst xmlns:a="http://schemas.openxmlformats.org/drawingml/2006/main">
              <a:ext uri="{FF2B5EF4-FFF2-40B4-BE49-F238E27FC236}">
                <a16:creationId xmlns:a16="http://schemas.microsoft.com/office/drawing/2014/main" id="{4AC71D90-9A73-4E3A-BA90-FB5812CA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0912"/>
            <a:ext cx="295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Resampled 10-minute sensor bursts into hourly medians to smooth signal noise while preserving long-term seasonal macro-trends.</a:t>
            </a:r>
          </a:p>
        </p:txBody>
      </p:sp>
      <p:pic>
        <p:nvPicPr>
          <p:cNvPr id="147" name="Google Shape;12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9e0cea82b8433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16350" y="2471737"/>
            <a:ext cx="3810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6">
            <a:extLst xmlns:a="http://schemas.openxmlformats.org/drawingml/2006/main">
              <a:ext uri="{FF2B5EF4-FFF2-40B4-BE49-F238E27FC236}">
                <a16:creationId xmlns:a16="http://schemas.microsoft.com/office/drawing/2014/main" id="{8026CDFA-9219-47CB-AAEC-3FF4EAE4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350" y="3043237"/>
            <a:ext cx="310710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Statistical Cleaning</a:t>
            </a:r>
          </a:p>
        </p:txBody>
      </p:sp>
      <p:sp>
        <p:nvSpPr>
          <p:cNvPr id="127" name="Google Shape;127;p16">
            <a:extLst xmlns:a="http://schemas.openxmlformats.org/drawingml/2006/main">
              <a:ext uri="{FF2B5EF4-FFF2-40B4-BE49-F238E27FC236}">
                <a16:creationId xmlns:a16="http://schemas.microsoft.com/office/drawing/2014/main" id="{03CF98C1-C23C-48B3-A6CE-B68624AB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350" y="3490912"/>
            <a:ext cx="2959149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Applied 1.5 x IQR filtering after hourly resampling: keep temperature and pressure values within Q1 - 1.5*IQR and Q3 + 1.5*IQR. RH stays bounded at 0-100%.</a:t>
            </a:r>
          </a:p>
        </p:txBody>
      </p:sp>
      <p:pic>
        <p:nvPicPr>
          <p:cNvPr id="150" name="Google Shape;12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c1de4301de42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56550" y="2471737"/>
            <a:ext cx="47625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9" name="Google Shape;129;p16">
            <a:extLst xmlns:a="http://schemas.openxmlformats.org/drawingml/2006/main">
              <a:ext uri="{FF2B5EF4-FFF2-40B4-BE49-F238E27FC236}">
                <a16:creationId xmlns:a16="http://schemas.microsoft.com/office/drawing/2014/main" id="{4D283EB1-92B1-4EA8-9AF4-9DFF4679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550" y="3043237"/>
            <a:ext cx="310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Reproducible Python</a:t>
            </a:r>
          </a:p>
        </p:txBody>
      </p:sp>
      <p:sp>
        <p:nvSpPr>
          <p:cNvPr id="130" name="Google Shape;130;p16">
            <a:extLst xmlns:a="http://schemas.openxmlformats.org/drawingml/2006/main">
              <a:ext uri="{FF2B5EF4-FFF2-40B4-BE49-F238E27FC236}">
                <a16:creationId xmlns:a16="http://schemas.microsoft.com/office/drawing/2014/main" id="{A5360FDC-E5F0-4307-BDC8-5A05E03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550" y="3490912"/>
            <a:ext cx="295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Converted notebook experiments into repeatable Python training, saved model bundles, and a standalone Flask inference service.</a:t>
            </a:r>
          </a:p>
        </p:txBody>
      </p:sp>
      <p:sp>
        <p:nvSpPr>
          <p:cNvPr id="131" name="Google Shape;131;p16">
            <a:extLst xmlns:a="http://schemas.openxmlformats.org/drawingml/2006/main">
              <a:ext uri="{FF2B5EF4-FFF2-40B4-BE49-F238E27FC236}">
                <a16:creationId xmlns:a16="http://schemas.microsoft.com/office/drawing/2014/main" id="{10143522-3708-42D7-A2CE-12258AF5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THE ENGINEERING PIPELINE</a:t>
            </a:r>
          </a:p>
        </p:txBody>
      </p:sp>
      <p:sp>
        <p:nvSpPr>
          <p:cNvPr id="132" name="Google Shape;132;p16">
            <a:extLst xmlns:a="http://schemas.openxmlformats.org/drawingml/2006/main">
              <a:ext uri="{FF2B5EF4-FFF2-40B4-BE49-F238E27FC236}">
                <a16:creationId xmlns:a16="http://schemas.microsoft.com/office/drawing/2014/main" id="{D967E982-AC64-4521-82BC-4C22FFE1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2831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3" name="Google Shape;137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3f82386e16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D600AD59-4946-41A1-B8F7-070DEF63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90750"/>
            <a:ext cx="52292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420k+</a:t>
            </a:r>
          </a:p>
        </p:txBody>
      </p:sp>
      <p:sp>
        <p:nv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11DAD5E0-22D4-41F1-BD82-900FCBDD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33750"/>
            <a:ext cx="5229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94A3B8"/>
                </a:solidFill>
                <a:latin typeface="Manrope SemiBold"/>
                <a:ea typeface="Manrope SemiBold"/>
                <a:cs typeface="Manrope SemiBold"/>
              </a:rPr>
              <a:t>Raw Observations Analyzed</a:t>
            </a:r>
          </a:p>
        </p:txBody>
      </p:sp>
      <p:sp>
        <p:nvSpPr>
          <p:cNvPr id="140" name="Google Shape;140;p17">
            <a:extLst xmlns:a="http://schemas.openxmlformats.org/drawingml/2006/main">
              <a:ext uri="{FF2B5EF4-FFF2-40B4-BE49-F238E27FC236}">
                <a16:creationId xmlns:a16="http://schemas.microsoft.com/office/drawing/2014/main" id="{BC4FEC13-2800-4375-A8CC-2B8486F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5537"/>
            <a:ext cx="54906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ADVANCED FILTERING LOGIC</a:t>
            </a:r>
          </a:p>
        </p:txBody>
      </p:sp>
      <p:sp>
        <p:nvSpPr>
          <p:cNvPr id="141" name="Google Shape;141;p17">
            <a:extLst xmlns:a="http://schemas.openxmlformats.org/drawingml/2006/main">
              <a:ext uri="{FF2B5EF4-FFF2-40B4-BE49-F238E27FC236}">
                <a16:creationId xmlns:a16="http://schemas.microsoft.com/office/drawing/2014/main" id="{9E4C74CF-1F4F-4F98-AF69-712F7666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5112"/>
            <a:ext cx="52292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By leveraging the entire 2009-2016 timeline rather than small slices, the project achieves a comprehensive understanding of standard baselines versus outlier danger events.</a:t>
            </a:r>
          </a:p>
        </p:txBody>
      </p:sp>
      <p:sp>
        <p:nvSpPr>
          <p:cNvPr id="142" name="Google Shape;142;p17">
            <a:extLst xmlns:a="http://schemas.openxmlformats.org/drawingml/2006/main">
              <a:ext uri="{FF2B5EF4-FFF2-40B4-BE49-F238E27FC236}">
                <a16:creationId xmlns:a16="http://schemas.microsoft.com/office/drawing/2014/main" id="{8866CC80-CE25-4D4F-89C1-02AADC23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29075"/>
            <a:ext cx="52292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70k+</a:t>
            </a:r>
          </a:p>
        </p:txBody>
      </p:sp>
      <p:sp>
        <p:nvSpPr>
          <p:cNvPr id="143" name="Google Shape;143;p17">
            <a:extLst xmlns:a="http://schemas.openxmlformats.org/drawingml/2006/main">
              <a:ext uri="{FF2B5EF4-FFF2-40B4-BE49-F238E27FC236}">
                <a16:creationId xmlns:a16="http://schemas.microsoft.com/office/drawing/2014/main" id="{DFCEE090-FEBE-40E6-B87B-AC167686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72075"/>
            <a:ext cx="52292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94A3B8"/>
                </a:solidFill>
                <a:latin typeface="Manrope SemiBold"/>
                <a:ea typeface="Manrope SemiBold"/>
                <a:cs typeface="Manrope SemiBold"/>
              </a:rPr>
              <a:t>Cleaned Hourly Data Points</a:t>
            </a:r>
          </a:p>
        </p:txBody>
      </p:sp>
      <p:sp>
        <p:nvSpPr>
          <p:cNvPr id="144" name="Google Shape;144;p17">
            <a:extLst xmlns:a="http://schemas.openxmlformats.org/drawingml/2006/main">
              <a:ext uri="{FF2B5EF4-FFF2-40B4-BE49-F238E27FC236}">
                <a16:creationId xmlns:a16="http://schemas.microsoft.com/office/drawing/2014/main" id="{00D9190E-E7D6-4F2A-9246-C1440DC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4812"/>
            <a:ext cx="12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•</a:t>
            </a:r>
          </a:p>
        </p:txBody>
      </p:sp>
      <p:sp>
        <p:nvSpPr>
          <p:cNvPr id="145" name="Google Shape;145;p17">
            <a:extLst xmlns:a="http://schemas.openxmlformats.org/drawingml/2006/main">
              <a:ext uri="{FF2B5EF4-FFF2-40B4-BE49-F238E27FC236}">
                <a16:creationId xmlns:a16="http://schemas.microsoft.com/office/drawing/2014/main" id="{87DE5EC4-2EF9-4E71-8D45-7297B517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4812"/>
            <a:ext cx="484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3825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IQR-filtered temperature and pressure anomalies</a:t>
            </a:r>
          </a:p>
        </p:txBody>
      </p:sp>
      <p:sp>
        <p:nvSpPr>
          <p:cNvPr id="146" name="Google Shape;146;p17">
            <a:extLst xmlns:a="http://schemas.openxmlformats.org/drawingml/2006/main">
              <a:ext uri="{FF2B5EF4-FFF2-40B4-BE49-F238E27FC236}">
                <a16:creationId xmlns:a16="http://schemas.microsoft.com/office/drawing/2014/main" id="{7015D570-CF31-4550-B552-1117335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19612"/>
            <a:ext cx="12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•</a:t>
            </a:r>
          </a:p>
        </p:txBody>
      </p:sp>
      <p:sp>
        <p:nvSpPr>
          <p:cNvPr id="147" name="Google Shape;147;p17">
            <a:extLst xmlns:a="http://schemas.openxmlformats.org/drawingml/2006/main">
              <a:ext uri="{FF2B5EF4-FFF2-40B4-BE49-F238E27FC236}">
                <a16:creationId xmlns:a16="http://schemas.microsoft.com/office/drawing/2014/main" id="{017AF01A-5882-4FD7-8F2F-2816F556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9612"/>
            <a:ext cx="484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382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Verified full seasonal coverage (Summer/Winter)</a:t>
            </a:r>
          </a:p>
        </p:txBody>
      </p:sp>
      <p:sp>
        <p:nvSpPr>
          <p:cNvPr id="148" name="Google Shape;148;p17">
            <a:extLst xmlns:a="http://schemas.openxmlformats.org/drawingml/2006/main">
              <a:ext uri="{FF2B5EF4-FFF2-40B4-BE49-F238E27FC236}">
                <a16:creationId xmlns:a16="http://schemas.microsoft.com/office/drawing/2014/main" id="{65E7C7E0-8108-48BB-83D4-3FD04C2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24412"/>
            <a:ext cx="123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•</a:t>
            </a:r>
          </a:p>
        </p:txBody>
      </p:sp>
      <p:sp>
        <p:nvSpPr>
          <p:cNvPr id="149" name="Google Shape;149;p17">
            <a:extLst xmlns:a="http://schemas.openxmlformats.org/drawingml/2006/main">
              <a:ext uri="{FF2B5EF4-FFF2-40B4-BE49-F238E27FC236}">
                <a16:creationId xmlns:a16="http://schemas.microsoft.com/office/drawing/2014/main" id="{DE200D3A-65CA-4A8E-ACDC-30C94CE8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24412"/>
            <a:ext cx="4848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382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Standardized measurement units for accuracy</a:t>
            </a:r>
          </a:p>
        </p:txBody>
      </p:sp>
      <p:sp>
        <p:nvSpPr>
          <p:cNvPr id="150" name="Google Shape;150;p17">
            <a:extLst xmlns:a="http://schemas.openxmlformats.org/drawingml/2006/main">
              <a:ext uri="{FF2B5EF4-FFF2-40B4-BE49-F238E27FC236}">
                <a16:creationId xmlns:a16="http://schemas.microsoft.com/office/drawing/2014/main" id="{A1E8DBFD-9264-45AC-B9D9-A0ECCA0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DATA QUALITY &amp; VOLUME</a:t>
            </a:r>
          </a:p>
        </p:txBody>
      </p:sp>
      <p:sp>
        <p:nvSpPr>
          <p:cNvPr id="151" name="Google Shape;151;p17">
            <a:extLst xmlns:a="http://schemas.openxmlformats.org/drawingml/2006/main">
              <a:ext uri="{FF2B5EF4-FFF2-40B4-BE49-F238E27FC236}">
                <a16:creationId xmlns:a16="http://schemas.microsoft.com/office/drawing/2014/main" id="{9A9CE2C1-FADF-412D-B431-AB45BCD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43550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8" name="Google Shape;15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94d8f88677748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9" name="Google Shape;15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e8f276e2846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1905000"/>
            <a:ext cx="5419725" cy="1838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0" name="Google Shape;15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e8f276e2846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0" y="1905000"/>
            <a:ext cx="5419725" cy="1838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1" name="Google Shape;15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e8f276e2846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3933825"/>
            <a:ext cx="5419725" cy="1838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2" name="Google Shape;16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e8f276e2846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0" y="3933825"/>
            <a:ext cx="5419725" cy="18383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p18">
            <a:extLst xmlns:a="http://schemas.openxmlformats.org/drawingml/2006/main">
              <a:ext uri="{FF2B5EF4-FFF2-40B4-BE49-F238E27FC236}">
                <a16:creationId xmlns:a16="http://schemas.microsoft.com/office/drawing/2014/main" id="{6B5154B4-08E5-41B9-9F36-114B9D8D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0275"/>
            <a:ext cx="507063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1. The Tinderbox Correlation</a:t>
            </a:r>
          </a:p>
        </p:txBody>
      </p:sp>
      <p:sp>
        <p:nvSpPr>
          <p:cNvPr id="162" name="Google Shape;162;p18">
            <a:extLst xmlns:a="http://schemas.openxmlformats.org/drawingml/2006/main">
              <a:ext uri="{FF2B5EF4-FFF2-40B4-BE49-F238E27FC236}">
                <a16:creationId xmlns:a16="http://schemas.microsoft.com/office/drawing/2014/main" id="{30359E25-776F-4259-8009-50F73174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829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How many hourly periods meet the 30 C / 30% project screen?</a:t>
            </a:r>
          </a:p>
        </p:txBody>
      </p:sp>
      <p:sp>
        <p:nvSpPr>
          <p:cNvPr id="163" name="Google Shape;163;p18">
            <a:extLst xmlns:a="http://schemas.openxmlformats.org/drawingml/2006/main">
              <a:ext uri="{FF2B5EF4-FFF2-40B4-BE49-F238E27FC236}">
                <a16:creationId xmlns:a16="http://schemas.microsoft.com/office/drawing/2014/main" id="{593906AE-BE34-456E-8536-16AAE7C4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00275"/>
            <a:ext cx="507063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2. Barometric Warning Signals</a:t>
            </a:r>
          </a:p>
        </p:txBody>
      </p:sp>
      <p:sp>
        <p:nvSpPr>
          <p:cNvPr id="164" name="Google Shape;164;p18">
            <a:extLst xmlns:a="http://schemas.openxmlformats.org/drawingml/2006/main">
              <a:ext uri="{FF2B5EF4-FFF2-40B4-BE49-F238E27FC236}">
                <a16:creationId xmlns:a16="http://schemas.microsoft.com/office/drawing/2014/main" id="{CFE68FD5-8077-4445-AAEF-B1C1D492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647950"/>
            <a:ext cx="4829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Do rapid three-hour pressure drops appear before the driest hourly windows?</a:t>
            </a:r>
          </a:p>
        </p:txBody>
      </p:sp>
      <p:sp>
        <p:nvSpPr>
          <p:cNvPr id="165" name="Google Shape;165;p18">
            <a:extLst xmlns:a="http://schemas.openxmlformats.org/drawingml/2006/main">
              <a:ext uri="{FF2B5EF4-FFF2-40B4-BE49-F238E27FC236}">
                <a16:creationId xmlns:a16="http://schemas.microsoft.com/office/drawing/2014/main" id="{7015109D-2E39-48DB-A764-901DE373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507063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3. Diurnal Danger Cycles</a:t>
            </a:r>
          </a:p>
        </p:txBody>
      </p:sp>
      <p:sp>
        <p:nvSpPr>
          <p:cNvPr id="166" name="Google Shape;166;p18">
            <a:extLst xmlns:a="http://schemas.openxmlformats.org/drawingml/2006/main">
              <a:ext uri="{FF2B5EF4-FFF2-40B4-BE49-F238E27FC236}">
                <a16:creationId xmlns:a16="http://schemas.microsoft.com/office/drawing/2014/main" id="{7C791A96-8392-4811-887D-C51B25BF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4829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Which hours show the strongest overlap of heat and low humidity?</a:t>
            </a:r>
          </a:p>
        </p:txBody>
      </p:sp>
      <p:sp>
        <p:nvSpPr>
          <p:cNvPr id="167" name="Google Shape;167;p18">
            <a:extLst xmlns:a="http://schemas.openxmlformats.org/drawingml/2006/main">
              <a:ext uri="{FF2B5EF4-FFF2-40B4-BE49-F238E27FC236}">
                <a16:creationId xmlns:a16="http://schemas.microsoft.com/office/drawing/2014/main" id="{38EA6729-8BB7-40DC-97A6-72BF946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229100"/>
            <a:ext cx="507063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4. Sustained Risk Windows</a:t>
            </a:r>
          </a:p>
        </p:txBody>
      </p:sp>
      <p:sp>
        <p:nvSpPr>
          <p:cNvPr id="168" name="Google Shape;168;p18">
            <a:extLst xmlns:a="http://schemas.openxmlformats.org/drawingml/2006/main">
              <a:ext uri="{FF2B5EF4-FFF2-40B4-BE49-F238E27FC236}">
                <a16:creationId xmlns:a16="http://schemas.microsoft.com/office/drawing/2014/main" id="{366A7784-DDB8-4078-8302-7981B32C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76775"/>
            <a:ext cx="48291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After the screen is crossed, how long do elevated conditions continue?</a:t>
            </a:r>
          </a:p>
        </p:txBody>
      </p:sp>
      <p:sp>
        <p:nvSpPr>
          <p:cNvPr id="169" name="Google Shape;169;p18">
            <a:extLst xmlns:a="http://schemas.openxmlformats.org/drawingml/2006/main">
              <a:ext uri="{FF2B5EF4-FFF2-40B4-BE49-F238E27FC236}">
                <a16:creationId xmlns:a16="http://schemas.microsoft.com/office/drawing/2014/main" id="{FB0C3526-3698-48E4-B3BD-3F035534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REFINED RESEARCH QUESTIONS</a:t>
            </a:r>
          </a:p>
        </p:txBody>
      </p:sp>
      <p:sp>
        <p:nvSpPr>
          <p:cNvPr id="170" name="Google Shape;170;p18">
            <a:extLst xmlns:a="http://schemas.openxmlformats.org/drawingml/2006/main">
              <a:ext uri="{FF2B5EF4-FFF2-40B4-BE49-F238E27FC236}">
                <a16:creationId xmlns:a16="http://schemas.microsoft.com/office/drawing/2014/main" id="{4613CB2E-05A9-4E02-9D4F-7C5D612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1" name="Google Shape;171;p18">
            <a:extLst xmlns:a="http://schemas.openxmlformats.org/drawingml/2006/main">
              <a:ext uri="{FF2B5EF4-FFF2-40B4-BE49-F238E27FC236}">
                <a16:creationId xmlns:a16="http://schemas.microsoft.com/office/drawing/2014/main" id="{9666D65F-FFC5-4938-85C0-D901E5E4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040000"/>
            <a:ext cx="11000100" cy="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>
              <a:alpha val="88000"/>
            </a:srgbClr>
          </a:solidFill>
          <a:ln xmlns:a="http://schemas.openxmlformats.org/drawingml/2006/main" w="9525" cmpd="sng">
            <a:solidFill>
              <a:srgbClr val="2E2E2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18">
            <a:extLst xmlns:a="http://schemas.openxmlformats.org/drawingml/2006/main">
              <a:ext uri="{FF2B5EF4-FFF2-40B4-BE49-F238E27FC236}">
                <a16:creationId xmlns:a16="http://schemas.microsoft.com/office/drawing/2014/main" id="{171B85F2-B004-43D0-835B-515FAA2B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00" y="5943600"/>
            <a:ext cx="1029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5. Seasonal trends: How do heat, humidity, and pressure shift by season and year?</a:t>
            </a:r>
          </a:p>
        </p:txBody>
      </p:sp>
    </p:spTree>
    <p:extLst>
      <p:ext uri="{BB962C8B-B14F-4D97-AF65-F5344CB8AC3E}">
        <p14:creationId xmlns:p14="http://schemas.microsoft.com/office/powerpoint/2010/main" val="4525296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6" name="Google Shape;177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a328ad2d38e473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7" name="Google Shape;17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5993a8bfc640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34125" y="2366962"/>
            <a:ext cx="5276850" cy="3057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9" name="Google Shape;179;p19">
            <a:extLst xmlns:a="http://schemas.openxmlformats.org/drawingml/2006/main">
              <a:ext uri="{FF2B5EF4-FFF2-40B4-BE49-F238E27FC236}">
                <a16:creationId xmlns:a16="http://schemas.microsoft.com/office/drawing/2014/main" id="{938ED628-A45C-4ABE-9DB6-B9CA3D5D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66962"/>
            <a:ext cx="55407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FF4D00"/>
                </a:solidFill>
                <a:latin typeface="Urbanist SemiBold"/>
                <a:ea typeface="Urbanist SemiBold"/>
                <a:cs typeface="Urbanist SemiBold"/>
              </a:rPr>
              <a:t>Finding: Extreme Overlap</a:t>
            </a:r>
          </a:p>
        </p:txBody>
      </p:sp>
      <p:sp>
        <p:nvSpPr>
          <p:cNvPr id="180" name="Google Shape;180;p19">
            <a:extLst xmlns:a="http://schemas.openxmlformats.org/drawingml/2006/main">
              <a:ext uri="{FF2B5EF4-FFF2-40B4-BE49-F238E27FC236}">
                <a16:creationId xmlns:a16="http://schemas.microsoft.com/office/drawing/2014/main" id="{7063A678-E573-4D10-91CD-A7C4FF73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33687"/>
            <a:ext cx="5277000" cy="96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Simultaneous high heat (30 C or above) and low humidity (30% or below) are rare but important screening cases.</a:t>
            </a:r>
          </a:p>
        </p:txBody>
      </p:sp>
      <p:sp>
        <p:nvSpPr>
          <p:cNvPr id="181" name="Google Shape;181;p19">
            <a:extLst xmlns:a="http://schemas.openxmlformats.org/drawingml/2006/main">
              <a:ext uri="{FF2B5EF4-FFF2-40B4-BE49-F238E27FC236}">
                <a16:creationId xmlns:a16="http://schemas.microsoft.com/office/drawing/2014/main" id="{03327781-68FD-4E57-A8E7-6D8ACBE6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57487"/>
            <a:ext cx="47205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FF4D00"/>
                </a:solidFill>
                <a:latin typeface="Urbanist SemiBold"/>
                <a:ea typeface="Urbanist SemiBold"/>
                <a:cs typeface="Urbanist SemiBold"/>
              </a:rPr>
              <a:t>Meteorological Reasoning</a:t>
            </a:r>
          </a:p>
        </p:txBody>
      </p:sp>
      <p:sp>
        <p:nvSpPr>
          <p:cNvPr id="182" name="Google Shape;182;p19">
            <a:extLst xmlns:a="http://schemas.openxmlformats.org/drawingml/2006/main">
              <a:ext uri="{FF2B5EF4-FFF2-40B4-BE49-F238E27FC236}">
                <a16:creationId xmlns:a16="http://schemas.microsoft.com/office/drawing/2014/main" id="{5743E5EF-AA5D-478D-A7A4-1CEECF3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24212"/>
            <a:ext cx="4495800" cy="96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Hot, dry air can reduce fine-fuel moisture and make ignition conditions more favorable.</a:t>
            </a:r>
          </a:p>
        </p:txBody>
      </p:sp>
      <p:sp>
        <p:nvSpPr>
          <p:cNvPr id="183" name="Google Shape;183;p19">
            <a:extLst xmlns:a="http://schemas.openxmlformats.org/drawingml/2006/main">
              <a:ext uri="{FF2B5EF4-FFF2-40B4-BE49-F238E27FC236}">
                <a16:creationId xmlns:a16="http://schemas.microsoft.com/office/drawing/2014/main" id="{C243D4B1-0F52-4848-B2F0-A272553D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938587"/>
            <a:ext cx="489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Only 26 of 68,666 hourly events meet this criterion.</a:t>
            </a:r>
          </a:p>
        </p:txBody>
      </p:sp>
      <p:sp>
        <p:nvSpPr>
          <p:cNvPr id="184" name="Google Shape;184;p19">
            <a:extLst xmlns:a="http://schemas.openxmlformats.org/drawingml/2006/main">
              <a:ext uri="{FF2B5EF4-FFF2-40B4-BE49-F238E27FC236}">
                <a16:creationId xmlns:a16="http://schemas.microsoft.com/office/drawing/2014/main" id="{BBA7F0A8-7632-408A-9C53-8972C309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433887"/>
            <a:ext cx="4896000" cy="23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Acts as a precise filter for fine-fuel drying.</a:t>
            </a:r>
          </a:p>
        </p:txBody>
      </p:sp>
      <p:sp>
        <p:nvSpPr>
          <p:cNvPr id="185" name="Google Shape;185;p19">
            <a:extLst xmlns:a="http://schemas.openxmlformats.org/drawingml/2006/main">
              <a:ext uri="{FF2B5EF4-FFF2-40B4-BE49-F238E27FC236}">
                <a16:creationId xmlns:a16="http://schemas.microsoft.com/office/drawing/2014/main" id="{CD990991-113B-49BE-84B8-FAC45C5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29187"/>
            <a:ext cx="489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Used as the project’s main heat-and-dryness screen.</a:t>
            </a:r>
          </a:p>
        </p:txBody>
      </p:sp>
      <p:pic>
        <p:nvPicPr>
          <p:cNvPr id="205" name="Google Shape;186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98b3743edc4a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3976687"/>
            <a:ext cx="17145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6" name="Google Shape;187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febc3b435d4b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4471987"/>
            <a:ext cx="2286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7" name="Google Shape;18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a066ebfa2fc44d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4967287"/>
            <a:ext cx="2286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9" name="Google Shape;189;p19">
            <a:extLst xmlns:a="http://schemas.openxmlformats.org/drawingml/2006/main">
              <a:ext uri="{FF2B5EF4-FFF2-40B4-BE49-F238E27FC236}">
                <a16:creationId xmlns:a16="http://schemas.microsoft.com/office/drawing/2014/main" id="{E183C478-4F24-4908-9B08-60C5C88B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1331300" cy="4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Q1: The Tinderbox Correlation</a:t>
            </a:r>
          </a:p>
        </p:txBody>
      </p:sp>
      <p:sp>
        <p:nvSpPr>
          <p:cNvPr id="190" name="Google Shape;190;p19">
            <a:extLst xmlns:a="http://schemas.openxmlformats.org/drawingml/2006/main">
              <a:ext uri="{FF2B5EF4-FFF2-40B4-BE49-F238E27FC236}">
                <a16:creationId xmlns:a16="http://schemas.microsoft.com/office/drawing/2014/main" id="{B57279E3-EBCF-4814-AFA6-8D5FC6A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32528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3" name="Google Shape;195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dffc396a884c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4" name="Google Shape;19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2d3564fa4ef4e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1400175"/>
            <a:ext cx="11029950" cy="4876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7" name="Google Shape;197;p20">
            <a:extLst xmlns:a="http://schemas.openxmlformats.org/drawingml/2006/main">
              <a:ext uri="{FF2B5EF4-FFF2-40B4-BE49-F238E27FC236}">
                <a16:creationId xmlns:a16="http://schemas.microsoft.com/office/drawing/2014/main" id="{26773F7A-45F9-427C-AC3F-2FFBDCE9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6737"/>
            <a:ext cx="10887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Claim: Pressure is a weak standalone warning signal in this dataset.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Evidence: Only 5% of the most severe dry spells were preceded by a rapid 3-hour pressure drop.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Reasoning: Keep pressure as a supporting feature; temperature and humidity carry the clearer fire-weather signal.</a:t>
            </a:r>
          </a:p>
        </p:txBody>
      </p:sp>
      <p:sp>
        <p:nvSpPr>
          <p:cNvPr id="198" name="Google Shape;198;p20">
            <a:extLst xmlns:a="http://schemas.openxmlformats.org/drawingml/2006/main">
              <a:ext uri="{FF2B5EF4-FFF2-40B4-BE49-F238E27FC236}">
                <a16:creationId xmlns:a16="http://schemas.microsoft.com/office/drawing/2014/main" id="{7390B783-FEB9-4EBD-92EC-8346875B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6737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9" name="Google Shape;199;p20">
            <a:extLst xmlns:a="http://schemas.openxmlformats.org/drawingml/2006/main">
              <a:ext uri="{FF2B5EF4-FFF2-40B4-BE49-F238E27FC236}">
                <a16:creationId xmlns:a16="http://schemas.microsoft.com/office/drawing/2014/main" id="{ADEC216E-0EE1-4100-B593-49D1C30B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Q2: PRESSURE WARNING SIGNALS</a:t>
            </a:r>
          </a:p>
        </p:txBody>
      </p:sp>
      <p:sp>
        <p:nvSpPr>
          <p:cNvPr id="200" name="Google Shape;200;p20">
            <a:extLst xmlns:a="http://schemas.openxmlformats.org/drawingml/2006/main">
              <a:ext uri="{FF2B5EF4-FFF2-40B4-BE49-F238E27FC236}">
                <a16:creationId xmlns:a16="http://schemas.microsoft.com/office/drawing/2014/main" id="{8AE51542-CB7C-41B6-BC29-FA0AE5FB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57907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4" name="Google Shape;20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549397a46d4d5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6" name="Google Shape;206;p21">
            <a:extLst xmlns:a="http://schemas.openxmlformats.org/drawingml/2006/main">
              <a:ext uri="{FF2B5EF4-FFF2-40B4-BE49-F238E27FC236}">
                <a16:creationId xmlns:a16="http://schemas.microsoft.com/office/drawing/2014/main" id="{49DD08D7-281C-4954-84DF-C5D537F4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219700"/>
            <a:ext cx="5324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Claim: The strongest daily heat-and-dryness overlap appears around 13:00-16:00.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Evidence: Median temperature peaks while humidity reaches its daily low.</a:t>
            </a:r>
          </a:p>
        </p:txBody>
      </p:sp>
      <p:sp>
        <p:nvSpPr>
          <p:cNvPr id="207" name="Google Shape;207;p21">
            <a:extLst xmlns:a="http://schemas.openxmlformats.org/drawingml/2006/main">
              <a:ext uri="{FF2B5EF4-FFF2-40B4-BE49-F238E27FC236}">
                <a16:creationId xmlns:a16="http://schemas.microsoft.com/office/drawing/2014/main" id="{EE0FD202-D029-45D7-B29B-533526E2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53050"/>
            <a:ext cx="5324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Reasoning: This is the clearest afternoon screening window in the Jena dataset.</a:t>
            </a:r>
          </a:p>
        </p:txBody>
      </p:sp>
      <p:pic>
        <p:nvPicPr>
          <p:cNvPr id="217" name="Google Shape;20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76dce1a803b4a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24262" y="2433637"/>
            <a:ext cx="4943475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9" name="Google Shape;209;p21">
            <a:extLst xmlns:a="http://schemas.openxmlformats.org/drawingml/2006/main">
              <a:ext uri="{FF2B5EF4-FFF2-40B4-BE49-F238E27FC236}">
                <a16:creationId xmlns:a16="http://schemas.microsoft.com/office/drawing/2014/main" id="{CECF8275-C4F2-4C6A-9E10-BE6CEE27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3850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Q3: DIURNAL DANGER CYCLES</a:t>
            </a:r>
          </a:p>
        </p:txBody>
      </p:sp>
      <p:sp>
        <p:nvSpPr>
          <p:cNvPr id="210" name="Google Shape;210;p21">
            <a:extLst xmlns:a="http://schemas.openxmlformats.org/drawingml/2006/main">
              <a:ext uri="{FF2B5EF4-FFF2-40B4-BE49-F238E27FC236}">
                <a16:creationId xmlns:a16="http://schemas.microsoft.com/office/drawing/2014/main" id="{CE5B8D9C-AF71-4925-A8B9-0AF648A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238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20" name="Google Shape;211;p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7ca7670644c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6791" y="1143000"/>
            <a:ext cx="7198468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81507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2" name="Google Shape;21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363cd9e53c432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3" name="Google Shape;21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075b0085b04c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662237"/>
            <a:ext cx="3486150" cy="2466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4" name="Google Shape;218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795c5026164c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52925" y="2662237"/>
            <a:ext cx="3486150" cy="2466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5" name="Google Shape;219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f075b0085b04c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24825" y="2662237"/>
            <a:ext cx="3486150" cy="2466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0" name="Google Shape;220;p22">
            <a:extLst xmlns:a="http://schemas.openxmlformats.org/drawingml/2006/main">
              <a:ext uri="{FF2B5EF4-FFF2-40B4-BE49-F238E27FC236}">
                <a16:creationId xmlns:a16="http://schemas.microsoft.com/office/drawing/2014/main" id="{00EE7AA6-7AC7-49BF-AA4E-040D901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52762"/>
            <a:ext cx="28404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FF4D00"/>
                </a:solidFill>
                <a:latin typeface="Urbanist SemiBold"/>
                <a:ea typeface="Urbanist SemiBold"/>
                <a:cs typeface="Urbanist SemiBold"/>
              </a:rPr>
              <a:t>Duration vs. Spikes</a:t>
            </a:r>
          </a:p>
        </p:txBody>
      </p:sp>
      <p:sp>
        <p:nvSpPr>
          <p:cNvPr id="221" name="Google Shape;221;p22">
            <a:extLst xmlns:a="http://schemas.openxmlformats.org/drawingml/2006/main">
              <a:ext uri="{FF2B5EF4-FFF2-40B4-BE49-F238E27FC236}">
                <a16:creationId xmlns:a16="http://schemas.microsoft.com/office/drawing/2014/main" id="{6D1536F3-5DF5-4F47-93BE-EC4294FE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9487"/>
            <a:ext cx="2705100" cy="133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Isolated spikes in temperature are less dangerous than sustained exposure to hot, dry air.</a:t>
            </a:r>
          </a:p>
        </p:txBody>
      </p:sp>
      <p:sp>
        <p:nvSpPr>
          <p:cNvPr id="222" name="Google Shape;222;p22">
            <a:extLst xmlns:a="http://schemas.openxmlformats.org/drawingml/2006/main">
              <a:ext uri="{FF2B5EF4-FFF2-40B4-BE49-F238E27FC236}">
                <a16:creationId xmlns:a16="http://schemas.microsoft.com/office/drawing/2014/main" id="{5B60C39C-5E48-4D4E-A0F8-713F8F3E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2762"/>
            <a:ext cx="28404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FF4D00"/>
                </a:solidFill>
                <a:latin typeface="Urbanist SemiBold"/>
                <a:ea typeface="Urbanist SemiBold"/>
                <a:cs typeface="Urbanist SemiBold"/>
              </a:rPr>
              <a:t>Operation Impact</a:t>
            </a:r>
          </a:p>
        </p:txBody>
      </p:sp>
      <p:sp>
        <p:nvSpPr>
          <p:cNvPr id="223" name="Google Shape;223;p22">
            <a:extLst xmlns:a="http://schemas.openxmlformats.org/drawingml/2006/main">
              <a:ext uri="{FF2B5EF4-FFF2-40B4-BE49-F238E27FC236}">
                <a16:creationId xmlns:a16="http://schemas.microsoft.com/office/drawing/2014/main" id="{5A8F2668-50A9-4697-B0FB-5549D2D4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19487"/>
            <a:ext cx="2705100" cy="96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Risk persists across consecutive hours, requiring long-term alert monitoring.</a:t>
            </a:r>
          </a:p>
        </p:txBody>
      </p:sp>
      <p:sp>
        <p:nvSpPr>
          <p:cNvPr id="224" name="Google Shape;224;p22">
            <a:extLst xmlns:a="http://schemas.openxmlformats.org/drawingml/2006/main">
              <a:ext uri="{FF2B5EF4-FFF2-40B4-BE49-F238E27FC236}">
                <a16:creationId xmlns:a16="http://schemas.microsoft.com/office/drawing/2014/main" id="{07F786F3-3626-4016-8FDC-C1B1D162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52762"/>
            <a:ext cx="28404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FF4D00"/>
                </a:solidFill>
                <a:latin typeface="Urbanist SemiBold"/>
                <a:ea typeface="Urbanist SemiBold"/>
                <a:cs typeface="Urbanist SemiBold"/>
              </a:rPr>
              <a:t>Prediction Goal</a:t>
            </a:r>
          </a:p>
        </p:txBody>
      </p:sp>
      <p:sp>
        <p:nvSpPr>
          <p:cNvPr id="225" name="Google Shape;225;p22">
            <a:extLst xmlns:a="http://schemas.openxmlformats.org/drawingml/2006/main">
              <a:ext uri="{FF2B5EF4-FFF2-40B4-BE49-F238E27FC236}">
                <a16:creationId xmlns:a16="http://schemas.microsoft.com/office/drawing/2014/main" id="{259D9AF8-A24E-4DCF-B989-12B7FE9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9487"/>
            <a:ext cx="2705100" cy="133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Models must predict not just the threshold, but the *length* of the danger window.</a:t>
            </a:r>
          </a:p>
        </p:txBody>
      </p:sp>
      <p:sp>
        <p:nvSpPr>
          <p:cNvPr id="226" name="Google Shape;226;p22">
            <a:extLst xmlns:a="http://schemas.openxmlformats.org/drawingml/2006/main">
              <a:ext uri="{FF2B5EF4-FFF2-40B4-BE49-F238E27FC236}">
                <a16:creationId xmlns:a16="http://schemas.microsoft.com/office/drawing/2014/main" id="{DB7CADCF-EB1B-441E-B6CD-8DEBE8DD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"/>
            <a:ext cx="113313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</a:rPr>
              <a:t>Q4: Sustained </a:t>
            </a:r>
            <a:r>
              <a:rPr sz="3600" b="0" i="0" u="none" cap="none">
                <a:solidFill>
                  <a:srgbClr val="FF4D00"/>
                </a:solidFill>
                <a:latin typeface="Urbanist Medium"/>
                <a:ea typeface="Urbanist Medium"/>
                <a:cs typeface="Urbanist Medium"/>
              </a:rPr>
              <a:t>Risk</a:t>
            </a:r>
            <a:r>
              <a:rPr sz="3600" b="0" i="0" u="none" cap="none">
                <a:solidFill>
                  <a:srgbClr val="E2E8F0"/>
                </a:solidFill>
                <a:latin typeface="Urbanist Medium"/>
                <a:ea typeface="Urbanist Medium"/>
                <a:cs typeface="Urbanist Medium"/>
              </a:rPr>
              <a:t> Windows</a:t>
            </a:r>
          </a:p>
        </p:txBody>
      </p:sp>
      <p:sp>
        <p:nvSpPr>
          <p:cNvPr id="227" name="Google Shape;227;p22">
            <a:extLst xmlns:a="http://schemas.openxmlformats.org/drawingml/2006/main">
              <a:ext uri="{FF2B5EF4-FFF2-40B4-BE49-F238E27FC236}">
                <a16:creationId xmlns:a16="http://schemas.microsoft.com/office/drawing/2014/main" id="{2DC9C93E-728E-4557-BA90-F7D98E70C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57300" cy="5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79595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5" name="Google Shape;23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7b5e3b570c45c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6" name="Google Shape;233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acd3794df64e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4116585"/>
            <a:ext cx="5324475" cy="1695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7" name="Google Shape;23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c2703bcb1649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6500" y="4116585"/>
            <a:ext cx="5324475" cy="1695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5" name="Google Shape;235;p23">
            <a:extLst xmlns:a="http://schemas.openxmlformats.org/drawingml/2006/main">
              <a:ext uri="{FF2B5EF4-FFF2-40B4-BE49-F238E27FC236}">
                <a16:creationId xmlns:a16="http://schemas.microsoft.com/office/drawing/2014/main" id="{21E5E059-B3DC-47EC-9D54-8767864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33625"/>
            <a:ext cx="11029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23">
            <a:extLst xmlns:a="http://schemas.openxmlformats.org/drawingml/2006/main">
              <a:ext uri="{FF2B5EF4-FFF2-40B4-BE49-F238E27FC236}">
                <a16:creationId xmlns:a16="http://schemas.microsoft.com/office/drawing/2014/main" id="{F9F71089-B5FE-4EC5-A4B4-95DCBF1F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362" y="2855565"/>
            <a:ext cx="25478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SPRING (MAR-MAY)</a:t>
            </a:r>
          </a:p>
        </p:txBody>
      </p:sp>
      <p:sp>
        <p:nvSpPr>
          <p:cNvPr id="237" name="Google Shape;237;p23">
            <a:extLst xmlns:a="http://schemas.openxmlformats.org/drawingml/2006/main">
              <a:ext uri="{FF2B5EF4-FFF2-40B4-BE49-F238E27FC236}">
                <a16:creationId xmlns:a16="http://schemas.microsoft.com/office/drawing/2014/main" id="{83E83413-745C-40A4-8ABF-2709B47A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98465"/>
            <a:ext cx="2426493" cy="21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Rising temps, high variability.</a:t>
            </a:r>
          </a:p>
        </p:txBody>
      </p:sp>
      <p:sp>
        <p:nvSpPr>
          <p:cNvPr id="238" name="Google Shape;238;p23">
            <a:extLst xmlns:a="http://schemas.openxmlformats.org/drawingml/2006/main">
              <a:ext uri="{FF2B5EF4-FFF2-40B4-BE49-F238E27FC236}">
                <a16:creationId xmlns:a16="http://schemas.microsoft.com/office/drawing/2014/main" id="{08360B86-39E3-4AD4-A440-E42709D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131" y="2855565"/>
            <a:ext cx="25478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DC2626"/>
                </a:solidFill>
                <a:latin typeface="Urbanist"/>
                <a:ea typeface="Urbanist"/>
                <a:cs typeface="Urbanist"/>
              </a:rPr>
              <a:t>SUMMER (JUN-AUG)</a:t>
            </a:r>
          </a:p>
        </p:txBody>
      </p:sp>
      <p:sp>
        <p:nvSpPr>
          <p:cNvPr id="239" name="Google Shape;239;p23">
            <a:extLst xmlns:a="http://schemas.openxmlformats.org/drawingml/2006/main">
              <a:ext uri="{FF2B5EF4-FFF2-40B4-BE49-F238E27FC236}">
                <a16:creationId xmlns:a16="http://schemas.microsoft.com/office/drawing/2014/main" id="{9BDA056C-53E1-4CBE-8704-E0E66523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794" y="3198465"/>
            <a:ext cx="2426493" cy="21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Peak Fire Season. Max risk overlap.</a:t>
            </a:r>
          </a:p>
        </p:txBody>
      </p:sp>
      <p:sp>
        <p:nvSpPr>
          <p:cNvPr id="240" name="Google Shape;240;p23">
            <a:extLst xmlns:a="http://schemas.openxmlformats.org/drawingml/2006/main">
              <a:ext uri="{FF2B5EF4-FFF2-40B4-BE49-F238E27FC236}">
                <a16:creationId xmlns:a16="http://schemas.microsoft.com/office/drawing/2014/main" id="{AC233757-66B5-4F1C-B5A7-817AD90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5900" y="2855565"/>
            <a:ext cx="25478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AUTUMN (SEP-NOV)</a:t>
            </a:r>
          </a:p>
        </p:txBody>
      </p:sp>
      <p:sp>
        <p:nvSpPr>
          <p:cNvPr id="241" name="Google Shape;241;p23">
            <a:extLst xmlns:a="http://schemas.openxmlformats.org/drawingml/2006/main">
              <a:ext uri="{FF2B5EF4-FFF2-40B4-BE49-F238E27FC236}">
                <a16:creationId xmlns:a16="http://schemas.microsoft.com/office/drawing/2014/main" id="{24EF25FF-47DD-4F40-821C-A27135D8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563" y="3198465"/>
            <a:ext cx="2426493" cy="21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Decreasing vulnerability.</a:t>
            </a:r>
          </a:p>
        </p:txBody>
      </p:sp>
      <p:sp>
        <p:nvSpPr>
          <p:cNvPr id="242" name="Google Shape;242;p23">
            <a:extLst xmlns:a="http://schemas.openxmlformats.org/drawingml/2006/main">
              <a:ext uri="{FF2B5EF4-FFF2-40B4-BE49-F238E27FC236}">
                <a16:creationId xmlns:a16="http://schemas.microsoft.com/office/drawing/2014/main" id="{215496C6-0F02-4ED6-830A-2E514AD9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670" y="2855565"/>
            <a:ext cx="2547818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WINTER (DEC-FEB)</a:t>
            </a:r>
          </a:p>
        </p:txBody>
      </p:sp>
      <p:sp>
        <p:nvSpPr>
          <p:cNvPr id="243" name="Google Shape;243;p23">
            <a:extLst xmlns:a="http://schemas.openxmlformats.org/drawingml/2006/main">
              <a:ext uri="{FF2B5EF4-FFF2-40B4-BE49-F238E27FC236}">
                <a16:creationId xmlns:a16="http://schemas.microsoft.com/office/drawing/2014/main" id="{5564D355-32BF-4F38-A72D-F6F66E6D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4332" y="3198465"/>
            <a:ext cx="2426493" cy="21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Stable moisture, low risk.</a:t>
            </a:r>
          </a:p>
        </p:txBody>
      </p:sp>
      <p:sp>
        <p:nvSpPr>
          <p:cNvPr id="244" name="Google Shape;244;p23">
            <a:extLst xmlns:a="http://schemas.openxmlformats.org/drawingml/2006/main">
              <a:ext uri="{FF2B5EF4-FFF2-40B4-BE49-F238E27FC236}">
                <a16:creationId xmlns:a16="http://schemas.microsoft.com/office/drawing/2014/main" id="{1AC384CC-98A3-4ECA-920A-87B695E4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7110"/>
            <a:ext cx="4924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Claim: Summer has the clearest elevated-risk baseline.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Evidence: Median temperatures rise about 12°C while humidity drops about 15% versus winter.</a:t>
            </a:r>
          </a:p>
        </p:txBody>
      </p:sp>
      <p:sp>
        <p:nvSpPr>
          <p:cNvPr id="245" name="Google Shape;245;p23">
            <a:extLst xmlns:a="http://schemas.openxmlformats.org/drawingml/2006/main">
              <a:ext uri="{FF2B5EF4-FFF2-40B4-BE49-F238E27FC236}">
                <a16:creationId xmlns:a16="http://schemas.microsoft.com/office/drawing/2014/main" id="{4A898088-C05C-4A81-9F2A-E74E77BE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07110"/>
            <a:ext cx="4924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Reasoning: Seasonal aggregation over 8 summers reduces dependence on any single extreme year.</a:t>
            </a:r>
          </a:p>
        </p:txBody>
      </p:sp>
      <p:sp>
        <p:nvSpPr>
          <p:cNvPr id="246" name="Google Shape;246;p23">
            <a:extLst xmlns:a="http://schemas.openxmlformats.org/drawingml/2006/main">
              <a:ext uri="{FF2B5EF4-FFF2-40B4-BE49-F238E27FC236}">
                <a16:creationId xmlns:a16="http://schemas.microsoft.com/office/drawing/2014/main" id="{0D5288A8-FFBE-4BF1-A881-29D0832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Q5: SEASONAL MACRO-TRENDS</a:t>
            </a:r>
          </a:p>
        </p:txBody>
      </p:sp>
      <p:sp>
        <p:nvSpPr>
          <p:cNvPr id="247" name="Google Shape;247;p23">
            <a:extLst xmlns:a="http://schemas.openxmlformats.org/drawingml/2006/main">
              <a:ext uri="{FF2B5EF4-FFF2-40B4-BE49-F238E27FC236}">
                <a16:creationId xmlns:a16="http://schemas.microsoft.com/office/drawing/2014/main" id="{411C1F0B-B927-42E5-A783-0EA0BCF0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23">
            <a:extLst xmlns:a="http://schemas.openxmlformats.org/drawingml/2006/main">
              <a:ext uri="{FF2B5EF4-FFF2-40B4-BE49-F238E27FC236}">
                <a16:creationId xmlns:a16="http://schemas.microsoft.com/office/drawing/2014/main" id="{D6A809FF-B359-47D2-99D9-475943E3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071" y="251266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38100" cmpd="sng">
            <a:solidFill>
              <a:srgbClr val="0C0C0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9" name="Google Shape;249;p23">
            <a:extLst xmlns:a="http://schemas.openxmlformats.org/drawingml/2006/main">
              <a:ext uri="{FF2B5EF4-FFF2-40B4-BE49-F238E27FC236}">
                <a16:creationId xmlns:a16="http://schemas.microsoft.com/office/drawing/2014/main" id="{AD11B7A0-5F0C-48F6-8296-39443C71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5841" y="251266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38100" cmpd="sng">
            <a:solidFill>
              <a:srgbClr val="0C0C0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23">
            <a:extLst xmlns:a="http://schemas.openxmlformats.org/drawingml/2006/main">
              <a:ext uri="{FF2B5EF4-FFF2-40B4-BE49-F238E27FC236}">
                <a16:creationId xmlns:a16="http://schemas.microsoft.com/office/drawing/2014/main" id="{C867061C-0FB8-47DF-9DCB-E2CA306D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610" y="251266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38100" cmpd="sng">
            <a:solidFill>
              <a:srgbClr val="0C0C0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23">
            <a:extLst xmlns:a="http://schemas.openxmlformats.org/drawingml/2006/main">
              <a:ext uri="{FF2B5EF4-FFF2-40B4-BE49-F238E27FC236}">
                <a16:creationId xmlns:a16="http://schemas.microsoft.com/office/drawing/2014/main" id="{C0C22222-B10A-4D66-A403-BFE1321D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379" y="251266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4155"/>
          </a:solidFill>
          <a:ln xmlns:a="http://schemas.openxmlformats.org/drawingml/2006/main" w="38100" cmpd="sng">
            <a:solidFill>
              <a:srgbClr val="0C0C0C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064187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5" name="Google Shape;256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1abf37bb3b4d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6" name="Google Shape;257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dbabf2916744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028825"/>
            <a:ext cx="5229225" cy="361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7" name="Google Shape;258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8bd6632dca44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0550" y="2038350"/>
            <a:ext cx="5210175" cy="3600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9" name="Google Shape;259;p24">
            <a:extLst xmlns:a="http://schemas.openxmlformats.org/drawingml/2006/main">
              <a:ext uri="{FF2B5EF4-FFF2-40B4-BE49-F238E27FC236}">
                <a16:creationId xmlns:a16="http://schemas.microsoft.com/office/drawing/2014/main" id="{ECBC7CDE-C0C7-4AF9-B5ED-1E658E9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5490686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4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MODEL FOUNDATION</a:t>
            </a:r>
          </a:p>
        </p:txBody>
      </p:sp>
      <p:sp>
        <p:nvSpPr>
          <p:cNvPr id="260" name="Google Shape;260;p24">
            <a:extLst xmlns:a="http://schemas.openxmlformats.org/drawingml/2006/main">
              <a:ext uri="{FF2B5EF4-FFF2-40B4-BE49-F238E27FC236}">
                <a16:creationId xmlns:a16="http://schemas.microsoft.com/office/drawing/2014/main" id="{2E2DF1F5-F19C-4892-8E01-6F947FDC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5229225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Final Build: EDA findings now support a complete MQTT, PostgreSQL, read-only dashboard, live-stream, and ML-service demonstration.</a:t>
            </a:r>
          </a:p>
        </p:txBody>
      </p:sp>
      <p:sp>
        <p:nvSpPr>
          <p:cNvPr id="261" name="Google Shape;261;p24">
            <a:extLst xmlns:a="http://schemas.openxmlformats.org/drawingml/2006/main">
              <a:ext uri="{FF2B5EF4-FFF2-40B4-BE49-F238E27FC236}">
                <a16:creationId xmlns:a16="http://schemas.microsoft.com/office/drawing/2014/main" id="{1B209A61-281F-4787-9DE6-86124FF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522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Data: strong for sensor EDA; limited for fire outcomes.</a:t>
            </a:r>
          </a:p>
        </p:txBody>
      </p:sp>
      <p:sp>
        <p:nvSpPr>
          <p:cNvPr id="262" name="Google Shape;262;p24">
            <a:extLst xmlns:a="http://schemas.openxmlformats.org/drawingml/2006/main">
              <a:ext uri="{FF2B5EF4-FFF2-40B4-BE49-F238E27FC236}">
                <a16:creationId xmlns:a16="http://schemas.microsoft.com/office/drawing/2014/main" id="{D01DDB6C-DF1A-4651-8547-AE3254F1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47975"/>
            <a:ext cx="522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Cleaning: 1,463 anomalies removed; 68,666 rows retained.</a:t>
            </a:r>
          </a:p>
        </p:txBody>
      </p:sp>
      <p:sp>
        <p:nvSpPr>
          <p:cNvPr id="263" name="Google Shape;263;p24">
            <a:extLst xmlns:a="http://schemas.openxmlformats.org/drawingml/2006/main">
              <a:ext uri="{FF2B5EF4-FFF2-40B4-BE49-F238E27FC236}">
                <a16:creationId xmlns:a16="http://schemas.microsoft.com/office/drawing/2014/main" id="{A5B2436F-094B-42C1-8732-EBE80776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52292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CER: each question now links claim, evidence, reasoning.</a:t>
            </a:r>
          </a:p>
        </p:txBody>
      </p:sp>
      <p:pic>
        <p:nvPicPr>
          <p:cNvPr id="283" name="Google Shape;264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18bf0aca6644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750" y="2452687"/>
            <a:ext cx="19050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4" name="Google Shape;265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18bf0aca6644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750" y="2900362"/>
            <a:ext cx="19050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85" name="Google Shape;266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18bf0aca6644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1750" y="3348037"/>
            <a:ext cx="190500" cy="200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7" name="Google Shape;267;p24">
            <a:extLst xmlns:a="http://schemas.openxmlformats.org/drawingml/2006/main">
              <a:ext uri="{FF2B5EF4-FFF2-40B4-BE49-F238E27FC236}">
                <a16:creationId xmlns:a16="http://schemas.microsoft.com/office/drawing/2014/main" id="{7E4B5FC8-3CA1-48AE-A1D1-ACEACF1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 b="0" i="0" u="none" cap="non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KEY FINDINGS &amp; IMPLICATIONS</a:t>
            </a:r>
          </a:p>
        </p:txBody>
      </p:sp>
      <p:sp>
        <p:nvSpPr>
          <p:cNvPr id="268" name="Google Shape;268;p24">
            <a:extLst xmlns:a="http://schemas.openxmlformats.org/drawingml/2006/main">
              <a:ext uri="{FF2B5EF4-FFF2-40B4-BE49-F238E27FC236}">
                <a16:creationId xmlns:a16="http://schemas.microsoft.com/office/drawing/2014/main" id="{3DFA209F-1861-4156-8C7F-4FAD78B2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970938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8" name="Google Shape;273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cb0f9410eb4f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4" name="Google Shape;274;p25">
            <a:extLst xmlns:a="http://schemas.openxmlformats.org/drawingml/2006/main">
              <a:ext uri="{FF2B5EF4-FFF2-40B4-BE49-F238E27FC236}">
                <a16:creationId xmlns:a16="http://schemas.microsoft.com/office/drawing/2014/main" id="{3F751927-DDBF-465E-BA5B-5CDDBDF6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593" y="2190750"/>
            <a:ext cx="6500700" cy="138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500" b="1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MACHINE</a:t>
            </a:r>
            <a:br/>
            <a:r>
              <a:rPr sz="4500" b="1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LEARNING</a:t>
            </a:r>
          </a:p>
        </p:txBody>
      </p:sp>
      <p:sp>
        <p:nvSpPr>
          <p:cNvPr id="275" name="Google Shape;275;p25">
            <a:extLst xmlns:a="http://schemas.openxmlformats.org/drawingml/2006/main">
              <a:ext uri="{FF2B5EF4-FFF2-40B4-BE49-F238E27FC236}">
                <a16:creationId xmlns:a16="http://schemas.microsoft.com/office/drawing/2014/main" id="{D872B565-8BDE-4D7A-A918-4CE0F5D2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6" name="Google Shape;276;p25">
            <a:extLst xmlns:a="http://schemas.openxmlformats.org/drawingml/2006/main">
              <a:ext uri="{FF2B5EF4-FFF2-40B4-BE49-F238E27FC236}">
                <a16:creationId xmlns:a16="http://schemas.microsoft.com/office/drawing/2014/main" id="{9AE50DFD-2E4F-4CDC-AFAD-520F43E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6191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Final service: one linear task and two logistic tasks; K-Means remains an early experiment.</a:t>
            </a:r>
          </a:p>
        </p:txBody>
      </p:sp>
    </p:spTree>
    <p:extLst>
      <p:ext uri="{BB962C8B-B14F-4D97-AF65-F5344CB8AC3E}">
        <p14:creationId xmlns:p14="http://schemas.microsoft.com/office/powerpoint/2010/main" val="1906291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3" name="Google Shape;281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3371a0d50742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2" name="Google Shape;282;p26">
            <a:extLst xmlns:a="http://schemas.openxmlformats.org/drawingml/2006/main">
              <a:ext uri="{FF2B5EF4-FFF2-40B4-BE49-F238E27FC236}">
                <a16:creationId xmlns:a16="http://schemas.microsoft.com/office/drawing/2014/main" id="{20ADD035-AD51-44A0-BD67-78638F10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00" cy="4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Linear Regression</a:t>
            </a:r>
          </a:p>
        </p:txBody>
      </p:sp>
      <p:sp>
        <p:nvSpPr>
          <p:cNvPr id="283" name="Google Shape;283;p26">
            <a:extLst xmlns:a="http://schemas.openxmlformats.org/drawingml/2006/main">
              <a:ext uri="{FF2B5EF4-FFF2-40B4-BE49-F238E27FC236}">
                <a16:creationId xmlns:a16="http://schemas.microsoft.com/office/drawing/2014/main" id="{642FD1CB-D9B7-448E-B255-61E6D40C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96" name="Google Shape;284;p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09496cae9478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800225"/>
            <a:ext cx="5662761" cy="3619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5" name="Google Shape;285;p26">
            <a:extLst xmlns:a="http://schemas.openxmlformats.org/drawingml/2006/main">
              <a:ext uri="{FF2B5EF4-FFF2-40B4-BE49-F238E27FC236}">
                <a16:creationId xmlns:a16="http://schemas.microsoft.com/office/drawing/2014/main" id="{183546A2-3495-4CA2-A1BD-B5563F1E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Task: Estimate relative humidity from temperature and pressure.</a:t>
            </a:r>
          </a:p>
        </p:txBody>
      </p:sp>
      <p:sp>
        <p:nvSpPr>
          <p:cNvPr id="286" name="Google Shape;286;p26">
            <a:extLst xmlns:a="http://schemas.openxmlformats.org/drawingml/2006/main">
              <a:ext uri="{FF2B5EF4-FFF2-40B4-BE49-F238E27FC236}">
                <a16:creationId xmlns:a16="http://schemas.microsoft.com/office/drawing/2014/main" id="{C028BFC5-C3C3-44C2-9454-9A85B25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460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Held-out result: R² 0.3189 and MAE 11.05 percentage points.</a:t>
            </a:r>
          </a:p>
        </p:txBody>
      </p:sp>
      <p:sp>
        <p:nvSpPr>
          <p:cNvPr id="287" name="Google Shape;287;p26">
            <a:extLst xmlns:a="http://schemas.openxmlformats.org/drawingml/2006/main">
              <a:ext uri="{FF2B5EF4-FFF2-40B4-BE49-F238E27FC236}">
                <a16:creationId xmlns:a16="http://schemas.microsoft.com/office/drawing/2014/main" id="{EA799639-5888-4E1C-A149-1907B3CD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368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Use: A baseline weather estimate—not a wildfire forecast.</a:t>
            </a:r>
          </a:p>
        </p:txBody>
      </p:sp>
      <p:pic>
        <p:nvPicPr>
          <p:cNvPr id="300" name="Google Shape;28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c17be1827741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22955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1" name="Google Shape;289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c17be1827741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0346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2" name="Google Shape;290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c17be1827741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7736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43751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5" name="Google Shape;295;p27">
            <a:extLst xmlns:a="http://schemas.openxmlformats.org/drawingml/2006/main">
              <a:ext uri="{FF2B5EF4-FFF2-40B4-BE49-F238E27FC236}">
                <a16:creationId xmlns:a16="http://schemas.microsoft.com/office/drawing/2014/main" id="{7D8BA460-3CEB-4C55-BC16-20E382E0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00" cy="4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Logistic </a:t>
            </a: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Regression</a:t>
            </a:r>
          </a:p>
        </p:txBody>
      </p:sp>
      <p:sp>
        <p:nvSpPr>
          <p:cNvPr id="296" name="Google Shape;296;p27">
            <a:extLst xmlns:a="http://schemas.openxmlformats.org/drawingml/2006/main">
              <a:ext uri="{FF2B5EF4-FFF2-40B4-BE49-F238E27FC236}">
                <a16:creationId xmlns:a16="http://schemas.microsoft.com/office/drawing/2014/main" id="{8DE56780-082C-4E40-814D-BEB16812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07" name="Google Shape;297;p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77b7bdb3b4ff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6" y="1584851"/>
            <a:ext cx="4726474" cy="422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8" name="Google Shape;298;p27">
            <a:extLst xmlns:a="http://schemas.openxmlformats.org/drawingml/2006/main">
              <a:ext uri="{FF2B5EF4-FFF2-40B4-BE49-F238E27FC236}">
                <a16:creationId xmlns:a16="http://schemas.microsoft.com/office/drawing/2014/main" id="{282E5AE1-226B-4A60-9482-06ADD261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19325"/>
            <a:ext cx="49911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Task: Estimate whether relative humidity is below the 30% project screen.</a:t>
            </a:r>
          </a:p>
        </p:txBody>
      </p:sp>
      <p:sp>
        <p:nvSpPr>
          <p:cNvPr id="299" name="Google Shape;299;p27">
            <a:extLst xmlns:a="http://schemas.openxmlformats.org/drawingml/2006/main">
              <a:ext uri="{FF2B5EF4-FFF2-40B4-BE49-F238E27FC236}">
                <a16:creationId xmlns:a16="http://schemas.microsoft.com/office/drawing/2014/main" id="{3B8CA00B-5CE4-42F6-A976-41A386CC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840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Rare class: Only 0.22% positives in the Jena evaluation.</a:t>
            </a:r>
          </a:p>
        </p:txBody>
      </p:sp>
      <p:sp>
        <p:nvSpPr>
          <p:cNvPr id="300" name="Google Shape;300;p27">
            <a:extLst xmlns:a="http://schemas.openxmlformats.org/drawingml/2006/main">
              <a:ext uri="{FF2B5EF4-FFF2-40B4-BE49-F238E27FC236}">
                <a16:creationId xmlns:a16="http://schemas.microsoft.com/office/drawing/2014/main" id="{240A2303-3725-4A1B-AF6A-5769748A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7485"/>
            <a:ext cx="49911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Evaluation: Report precision, recall, F1, and ROC-AUC—not accuracy alone.</a:t>
            </a:r>
          </a:p>
        </p:txBody>
      </p:sp>
      <p:pic>
        <p:nvPicPr>
          <p:cNvPr id="311" name="Google Shape;301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942d9eb04743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91225" y="22193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2" name="Google Shape;302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942d9eb04743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91225" y="29584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3" name="Google Shape;303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942d9eb04743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91225" y="36974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562713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Google Shape;308;p28">
            <a:extLst xmlns:a="http://schemas.openxmlformats.org/drawingml/2006/main">
              <a:ext uri="{FF2B5EF4-FFF2-40B4-BE49-F238E27FC236}">
                <a16:creationId xmlns:a16="http://schemas.microsoft.com/office/drawing/2014/main" id="{EA81EFAE-56F0-4AC3-B4DC-CDD8094C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00" cy="4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K-Means (Early Experiment)</a:t>
            </a:r>
          </a:p>
        </p:txBody>
      </p:sp>
      <p:sp>
        <p:nvSpPr>
          <p:cNvPr id="309" name="Google Shape;309;p28">
            <a:extLst xmlns:a="http://schemas.openxmlformats.org/drawingml/2006/main">
              <a:ext uri="{FF2B5EF4-FFF2-40B4-BE49-F238E27FC236}">
                <a16:creationId xmlns:a16="http://schemas.microsoft.com/office/drawing/2014/main" id="{7B733D45-3449-422C-ABCA-B384A6FA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0" name="Google Shape;310;p28">
            <a:extLst xmlns:a="http://schemas.openxmlformats.org/drawingml/2006/main">
              <a:ext uri="{FF2B5EF4-FFF2-40B4-BE49-F238E27FC236}">
                <a16:creationId xmlns:a16="http://schemas.microsoft.com/office/drawing/2014/main" id="{B32CD5A9-EF85-4AE6-80C3-DBD7B90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43125"/>
            <a:ext cx="49911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Exploration: Grouped weather observations into three environmental regimes.</a:t>
            </a:r>
          </a:p>
        </p:txBody>
      </p:sp>
      <p:sp>
        <p:nvSpPr>
          <p:cNvPr id="311" name="Google Shape;311;p28">
            <a:extLst xmlns:a="http://schemas.openxmlformats.org/drawingml/2006/main">
              <a:ext uri="{FF2B5EF4-FFF2-40B4-BE49-F238E27FC236}">
                <a16:creationId xmlns:a16="http://schemas.microsoft.com/office/drawing/2014/main" id="{F43E9265-516D-41E3-87CF-26544EDA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82205"/>
            <a:ext cx="4991100" cy="987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Final decision:
 - Preserve the experiment
 - Exclude it from the final service
 - Ship only tasks tied to clear user questions</a:t>
            </a:r>
          </a:p>
        </p:txBody>
      </p:sp>
      <p:sp>
        <p:nvSpPr>
          <p:cNvPr id="312" name="Google Shape;312;p28">
            <a:extLst xmlns:a="http://schemas.openxmlformats.org/drawingml/2006/main">
              <a:ext uri="{FF2B5EF4-FFF2-40B4-BE49-F238E27FC236}">
                <a16:creationId xmlns:a16="http://schemas.microsoft.com/office/drawing/2014/main" id="{D3FF13D7-89DC-4A20-9D4F-6E5684E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69866"/>
            <a:ext cx="499110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CCCCCC"/>
                </a:solidFill>
                <a:latin typeface="Inter"/>
                <a:ea typeface="Inter"/>
                <a:cs typeface="Inter"/>
              </a:rPr>
              <a:t>Lesson: An interesting algorithm is not automatically the right production feature.</a:t>
            </a:r>
          </a:p>
        </p:txBody>
      </p:sp>
      <p:pic>
        <p:nvPicPr>
          <p:cNvPr id="322" name="Google Shape;313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044bd001aa4b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8425" y="21431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3" name="Google Shape;314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044bd001aa4b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8425" y="28822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4" name="Google Shape;315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044bd001aa4b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8425" y="4169866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5" name="Google Shape;31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07841e3e646b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800225"/>
            <a:ext cx="5686426" cy="366778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602095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1" name="Google Shape;321;p29">
            <a:extLst xmlns:a="http://schemas.openxmlformats.org/drawingml/2006/main">
              <a:ext uri="{FF2B5EF4-FFF2-40B4-BE49-F238E27FC236}">
                <a16:creationId xmlns:a16="http://schemas.microsoft.com/office/drawing/2014/main" id="{004080F9-F8B0-4675-80C8-72B7BE68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43" y="2889257"/>
            <a:ext cx="6500700" cy="69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4500" b="1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FINAL ML SERVICE</a:t>
            </a:r>
          </a:p>
        </p:txBody>
      </p:sp>
      <p:sp>
        <p:nvSpPr>
          <p:cNvPr id="322" name="Google Shape;322;p29">
            <a:extLst xmlns:a="http://schemas.openxmlformats.org/drawingml/2006/main">
              <a:ext uri="{FF2B5EF4-FFF2-40B4-BE49-F238E27FC236}">
                <a16:creationId xmlns:a16="http://schemas.microsoft.com/office/drawing/2014/main" id="{ACEB94D5-DC4D-4F88-B256-16B234C3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03471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3" name="Google Shape;323;p29">
            <a:extLst xmlns:a="http://schemas.openxmlformats.org/drawingml/2006/main">
              <a:ext uri="{FF2B5EF4-FFF2-40B4-BE49-F238E27FC236}">
                <a16:creationId xmlns:a16="http://schemas.microsoft.com/office/drawing/2014/main" id="{5432A12C-A6B3-4BB6-8652-56C9056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6191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Saved models load once; the dashboard submits one event and displays one prediction.</a:t>
            </a:r>
          </a:p>
        </p:txBody>
      </p:sp>
    </p:spTree>
    <p:extLst>
      <p:ext uri="{BB962C8B-B14F-4D97-AF65-F5344CB8AC3E}">
        <p14:creationId xmlns:p14="http://schemas.microsoft.com/office/powerpoint/2010/main" val="17461490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5" name="Google Shape;328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f865a2f7bf4d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9" name="Google Shape;329;p30">
            <a:extLst xmlns:a="http://schemas.openxmlformats.org/drawingml/2006/main">
              <a:ext uri="{FF2B5EF4-FFF2-40B4-BE49-F238E27FC236}">
                <a16:creationId xmlns:a16="http://schemas.microsoft.com/office/drawing/2014/main" id="{32AA5FDF-8D72-4988-A1A1-F973E16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"/>
            <a:ext cx="11119500" cy="175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How accurately can temperature and pressure estimate relative humidity?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" name="Google Shape;330;p30">
            <a:extLst xmlns:a="http://schemas.openxmlformats.org/drawingml/2006/main">
              <a:ext uri="{FF2B5EF4-FFF2-40B4-BE49-F238E27FC236}">
                <a16:creationId xmlns:a16="http://schemas.microsoft.com/office/drawing/2014/main" id="{46F15DDC-21DA-4A49-8E5F-F44E6E5F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048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1" name="Google Shape;331;p30">
            <a:extLst xmlns:a="http://schemas.openxmlformats.org/drawingml/2006/main">
              <a:ext uri="{FF2B5EF4-FFF2-40B4-BE49-F238E27FC236}">
                <a16:creationId xmlns:a16="http://schemas.microsoft.com/office/drawing/2014/main" id="{50EB8E9E-5508-4950-A6DE-52DD47DD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Inputs: One event's temperature and pressure.</a:t>
            </a:r>
          </a:p>
        </p:txBody>
      </p:sp>
      <p:sp>
        <p:nvSpPr>
          <p:cNvPr id="332" name="Google Shape;332;p30">
            <a:extLst xmlns:a="http://schemas.openxmlformats.org/drawingml/2006/main">
              <a:ext uri="{FF2B5EF4-FFF2-40B4-BE49-F238E27FC236}">
                <a16:creationId xmlns:a16="http://schemas.microsoft.com/office/drawing/2014/main" id="{ED7477C6-E2FD-4D0F-95E8-9B94CA7A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460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Output: Predicted relative humidity percentage.</a:t>
            </a:r>
          </a:p>
        </p:txBody>
      </p:sp>
      <p:sp>
        <p:nvSpPr>
          <p:cNvPr id="333" name="Google Shape;333;p30">
            <a:extLst xmlns:a="http://schemas.openxmlformats.org/drawingml/2006/main">
              <a:ext uri="{FF2B5EF4-FFF2-40B4-BE49-F238E27FC236}">
                <a16:creationId xmlns:a16="http://schemas.microsoft.com/office/drawing/2014/main" id="{67FF740F-DF4A-4D65-94C2-2CB58270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73685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Held-out metrics: R² 0.3189; MAE 11.05 percentage points.</a:t>
            </a:r>
          </a:p>
        </p:txBody>
      </p:sp>
      <p:pic>
        <p:nvPicPr>
          <p:cNvPr id="351" name="Google Shape;334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8d61de1e848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22955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2" name="Google Shape;335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8d61de1e848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0346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3" name="Google Shape;336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8d61de1e848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7736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4" name="Google Shape;337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18d61de1e8480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6025" y="45171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8" name="Google Shape;338;p30">
            <a:extLst xmlns:a="http://schemas.openxmlformats.org/drawingml/2006/main">
              <a:ext uri="{FF2B5EF4-FFF2-40B4-BE49-F238E27FC236}">
                <a16:creationId xmlns:a16="http://schemas.microsoft.com/office/drawing/2014/main" id="{A06D4053-C65F-4398-B73A-B658E456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675" y="4442399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Meaning: Useful as a baseline relationship, not an ignition forecast.</a:t>
            </a:r>
          </a:p>
        </p:txBody>
      </p:sp>
      <p:pic>
        <p:nvPicPr>
          <p:cNvPr id="356" name="Google Shape;33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67a9875d14d2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" y="1824641"/>
            <a:ext cx="5349325" cy="34004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801541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1" name="Google Shape;344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57c4d5d18942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5" name="Google Shape;345;p31">
            <a:extLst xmlns:a="http://schemas.openxmlformats.org/drawingml/2006/main">
              <a:ext uri="{FF2B5EF4-FFF2-40B4-BE49-F238E27FC236}">
                <a16:creationId xmlns:a16="http://schemas.microsoft.com/office/drawing/2014/main" id="{2C99CCDA-340F-4E97-9060-69851B6D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"/>
            <a:ext cx="11119500" cy="263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Will relative humidity fall below the project's 30% screening threshold?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6" name="Google Shape;346;p31">
            <a:extLst xmlns:a="http://schemas.openxmlformats.org/drawingml/2006/main">
              <a:ext uri="{FF2B5EF4-FFF2-40B4-BE49-F238E27FC236}">
                <a16:creationId xmlns:a16="http://schemas.microsoft.com/office/drawing/2014/main" id="{E3FAAA30-7DB5-4019-A9FF-C6AED5B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75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7" name="Google Shape;347;p31">
            <a:extLst xmlns:a="http://schemas.openxmlformats.org/drawingml/2006/main">
              <a:ext uri="{FF2B5EF4-FFF2-40B4-BE49-F238E27FC236}">
                <a16:creationId xmlns:a16="http://schemas.microsoft.com/office/drawing/2014/main" id="{1A1B2DCA-BB36-47DC-9306-BF600DCD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991100" cy="8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Model: Logistic regression with a validation-selected threshold.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8" name="Google Shape;348;p31">
            <a:extLst xmlns:a="http://schemas.openxmlformats.org/drawingml/2006/main">
              <a:ext uri="{FF2B5EF4-FFF2-40B4-BE49-F238E27FC236}">
                <a16:creationId xmlns:a16="http://schemas.microsoft.com/office/drawing/2014/main" id="{EACA2B65-F438-47F3-886A-0A1EF81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50480"/>
            <a:ext cx="49911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Output: Probability plus a low-humidity classification.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9" name="Google Shape;349;p31">
            <a:extLst xmlns:a="http://schemas.openxmlformats.org/drawingml/2006/main">
              <a:ext uri="{FF2B5EF4-FFF2-40B4-BE49-F238E27FC236}">
                <a16:creationId xmlns:a16="http://schemas.microsoft.com/office/drawing/2014/main" id="{C1DBBAD6-847D-4136-B7B5-E074F7DD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33985"/>
            <a:ext cx="4991100" cy="8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Rare event: 0.22% positive rate in the Jena evaluation.</a:t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7" name="Google Shape;350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f995b96da4d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22955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8" name="Google Shape;351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f995b96da4d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0346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9" name="Google Shape;352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f995b96da4d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649860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0" name="Google Shape;353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2f995b96da4d1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6025" y="43647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4" name="Google Shape;354;p31">
            <a:extLst xmlns:a="http://schemas.openxmlformats.org/drawingml/2006/main">
              <a:ext uri="{FF2B5EF4-FFF2-40B4-BE49-F238E27FC236}">
                <a16:creationId xmlns:a16="http://schemas.microsoft.com/office/drawing/2014/main" id="{D8EF334C-BEAC-449B-8D92-631C5274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675" y="4351323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Meaning: Review precision and recall before trusting the label.</a:t>
            </a:r>
          </a:p>
        </p:txBody>
      </p:sp>
      <p:pic>
        <p:nvPicPr>
          <p:cNvPr id="372" name="Google Shape;355;p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312c0bc144a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706" y="1787713"/>
            <a:ext cx="4468895" cy="39052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28730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7" name="Google Shape;360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22e5db2e9c41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1" name="Google Shape;361;p32">
            <a:extLst xmlns:a="http://schemas.openxmlformats.org/drawingml/2006/main">
              <a:ext uri="{FF2B5EF4-FFF2-40B4-BE49-F238E27FC236}">
                <a16:creationId xmlns:a16="http://schemas.microsoft.com/office/drawing/2014/main" id="{2B9DF3C2-8FA3-4722-89A0-86A627D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4825"/>
            <a:ext cx="11119500" cy="350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5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</a:rPr>
              <a:t>Can temperature plus pressure change flag an exploratory pressure-risk event?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32">
            <a:extLst xmlns:a="http://schemas.openxmlformats.org/drawingml/2006/main">
              <a:ext uri="{FF2B5EF4-FFF2-40B4-BE49-F238E27FC236}">
                <a16:creationId xmlns:a16="http://schemas.microsoft.com/office/drawing/2014/main" id="{F9177F1D-6BC5-4D5A-B26E-D0B7303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75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3" name="Google Shape;363;p32">
            <a:extLst xmlns:a="http://schemas.openxmlformats.org/drawingml/2006/main">
              <a:ext uri="{FF2B5EF4-FFF2-40B4-BE49-F238E27FC236}">
                <a16:creationId xmlns:a16="http://schemas.microsoft.com/office/drawing/2014/main" id="{D5EDEB66-8B98-4B0B-A162-2C5CBCF5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95525"/>
            <a:ext cx="4991100" cy="12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Input: One current event; prior pressure comes from PostgreSQL.</a:t>
            </a:r>
          </a:p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32">
            <a:extLst xmlns:a="http://schemas.openxmlformats.org/drawingml/2006/main">
              <a:ext uri="{FF2B5EF4-FFF2-40B4-BE49-F238E27FC236}">
                <a16:creationId xmlns:a16="http://schemas.microsoft.com/office/drawing/2014/main" id="{D1C63EA6-0F91-4F56-8D78-D89B3FB4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2855"/>
            <a:ext cx="4991100" cy="12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Feature: Pressure change per hour over elapsed time.</a:t>
            </a:r>
          </a:p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5" name="Google Shape;365;p32">
            <a:extLst xmlns:a="http://schemas.openxmlformats.org/drawingml/2006/main">
              <a:ext uri="{FF2B5EF4-FFF2-40B4-BE49-F238E27FC236}">
                <a16:creationId xmlns:a16="http://schemas.microsoft.com/office/drawing/2014/main" id="{DB6D5DC3-6990-4B44-91A2-2F34CDAD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81610"/>
            <a:ext cx="4991100" cy="12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Output: Probability from the saved logistic model.</a:t>
            </a:r>
          </a:p>
          <a:p xmlns:a="http://schemas.openxmlformats.org/drawingml/2006/main">
            <a:pPr marL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</a:p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83" name="Google Shape;366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ece13723e9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229552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4" name="Google Shape;367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ece13723e9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03460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5" name="Google Shape;368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ece13723e9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72225" y="36974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6" name="Google Shape;369;p3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ece13723e94b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86025" y="4364785"/>
            <a:ext cx="15240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0" name="Google Shape;370;p32">
            <a:extLst xmlns:a="http://schemas.openxmlformats.org/drawingml/2006/main">
              <a:ext uri="{FF2B5EF4-FFF2-40B4-BE49-F238E27FC236}">
                <a16:creationId xmlns:a16="http://schemas.microsoft.com/office/drawing/2014/main" id="{FF12B833-006B-49B6-BD53-64DF1AA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675" y="4351323"/>
            <a:ext cx="4991100" cy="54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>
                <a:solidFill>
                  <a:srgbClr val="CCCCCC"/>
                </a:solidFill>
                <a:latin typeface="Inter"/>
                <a:ea typeface="Inter"/>
                <a:cs typeface="Inter"/>
              </a:rPr>
              <a:t>Meaning: A supporting signal—not proof of wind or wildfire.</a:t>
            </a:r>
          </a:p>
        </p:txBody>
      </p:sp>
      <p:pic>
        <p:nvPicPr>
          <p:cNvPr id="388" name="Google Shape;371;p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f72ff51f74c9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675" y="1980712"/>
            <a:ext cx="5523951" cy="3614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1808733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6" name="Google Shape;376;p33">
            <a:extLst xmlns:a="http://schemas.openxmlformats.org/drawingml/2006/main">
              <a:ext uri="{FF2B5EF4-FFF2-40B4-BE49-F238E27FC236}">
                <a16:creationId xmlns:a16="http://schemas.microsoft.com/office/drawing/2014/main" id="{BFC3725D-8EE2-4070-990E-9B6AA406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7" name="Google Shape;377;p33">
            <a:extLst xmlns:a="http://schemas.openxmlformats.org/drawingml/2006/main">
              <a:ext uri="{FF2B5EF4-FFF2-40B4-BE49-F238E27FC236}">
                <a16:creationId xmlns:a16="http://schemas.microsoft.com/office/drawing/2014/main" id="{892DD1C7-B095-4CB1-80B1-B99558A8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50100" cy="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33">
            <a:extLst xmlns:a="http://schemas.openxmlformats.org/drawingml/2006/main">
              <a:ext uri="{FF2B5EF4-FFF2-40B4-BE49-F238E27FC236}">
                <a16:creationId xmlns:a16="http://schemas.microsoft.com/office/drawing/2014/main" id="{4AB5265C-FF81-450D-BA1C-E9AB6AE1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5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END-TO-END SYSTEM ARCHITECTURE</a:t>
            </a:r>
          </a:p>
        </p:txBody>
      </p:sp>
      <p:sp>
        <p:nvSpPr>
          <p:cNvPr id="379" name="Google Shape;379;p33">
            <a:extLst xmlns:a="http://schemas.openxmlformats.org/drawingml/2006/main">
              <a:ext uri="{FF2B5EF4-FFF2-40B4-BE49-F238E27FC236}">
                <a16:creationId xmlns:a16="http://schemas.microsoft.com/office/drawing/2014/main" id="{FE7C3966-03C2-4873-8CC5-261D5EBA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11000100" cy="51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1. Event generator shapes repeatable measurement scenarios.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2. Mosquitto carries raw telemetry through MQTT.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3. Subscriber validates each event and writes raw + flattened PostgreSQL rows atomically.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4. Read-only API serves analytics and a persistent Server-Sent Events stream.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5. Dashboard shows Analytics, Live Event Stream, and Machine Learning tabs.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6. Separate Flask service loads saved models and predicts one event at a time.</a:t>
            </a:r>
          </a:p>
        </p:txBody>
      </p:sp>
    </p:spTree>
    <p:extLst>
      <p:ext uri="{BB962C8B-B14F-4D97-AF65-F5344CB8AC3E}">
        <p14:creationId xmlns:p14="http://schemas.microsoft.com/office/powerpoint/2010/main" val="47552333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34">
            <a:extLst xmlns:a="http://schemas.openxmlformats.org/drawingml/2006/main">
              <a:ext uri="{FF2B5EF4-FFF2-40B4-BE49-F238E27FC236}">
                <a16:creationId xmlns:a16="http://schemas.microsoft.com/office/drawing/2014/main" id="{283AB5E3-C7E5-4777-9208-7C6B8D3D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5" name="Google Shape;385;p34">
            <a:extLst xmlns:a="http://schemas.openxmlformats.org/drawingml/2006/main">
              <a:ext uri="{FF2B5EF4-FFF2-40B4-BE49-F238E27FC236}">
                <a16:creationId xmlns:a16="http://schemas.microsoft.com/office/drawing/2014/main" id="{217D463C-C80F-4C2E-B84F-31B52497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50100" cy="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34">
            <a:extLst xmlns:a="http://schemas.openxmlformats.org/drawingml/2006/main">
              <a:ext uri="{FF2B5EF4-FFF2-40B4-BE49-F238E27FC236}">
                <a16:creationId xmlns:a16="http://schemas.microsoft.com/office/drawing/2014/main" id="{7EEF89F4-7A16-465E-81E6-F8AA9748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5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RAW EVENT &amp; DATABASE CONTRACT</a:t>
            </a:r>
          </a:p>
        </p:txBody>
      </p:sp>
      <p:sp>
        <p:nvSpPr>
          <p:cNvPr id="387" name="Google Shape;387;p34">
            <a:extLst xmlns:a="http://schemas.openxmlformats.org/drawingml/2006/main">
              <a:ext uri="{FF2B5EF4-FFF2-40B4-BE49-F238E27FC236}">
                <a16:creationId xmlns:a16="http://schemas.microsoft.com/office/drawing/2014/main" id="{A265E6DF-DBFA-4166-8352-FD3531F1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500000"/>
            <a:ext cx="11000100" cy="48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Raw MQTT message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Identifiers, timestamp, and sensor measurements only. No scenario, severity, outlier, quality, status, or risk labels.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Subscriber enrichment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Validates measurements; derives quality, scenario classification, severity, outlier state, and a transparent screening score.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Atomic storage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jena_telemetry preserves original JSON for audit. fire_weather_events stores flattened fields for queries, exports, and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37824568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2" name="Google Shape;392;p35">
            <a:extLst xmlns:a="http://schemas.openxmlformats.org/drawingml/2006/main">
              <a:ext uri="{FF2B5EF4-FFF2-40B4-BE49-F238E27FC236}">
                <a16:creationId xmlns:a16="http://schemas.microsoft.com/office/drawing/2014/main" id="{9E11279F-8B30-4FE0-8C8F-0C2BA8E8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3" name="Google Shape;393;p35">
            <a:extLst xmlns:a="http://schemas.openxmlformats.org/drawingml/2006/main">
              <a:ext uri="{FF2B5EF4-FFF2-40B4-BE49-F238E27FC236}">
                <a16:creationId xmlns:a16="http://schemas.microsoft.com/office/drawing/2014/main" id="{BCECACC7-CD74-4A2E-A8E5-0ADA6C43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50100" cy="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4" name="Google Shape;394;p35">
            <a:extLst xmlns:a="http://schemas.openxmlformats.org/drawingml/2006/main">
              <a:ext uri="{FF2B5EF4-FFF2-40B4-BE49-F238E27FC236}">
                <a16:creationId xmlns:a16="http://schemas.microsoft.com/office/drawing/2014/main" id="{CCC00B30-F137-4B81-B438-94FF2957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5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DASHBOARD &amp; LIVE STREAM</a:t>
            </a:r>
          </a:p>
        </p:txBody>
      </p:sp>
      <p:sp>
        <p:nvSpPr>
          <p:cNvPr id="395" name="Google Shape;395;p35">
            <a:extLst xmlns:a="http://schemas.openxmlformats.org/drawingml/2006/main">
              <a:ext uri="{FF2B5EF4-FFF2-40B4-BE49-F238E27FC236}">
                <a16:creationId xmlns:a16="http://schemas.microsoft.com/office/drawing/2014/main" id="{41C3EF07-C44C-4797-BF85-00CD6939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500000"/>
            <a:ext cx="11000100" cy="48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Analytics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Database filters, KPIs, trends, scenario coverage, and attention items.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Event Stream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 persistent Server-Sent Events connection pushes newly committed rows immediately as readable event cards.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Machine Learning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 form sends one event through the dashboard API to the standalone service on port 5001.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Boundary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The browser is read-only: it never publishes MQTT events or writes to PostgreSQL.</a:t>
            </a:r>
          </a:p>
        </p:txBody>
      </p:sp>
    </p:spTree>
    <p:extLst>
      <p:ext uri="{BB962C8B-B14F-4D97-AF65-F5344CB8AC3E}">
        <p14:creationId xmlns:p14="http://schemas.microsoft.com/office/powerpoint/2010/main" val="193984356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0" name="Google Shape;400;p36">
            <a:extLst xmlns:a="http://schemas.openxmlformats.org/drawingml/2006/main">
              <a:ext uri="{FF2B5EF4-FFF2-40B4-BE49-F238E27FC236}">
                <a16:creationId xmlns:a16="http://schemas.microsoft.com/office/drawing/2014/main" id="{E733B641-CAC4-4DE4-A14B-B1E6D17D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1" name="Google Shape;401;p36">
            <a:extLst xmlns:a="http://schemas.openxmlformats.org/drawingml/2006/main">
              <a:ext uri="{FF2B5EF4-FFF2-40B4-BE49-F238E27FC236}">
                <a16:creationId xmlns:a16="http://schemas.microsoft.com/office/drawing/2014/main" id="{C3A35891-D8D1-41FF-B740-EA7CE18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50100" cy="4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2" name="Google Shape;402;p36">
            <a:extLst xmlns:a="http://schemas.openxmlformats.org/drawingml/2006/main">
              <a:ext uri="{FF2B5EF4-FFF2-40B4-BE49-F238E27FC236}">
                <a16:creationId xmlns:a16="http://schemas.microsoft.com/office/drawing/2014/main" id="{8EDE2B68-7415-4532-A39A-F63503C7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5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0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VALIDATION, LIMITATIONS &amp; NEXT STEP</a:t>
            </a:r>
          </a:p>
        </p:txBody>
      </p:sp>
      <p:sp>
        <p:nvSpPr>
          <p:cNvPr id="403" name="Google Shape;403;p36">
            <a:extLst xmlns:a="http://schemas.openxmlformats.org/drawingml/2006/main">
              <a:ext uri="{FF2B5EF4-FFF2-40B4-BE49-F238E27FC236}">
                <a16:creationId xmlns:a16="http://schemas.microsoft.com/office/drawing/2014/main" id="{7720B44A-F512-44C1-8598-6D74F4FC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00" y="1450000"/>
            <a:ext cx="11000100" cy="5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Validated locally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PostgreSQL and Mosquitto ran successfully; 1,150 persisted events were reported; API health, all three tabs, live updates, and ML predictions worked.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Important limitation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Jena contains weather measurements, not ignition or burned-area outcomes. The score and models are educational screening signals.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Next edge step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5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Add real Arduino sketches, documented sensors, and hardware photos after physical testing.</a:t>
            </a:r>
          </a:p>
        </p:txBody>
      </p:sp>
    </p:spTree>
    <p:extLst>
      <p:ext uri="{BB962C8B-B14F-4D97-AF65-F5344CB8AC3E}">
        <p14:creationId xmlns:p14="http://schemas.microsoft.com/office/powerpoint/2010/main" val="16485749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4" name="Google Shape;408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dbebf0ac864c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9" name="Google Shape;409;p37">
            <a:extLst xmlns:a="http://schemas.openxmlformats.org/drawingml/2006/main">
              <a:ext uri="{FF2B5EF4-FFF2-40B4-BE49-F238E27FC236}">
                <a16:creationId xmlns:a16="http://schemas.microsoft.com/office/drawing/2014/main" id="{DD2AD25E-A7AC-41ED-859E-51B0BF5B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720" y="1974502"/>
            <a:ext cx="447055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5250" b="1" i="0" u="none" cap="none">
                <a:solidFill>
                  <a:srgbClr val="F59E0B"/>
                </a:solidFill>
                <a:latin typeface="Urbanist"/>
                <a:ea typeface="Urbanist"/>
                <a:cs typeface="Urbanist"/>
              </a:rPr>
              <a:t>FINAL SYSTEM</a:t>
            </a:r>
          </a:p>
        </p:txBody>
      </p:sp>
      <p:sp>
        <p:nvSpPr>
          <p:cNvPr id="410" name="Google Shape;410;p37">
            <a:extLst xmlns:a="http://schemas.openxmlformats.org/drawingml/2006/main">
              <a:ext uri="{FF2B5EF4-FFF2-40B4-BE49-F238E27FC236}">
                <a16:creationId xmlns:a16="http://schemas.microsoft.com/office/drawing/2014/main" id="{98E20A6B-C8DE-4923-B6F1-D9F26C8F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2" y="3012727"/>
            <a:ext cx="4257675" cy="8775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F59E0B"/>
                </a:solidFill>
                <a:latin typeface="Manrope"/>
                <a:ea typeface="Manrope"/>
                <a:cs typeface="Manrope"/>
              </a:rPr>
              <a:t>Conference-ready and reproducible.</a:t>
            </a:r>
          </a:p>
        </p:txBody>
      </p:sp>
      <p:sp>
        <p:nvSpPr>
          <p:cNvPr id="411" name="Google Shape;411;p37">
            <a:extLst xmlns:a="http://schemas.openxmlformats.org/drawingml/2006/main">
              <a:ext uri="{FF2B5EF4-FFF2-40B4-BE49-F238E27FC236}">
                <a16:creationId xmlns:a16="http://schemas.microsoft.com/office/drawing/2014/main" id="{C696D0E3-75ED-4570-85A7-2434FAB8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64148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2" name="Google Shape;412;p37">
            <a:extLst xmlns:a="http://schemas.openxmlformats.org/drawingml/2006/main">
              <a:ext uri="{FF2B5EF4-FFF2-40B4-BE49-F238E27FC236}">
                <a16:creationId xmlns:a16="http://schemas.microsoft.com/office/drawing/2014/main" id="{C2875DDD-C47C-46E2-95A1-BD8D5B6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2" y="4083248"/>
            <a:ext cx="4257675" cy="91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94A3B8"/>
                </a:solidFill>
                <a:latin typeface="Manrope"/>
                <a:ea typeface="Manrope"/>
                <a:cs typeface="Manrope"/>
              </a:rPr>
              <a:t>Research → MQTT → PostgreSQL → Read-only Dashboard → ML Service
ByteSmart Internship Portfolio</a:t>
            </a:r>
          </a:p>
        </p:txBody>
      </p:sp>
    </p:spTree>
    <p:extLst>
      <p:ext uri="{BB962C8B-B14F-4D97-AF65-F5344CB8AC3E}">
        <p14:creationId xmlns:p14="http://schemas.microsoft.com/office/powerpoint/2010/main" val="3979235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C0C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2" name="Google Shape;417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0af90b968942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8" name="Google Shape;418;p38">
            <a:extLst xmlns:a="http://schemas.openxmlformats.org/drawingml/2006/main">
              <a:ext uri="{FF2B5EF4-FFF2-40B4-BE49-F238E27FC236}">
                <a16:creationId xmlns:a16="http://schemas.microsoft.com/office/drawing/2014/main" id="{D5B9A518-DD3A-4A2D-B4AF-8B107E0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81025"/>
            <a:ext cx="11381422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SOURCES &amp; DATA REFERENCES</a:t>
            </a:r>
          </a:p>
        </p:txBody>
      </p:sp>
      <p:sp>
        <p:nvSpPr>
          <p:cNvPr id="419" name="Google Shape;419;p38">
            <a:extLst xmlns:a="http://schemas.openxmlformats.org/drawingml/2006/main">
              <a:ext uri="{FF2B5EF4-FFF2-40B4-BE49-F238E27FC236}">
                <a16:creationId xmlns:a16="http://schemas.microsoft.com/office/drawing/2014/main" id="{09C46B03-6659-437D-BDBC-2B04688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0" name="Google Shape;420;p38">
            <a:extLst xmlns:a="http://schemas.openxmlformats.org/drawingml/2006/main">
              <a:ext uri="{FF2B5EF4-FFF2-40B4-BE49-F238E27FC236}">
                <a16:creationId xmlns:a16="http://schemas.microsoft.com/office/drawing/2014/main" id="{24CA282C-3C96-4DB4-A014-2EAE2B9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25" y="1597725"/>
            <a:ext cx="8687700" cy="385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df1a0005d6294006"/>
              </a:rPr>
              <a:t>https</a:t>
            </a: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e38b34db1da48ac"/>
              </a:rPr>
              <a:t>://www.theweathernetwork.com/en/news/weather/severe/how-the-30-30-30-rule-is-essential-for-wildfire-safety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0c353bcdbef4f92"/>
              </a:rPr>
              <a:t>https://www.weather.gov/safety/wildfire-ww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4937584e9ab455d"/>
              </a:rPr>
              <a:t>https://www.weather.gov/fire/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4c2a4bdf0d04084"/>
              </a:rPr>
              <a:t>https://firms.modaps.eosdis.nasa.gov/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5eb5fbcbc13f45bf"/>
              </a:rPr>
              <a:t>https://archive.ics.uci.edu/dataset/162/forest+fires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f13b30339c4f4930"/>
              </a:rPr>
              <a:t>https://www.kaggle.com/datasets/pankrzysiu/weather-archive-jena</a:t>
            </a:r>
          </a:p>
          <a:p xmlns:a="http://schemas.openxmlformats.org/drawingml/2006/main">
            <a:pPr marL="457200" marR="0" lvl="0" indent="-3302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Manrope"/>
              <a:buChar char="●"/>
            </a:pPr>
            <a:r>
              <a:rPr sz="1600" u="sng">
                <a:solidFill>
                  <a:schemeClr val="hlink"/>
                </a:solidFill>
                <a:latin typeface="Manrope"/>
                <a:ea typeface="Manrope"/>
                <a:cs typeface="Manrope"/>
                <a:hlinkClick xmlns:r="http://schemas.openxmlformats.org/officeDocument/2006/relationships" r:id="R7cbed1ee7df74f68"/>
              </a:rPr>
              <a:t>https://www.w3schools.com/python/</a:t>
            </a:r>
            <a:r>
              <a:rPr sz="1600">
                <a:solidFill>
                  <a:srgbClr val="CBD5E1"/>
                </a:solidFill>
                <a:latin typeface="Manrope"/>
                <a:ea typeface="Manrope"/>
                <a:cs typeface="Manrope"/>
              </a:rPr>
              <a:t> </a:t>
            </a:r>
          </a:p>
          <a:p xmlns:a="http://schemas.openxmlformats.org/drawingml/2006/main">
            <a:pPr marL="0" marR="0" lv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69162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2" name="Google Shape;425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89b4cc29104e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1571625"/>
            <a:ext cx="3555950" cy="1444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3" name="Google Shape;426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8f70e4603c48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17950" y="1571625"/>
            <a:ext cx="3555950" cy="1444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4" name="Google Shape;427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b71c1a8fe9438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64400" y="1571625"/>
            <a:ext cx="3556099" cy="1444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5" name="Google Shape;428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5cca847cb644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3206650"/>
            <a:ext cx="3555950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6" name="Google Shape;429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4274fbd0a84f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17950" y="3206650"/>
            <a:ext cx="3555950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7" name="Google Shape;430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003b7cddaaa49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64400" y="3206650"/>
            <a:ext cx="3556099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8" name="Google Shape;431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2eee62d76f44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841825"/>
            <a:ext cx="3555950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9" name="Google Shape;432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290dd646d14e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17950" y="4841825"/>
            <a:ext cx="3555950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0" name="Google Shape;433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47bd8deb8f43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64400" y="4841825"/>
            <a:ext cx="3556099" cy="14446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4" name="Google Shape;434;p39">
            <a:extLst xmlns:a="http://schemas.openxmlformats.org/drawingml/2006/main">
              <a:ext uri="{FF2B5EF4-FFF2-40B4-BE49-F238E27FC236}">
                <a16:creationId xmlns:a16="http://schemas.microsoft.com/office/drawing/2014/main" id="{6AFB78FE-A93F-46B7-A5E5-3C36351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0325"/>
            <a:ext cx="34101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94A3B8"/>
                </a:solidFill>
                <a:latin typeface="Inter"/>
                <a:ea typeface="Inter"/>
                <a:cs typeface="Inter"/>
              </a:rPr>
              <a:t>ByteSmart Internship | Fire Weather Monitoring Project</a:t>
            </a:r>
          </a:p>
        </p:txBody>
      </p:sp>
      <p:sp>
        <p:nvSpPr>
          <p:cNvPr id="435" name="Google Shape;435;p39">
            <a:extLst xmlns:a="http://schemas.openxmlformats.org/drawingml/2006/main">
              <a:ext uri="{FF2B5EF4-FFF2-40B4-BE49-F238E27FC236}">
                <a16:creationId xmlns:a16="http://schemas.microsoft.com/office/drawing/2014/main" id="{47A6649B-890E-4CA8-B744-9D83F48C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24075"/>
            <a:ext cx="31272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"detective work" phase—looking for patterns and clues in the data before making big decisions.</a:t>
            </a:r>
          </a:p>
        </p:txBody>
      </p:sp>
      <p:sp>
        <p:nvSpPr>
          <p:cNvPr id="436" name="Google Shape;436;p39">
            <a:extLst xmlns:a="http://schemas.openxmlformats.org/drawingml/2006/main">
              <a:ext uri="{FF2B5EF4-FFF2-40B4-BE49-F238E27FC236}">
                <a16:creationId xmlns:a16="http://schemas.microsoft.com/office/drawing/2014/main" id="{B448BFF0-103D-42B0-B43E-AE803702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550" y="2124075"/>
            <a:ext cx="31272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massive library of 7 years of weather records (temperature, humidity, pressure) used for practice.</a:t>
            </a:r>
          </a:p>
        </p:txBody>
      </p:sp>
      <p:sp>
        <p:nvSpPr>
          <p:cNvPr id="437" name="Google Shape;437;p39">
            <a:extLst xmlns:a="http://schemas.openxmlformats.org/drawingml/2006/main">
              <a:ext uri="{FF2B5EF4-FFF2-40B4-BE49-F238E27FC236}">
                <a16:creationId xmlns:a16="http://schemas.microsoft.com/office/drawing/2014/main" id="{A68EAB6D-3878-45F4-A99F-3CDDF55E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00" y="2124075"/>
            <a:ext cx="31275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Cleaning up "jittery" data by turning messy minute-by-minute notes into smooth hourly averages.</a:t>
            </a:r>
          </a:p>
        </p:txBody>
      </p:sp>
      <p:sp>
        <p:nvSpPr>
          <p:cNvPr id="438" name="Google Shape;438;p39">
            <a:extLst xmlns:a="http://schemas.openxmlformats.org/drawingml/2006/main">
              <a:ext uri="{FF2B5EF4-FFF2-40B4-BE49-F238E27FC236}">
                <a16:creationId xmlns:a16="http://schemas.microsoft.com/office/drawing/2014/main" id="{54268904-27C3-43FC-862E-9CB7A8C2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9100"/>
            <a:ext cx="3127200" cy="41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logic bridge that connects a </a:t>
            </a:r>
            <a:r>
              <a:rPr sz="1125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Claim</a:t>
            </a: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to hard </a:t>
            </a:r>
            <a:r>
              <a:rPr sz="1125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Evidence</a:t>
            </a: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and logical </a:t>
            </a:r>
            <a:r>
              <a:rPr sz="1125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Reasoning</a:t>
            </a: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439" name="Google Shape;439;p39">
            <a:extLst xmlns:a="http://schemas.openxmlformats.org/drawingml/2006/main">
              <a:ext uri="{FF2B5EF4-FFF2-40B4-BE49-F238E27FC236}">
                <a16:creationId xmlns:a16="http://schemas.microsoft.com/office/drawing/2014/main" id="{D70AD62C-849E-4BC0-BC37-207A6A14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550" y="3759100"/>
            <a:ext cx="31272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Using math to spot and delete "glitchy" sensor numbers that are way too high or low to be real.</a:t>
            </a:r>
          </a:p>
        </p:txBody>
      </p:sp>
      <p:sp>
        <p:nvSpPr>
          <p:cNvPr id="440" name="Google Shape;440;p39">
            <a:extLst xmlns:a="http://schemas.openxmlformats.org/drawingml/2006/main">
              <a:ext uri="{FF2B5EF4-FFF2-40B4-BE49-F238E27FC236}">
                <a16:creationId xmlns:a16="http://schemas.microsoft.com/office/drawing/2014/main" id="{DB6B5FC8-5EF8-40F4-BF1C-B3720075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00" y="3759100"/>
            <a:ext cx="31275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fire danger zone: When it is hotter than </a:t>
            </a:r>
            <a:r>
              <a:rPr sz="1125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30°C</a:t>
            </a: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and drier than </a:t>
            </a:r>
            <a:r>
              <a:rPr sz="1125" b="1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30% humidity</a:t>
            </a: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 at the same time.</a:t>
            </a:r>
          </a:p>
        </p:txBody>
      </p:sp>
      <p:sp>
        <p:nvSpPr>
          <p:cNvPr id="441" name="Google Shape;441;p39">
            <a:extLst xmlns:a="http://schemas.openxmlformats.org/drawingml/2006/main">
              <a:ext uri="{FF2B5EF4-FFF2-40B4-BE49-F238E27FC236}">
                <a16:creationId xmlns:a16="http://schemas.microsoft.com/office/drawing/2014/main" id="{B6984F3B-6A85-42AE-8AB8-A1085377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4275"/>
            <a:ext cx="31272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lightweight publish/subscribe protocol used to carry raw weather events through Mosquitto.</a:t>
            </a:r>
          </a:p>
        </p:txBody>
      </p:sp>
      <p:sp>
        <p:nvSpPr>
          <p:cNvPr id="442" name="Google Shape;442;p39">
            <a:extLst xmlns:a="http://schemas.openxmlformats.org/drawingml/2006/main">
              <a:ext uri="{FF2B5EF4-FFF2-40B4-BE49-F238E27FC236}">
                <a16:creationId xmlns:a16="http://schemas.microsoft.com/office/drawing/2014/main" id="{F458F3F2-0C76-47C7-8390-C55C8CFE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550" y="5394275"/>
            <a:ext cx="3127200" cy="6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database that preserves raw payloads and flattened dashboard records before display.</a:t>
            </a:r>
          </a:p>
        </p:txBody>
      </p:sp>
      <p:sp>
        <p:nvSpPr>
          <p:cNvPr id="443" name="Google Shape;443;p39">
            <a:extLst xmlns:a="http://schemas.openxmlformats.org/drawingml/2006/main">
              <a:ext uri="{FF2B5EF4-FFF2-40B4-BE49-F238E27FC236}">
                <a16:creationId xmlns:a16="http://schemas.microsoft.com/office/drawing/2014/main" id="{06366117-B915-4663-A2FF-AD656AE6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000" y="5394275"/>
            <a:ext cx="312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Server-Sent Events keep one connection open so newly committed rows appear immediately.</a:t>
            </a:r>
          </a:p>
        </p:txBody>
      </p:sp>
      <p:pic>
        <p:nvPicPr>
          <p:cNvPr id="501" name="Google Shape;444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826e3afe82420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0100" y="1804987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5" name="Google Shape;445;p39">
            <a:extLst xmlns:a="http://schemas.openxmlformats.org/drawingml/2006/main">
              <a:ext uri="{FF2B5EF4-FFF2-40B4-BE49-F238E27FC236}">
                <a16:creationId xmlns:a16="http://schemas.microsoft.com/office/drawing/2014/main" id="{07B01DA1-F388-4216-85C1-34F0DA44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3600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EDA</a:t>
            </a:r>
          </a:p>
        </p:txBody>
      </p:sp>
      <p:pic>
        <p:nvPicPr>
          <p:cNvPr id="503" name="Google Shape;446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225df1c940484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46550" y="1804987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7" name="Google Shape;447;p39">
            <a:extLst xmlns:a="http://schemas.openxmlformats.org/drawingml/2006/main">
              <a:ext uri="{FF2B5EF4-FFF2-40B4-BE49-F238E27FC236}">
                <a16:creationId xmlns:a16="http://schemas.microsoft.com/office/drawing/2014/main" id="{808A48E7-B363-45AC-8B21-27E6A838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00" y="1771650"/>
            <a:ext cx="12702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Jena Dataset</a:t>
            </a:r>
          </a:p>
        </p:txBody>
      </p:sp>
      <p:pic>
        <p:nvPicPr>
          <p:cNvPr id="505" name="Google Shape;448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5a108584254e0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93000" y="1804987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9" name="Google Shape;449;p39">
            <a:extLst xmlns:a="http://schemas.openxmlformats.org/drawingml/2006/main">
              <a:ext uri="{FF2B5EF4-FFF2-40B4-BE49-F238E27FC236}">
                <a16:creationId xmlns:a16="http://schemas.microsoft.com/office/drawing/2014/main" id="{654B49D7-EA4E-4330-8A4B-DFD4280E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800" y="1771650"/>
            <a:ext cx="11100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Resampling</a:t>
            </a:r>
          </a:p>
        </p:txBody>
      </p:sp>
      <p:pic>
        <p:nvPicPr>
          <p:cNvPr id="507" name="Google Shape;450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aba92deb9a45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0100" y="3440013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1" name="Google Shape;451;p39">
            <a:extLst xmlns:a="http://schemas.openxmlformats.org/drawingml/2006/main">
              <a:ext uri="{FF2B5EF4-FFF2-40B4-BE49-F238E27FC236}">
                <a16:creationId xmlns:a16="http://schemas.microsoft.com/office/drawing/2014/main" id="{ED736A81-BEB9-4A91-B6D2-9EADF9B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6675"/>
            <a:ext cx="8001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CER Map</a:t>
            </a:r>
          </a:p>
        </p:txBody>
      </p:sp>
      <p:pic>
        <p:nvPicPr>
          <p:cNvPr id="509" name="Google Shape;452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9fa6f5bdc44a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46550" y="3440013"/>
            <a:ext cx="21907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3" name="Google Shape;453;p39">
            <a:extLst xmlns:a="http://schemas.openxmlformats.org/drawingml/2006/main">
              <a:ext uri="{FF2B5EF4-FFF2-40B4-BE49-F238E27FC236}">
                <a16:creationId xmlns:a16="http://schemas.microsoft.com/office/drawing/2014/main" id="{6FCE6EF8-8EBD-4FF3-91C8-8BCE3AF3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925" y="3406675"/>
            <a:ext cx="11100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IQR Filtering</a:t>
            </a:r>
          </a:p>
        </p:txBody>
      </p:sp>
      <p:pic>
        <p:nvPicPr>
          <p:cNvPr id="511" name="Google Shape;454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eef5ecf8064f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93000" y="3440013"/>
            <a:ext cx="1714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5" name="Google Shape;455;p39">
            <a:extLst xmlns:a="http://schemas.openxmlformats.org/drawingml/2006/main">
              <a:ext uri="{FF2B5EF4-FFF2-40B4-BE49-F238E27FC236}">
                <a16:creationId xmlns:a16="http://schemas.microsoft.com/office/drawing/2014/main" id="{A8E77EEF-9762-4C3B-82CA-744E6446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8750" y="3406675"/>
            <a:ext cx="9801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30/30 Rule</a:t>
            </a:r>
          </a:p>
        </p:txBody>
      </p:sp>
      <p:pic>
        <p:nvPicPr>
          <p:cNvPr id="513" name="Google Shape;456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a87a90678443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0100" y="5075187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7" name="Google Shape;457;p39">
            <a:extLst xmlns:a="http://schemas.openxmlformats.org/drawingml/2006/main">
              <a:ext uri="{FF2B5EF4-FFF2-40B4-BE49-F238E27FC236}">
                <a16:creationId xmlns:a16="http://schemas.microsoft.com/office/drawing/2014/main" id="{018A2AD3-B531-4F82-80A4-955401BF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1850"/>
            <a:ext cx="15201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MQTT</a:t>
            </a:r>
          </a:p>
        </p:txBody>
      </p:sp>
      <p:pic>
        <p:nvPicPr>
          <p:cNvPr id="515" name="Google Shape;458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7b21ad331848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46550" y="5075187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59" name="Google Shape;459;p39">
            <a:extLst xmlns:a="http://schemas.openxmlformats.org/drawingml/2006/main">
              <a:ext uri="{FF2B5EF4-FFF2-40B4-BE49-F238E27FC236}">
                <a16:creationId xmlns:a16="http://schemas.microsoft.com/office/drawing/2014/main" id="{E70EFF68-596E-4129-9FBB-6E3D913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50" y="5041850"/>
            <a:ext cx="12303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PostgreSQL</a:t>
            </a:r>
          </a:p>
        </p:txBody>
      </p:sp>
      <p:pic>
        <p:nvPicPr>
          <p:cNvPr id="517" name="Google Shape;460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cbdc15c1ce43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93000" y="5075187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61" name="Google Shape;461;p39">
            <a:extLst xmlns:a="http://schemas.openxmlformats.org/drawingml/2006/main">
              <a:ext uri="{FF2B5EF4-FFF2-40B4-BE49-F238E27FC236}">
                <a16:creationId xmlns:a16="http://schemas.microsoft.com/office/drawing/2014/main" id="{B34E831B-D00B-4682-A7D2-F0EDB675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7800" y="5041850"/>
            <a:ext cx="1070100" cy="20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</a:rPr>
              <a:t>SSE</a:t>
            </a:r>
          </a:p>
        </p:txBody>
      </p:sp>
      <p:sp>
        <p:nvSpPr>
          <p:cNvPr id="462" name="Google Shape;462;p39">
            <a:extLst xmlns:a="http://schemas.openxmlformats.org/drawingml/2006/main">
              <a:ext uri="{FF2B5EF4-FFF2-40B4-BE49-F238E27FC236}">
                <a16:creationId xmlns:a16="http://schemas.microsoft.com/office/drawing/2014/main" id="{C683940A-C9CD-4719-8DAA-99A51425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11401500" cy="4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850">
                <a:solidFill>
                  <a:srgbClr val="FFFFFF"/>
                </a:solidFill>
                <a:latin typeface="Urbanist"/>
                <a:ea typeface="Urbanist"/>
                <a:cs typeface="Urbanist"/>
              </a:rPr>
              <a:t>Glossary: Project Terms</a:t>
            </a:r>
          </a:p>
        </p:txBody>
      </p:sp>
      <p:sp>
        <p:nvSpPr>
          <p:cNvPr id="463" name="Google Shape;463;p39">
            <a:extLst xmlns:a="http://schemas.openxmlformats.org/drawingml/2006/main">
              <a:ext uri="{FF2B5EF4-FFF2-40B4-BE49-F238E27FC236}">
                <a16:creationId xmlns:a16="http://schemas.microsoft.com/office/drawing/2014/main" id="{2A21C898-C1ED-4AB2-8769-61658079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1025"/>
            <a:ext cx="47700" cy="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8215033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2026-08-04T23:01:36.7830000Z</dcterms:created>
  <dcterms:modified xsi:type="dcterms:W3CDTF">2026-08-04T23:01:36.7830000Z</dcterms:modified>
</coreProperties>
</file>
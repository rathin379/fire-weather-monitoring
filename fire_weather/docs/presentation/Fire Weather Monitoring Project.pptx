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132d1986894c00" /><Relationship Type="http://schemas.openxmlformats.org/officeDocument/2006/relationships/extended-properties" Target="/docProps/app.xml" Id="R45b9bdbcd05e4f6c" /><Relationship Type="http://schemas.openxmlformats.org/officeDocument/2006/relationships/officeDocument" Target="/ppt/presentation.xml" Id="Rb88b7582a6de470a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ac01e98d392e40e6"/>
  </p:sldMasterIdLst>
  <p:notesMasterIdLst>
    <p:notesMasterId xmlns:r="http://schemas.openxmlformats.org/officeDocument/2006/relationships" r:id="Rc463cfef08324b2a"/>
  </p:notesMasterIdLst>
  <p:sldIdLst>
    <p:sldId xmlns:r="http://schemas.openxmlformats.org/officeDocument/2006/relationships" id="256" r:id="Ra37ef5608ca648ae"/>
    <p:sldId xmlns:r="http://schemas.openxmlformats.org/officeDocument/2006/relationships" id="257" r:id="R76e0c38529d846f7"/>
    <p:sldId xmlns:r="http://schemas.openxmlformats.org/officeDocument/2006/relationships" id="258" r:id="R1d1b6907d3d5491f"/>
    <p:sldId xmlns:r="http://schemas.openxmlformats.org/officeDocument/2006/relationships" id="259" r:id="Rd98b1e95007f41e6"/>
    <p:sldId xmlns:r="http://schemas.openxmlformats.org/officeDocument/2006/relationships" id="260" r:id="Rcda842e4f1874a19"/>
    <p:sldId xmlns:r="http://schemas.openxmlformats.org/officeDocument/2006/relationships" id="261" r:id="R45ce9c60cf16479d"/>
    <p:sldId xmlns:r="http://schemas.openxmlformats.org/officeDocument/2006/relationships" id="262" r:id="Rc0f0cfe1bc234e75"/>
    <p:sldId xmlns:r="http://schemas.openxmlformats.org/officeDocument/2006/relationships" id="263" r:id="R5421b7f478c54ec0"/>
    <p:sldId xmlns:r="http://schemas.openxmlformats.org/officeDocument/2006/relationships" id="264" r:id="R7f78ac4e95cc4a60"/>
    <p:sldId xmlns:r="http://schemas.openxmlformats.org/officeDocument/2006/relationships" id="265" r:id="Rfd6122ae352043d1"/>
    <p:sldId xmlns:r="http://schemas.openxmlformats.org/officeDocument/2006/relationships" id="266" r:id="R75efd3b8e9044bfb"/>
    <p:sldId xmlns:r="http://schemas.openxmlformats.org/officeDocument/2006/relationships" id="267" r:id="R9585afc6cfae4559"/>
    <p:sldId xmlns:r="http://schemas.openxmlformats.org/officeDocument/2006/relationships" id="268" r:id="Rc8212279c6a548f4"/>
    <p:sldId xmlns:r="http://schemas.openxmlformats.org/officeDocument/2006/relationships" id="269" r:id="Rd592f6ea1cec4c7d"/>
    <p:sldId xmlns:r="http://schemas.openxmlformats.org/officeDocument/2006/relationships" id="270" r:id="Rdf8280da5cfb42c2"/>
    <p:sldId xmlns:r="http://schemas.openxmlformats.org/officeDocument/2006/relationships" id="271" r:id="Re1ffecc4e3b8428d"/>
    <p:sldId xmlns:r="http://schemas.openxmlformats.org/officeDocument/2006/relationships" id="272" r:id="Re9b9fb638d354b9a"/>
    <p:sldId xmlns:r="http://schemas.openxmlformats.org/officeDocument/2006/relationships" id="273" r:id="R9c95ee4d0c7641f5"/>
    <p:sldId xmlns:r="http://schemas.openxmlformats.org/officeDocument/2006/relationships" id="274" r:id="Rc172c07b69034552"/>
    <p:sldId xmlns:r="http://schemas.openxmlformats.org/officeDocument/2006/relationships" id="275" r:id="Rb25f6707fc694e17"/>
    <p:sldId xmlns:r="http://schemas.openxmlformats.org/officeDocument/2006/relationships" id="276" r:id="Rd37b4f0adc19413f"/>
    <p:sldId xmlns:r="http://schemas.openxmlformats.org/officeDocument/2006/relationships" id="277" r:id="R2f6645b299a54edb"/>
    <p:sldId xmlns:r="http://schemas.openxmlformats.org/officeDocument/2006/relationships" id="278" r:id="R5d8d07838e0d473d"/>
    <p:sldId xmlns:r="http://schemas.openxmlformats.org/officeDocument/2006/relationships" id="279" r:id="R37d54cb65c764ca4"/>
    <p:sldId xmlns:r="http://schemas.openxmlformats.org/officeDocument/2006/relationships" id="280" r:id="R9394f9b65f10449f"/>
    <p:sldId xmlns:r="http://schemas.openxmlformats.org/officeDocument/2006/relationships" id="281" r:id="Red3a44c7914c4acd"/>
    <p:sldId xmlns:r="http://schemas.openxmlformats.org/officeDocument/2006/relationships" id="282" r:id="R2a59afcbca6e40fe"/>
  </p:sldIdLst>
  <p:sldSz cx="12192000" cy="6858000"/>
  <p:notesSz cx="6858000" cy="9144000"/>
  <p:embeddedFontLst>
    <p:embeddedFont>
      <p:font typeface="Manrope SemiBold"/>
      <p:regular xmlns:r="http://schemas.openxmlformats.org/officeDocument/2006/relationships" r:id="Rf76d7316e03342fb"/>
      <p:bold xmlns:r="http://schemas.openxmlformats.org/officeDocument/2006/relationships" r:id="Rca38da86a3a544b6"/>
    </p:embeddedFont>
    <p:embeddedFont>
      <p:font typeface="Inter"/>
      <p:regular xmlns:r="http://schemas.openxmlformats.org/officeDocument/2006/relationships" r:id="Rf5a980f7c4604314"/>
      <p:bold xmlns:r="http://schemas.openxmlformats.org/officeDocument/2006/relationships" r:id="Ra5efd65e44ff4a75"/>
      <p:italic xmlns:r="http://schemas.openxmlformats.org/officeDocument/2006/relationships" r:id="Redbe5dd485394e33"/>
      <p:boldItalic xmlns:r="http://schemas.openxmlformats.org/officeDocument/2006/relationships" r:id="Ra4958aec84804a02"/>
    </p:embeddedFont>
    <p:embeddedFont>
      <p:font typeface="Manrope"/>
      <p:regular xmlns:r="http://schemas.openxmlformats.org/officeDocument/2006/relationships" r:id="R3f0f5ceb4cc14922"/>
      <p:bold xmlns:r="http://schemas.openxmlformats.org/officeDocument/2006/relationships" r:id="Rb9776e8d3a3a42e5"/>
    </p:embeddedFont>
    <p:embeddedFont>
      <p:font typeface="Urbanist SemiBold"/>
      <p:regular xmlns:r="http://schemas.openxmlformats.org/officeDocument/2006/relationships" r:id="Ra4f3065a8aac4101"/>
      <p:bold xmlns:r="http://schemas.openxmlformats.org/officeDocument/2006/relationships" r:id="R6bdc656edd8f4921"/>
      <p:italic xmlns:r="http://schemas.openxmlformats.org/officeDocument/2006/relationships" r:id="R402fa74314aa4935"/>
      <p:boldItalic xmlns:r="http://schemas.openxmlformats.org/officeDocument/2006/relationships" r:id="Rd3fb4876df00443c"/>
    </p:embeddedFont>
    <p:embeddedFont>
      <p:font typeface="Urbanist Medium"/>
      <p:regular xmlns:r="http://schemas.openxmlformats.org/officeDocument/2006/relationships" r:id="R9b7c6dd539bb4c4d"/>
      <p:bold xmlns:r="http://schemas.openxmlformats.org/officeDocument/2006/relationships" r:id="R60936f0ac1cb44d5"/>
      <p:italic xmlns:r="http://schemas.openxmlformats.org/officeDocument/2006/relationships" r:id="Rb7edb9f632b74660"/>
      <p:boldItalic xmlns:r="http://schemas.openxmlformats.org/officeDocument/2006/relationships" r:id="R605ff6da67a94cb7"/>
    </p:embeddedFont>
    <p:embeddedFont>
      <p:font typeface="Urbanist"/>
      <p:regular xmlns:r="http://schemas.openxmlformats.org/officeDocument/2006/relationships" r:id="R07a79144a71a46cf"/>
      <p:bold xmlns:r="http://schemas.openxmlformats.org/officeDocument/2006/relationships" r:id="R41787abf51614d48"/>
      <p:italic xmlns:r="http://schemas.openxmlformats.org/officeDocument/2006/relationships" r:id="R7a206bbefbc74e4a"/>
      <p:boldItalic xmlns:r="http://schemas.openxmlformats.org/officeDocument/2006/relationships" r:id="R85f1fb3d258041a4"/>
    </p:embeddedFont>
    <p:embeddedFont>
      <p:font typeface="Poppins SemiBold"/>
      <p:regular xmlns:r="http://schemas.openxmlformats.org/officeDocument/2006/relationships" r:id="Rb83975fd7aec4dd8"/>
      <p:bold xmlns:r="http://schemas.openxmlformats.org/officeDocument/2006/relationships" r:id="Ree7f0a3b7d0f4dea"/>
      <p:italic xmlns:r="http://schemas.openxmlformats.org/officeDocument/2006/relationships" r:id="Re426cebe55354ed7"/>
      <p:boldItalic xmlns:r="http://schemas.openxmlformats.org/officeDocument/2006/relationships" r:id="R2b9b392f4fca49c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59c27c2dda4917" /><Relationship Type="http://schemas.openxmlformats.org/officeDocument/2006/relationships/slideMaster" Target="/ppt/slideMasters/slideMaster1.xml" Id="Rac01e98d392e40e6" /><Relationship Type="http://schemas.openxmlformats.org/officeDocument/2006/relationships/notesMaster" Target="/ppt/notesMasters/notesMaster1.xml" Id="Rc463cfef08324b2a" /><Relationship Type="http://schemas.openxmlformats.org/officeDocument/2006/relationships/presProps" Target="/ppt/presProps.xml" Id="R8815aa098c944e0b" /><Relationship Type="http://schemas.openxmlformats.org/officeDocument/2006/relationships/viewProps" Target="/ppt/viewProps.xml" Id="R7e8682061f924621" /><Relationship Type="http://schemas.openxmlformats.org/officeDocument/2006/relationships/tableStyles" Target="/ppt/tableStyles.xml" Id="R332ad677d00245e2" /><Relationship Type="http://schemas.openxmlformats.org/officeDocument/2006/relationships/font" Target="/ppt/fonts/font.dat" Id="Rf76d7316e03342fb" /><Relationship Type="http://schemas.openxmlformats.org/officeDocument/2006/relationships/font" Target="/ppt/fonts/font2.dat" Id="Rca38da86a3a544b6" /><Relationship Type="http://schemas.openxmlformats.org/officeDocument/2006/relationships/font" Target="/ppt/fonts/font3.dat" Id="Rf5a980f7c4604314" /><Relationship Type="http://schemas.openxmlformats.org/officeDocument/2006/relationships/font" Target="/ppt/fonts/font4.dat" Id="Ra5efd65e44ff4a75" /><Relationship Type="http://schemas.openxmlformats.org/officeDocument/2006/relationships/font" Target="/ppt/fonts/font5.dat" Id="Redbe5dd485394e33" /><Relationship Type="http://schemas.openxmlformats.org/officeDocument/2006/relationships/font" Target="/ppt/fonts/font6.dat" Id="Ra4958aec84804a02" /><Relationship Type="http://schemas.openxmlformats.org/officeDocument/2006/relationships/font" Target="/ppt/fonts/font7.dat" Id="R3f0f5ceb4cc14922" /><Relationship Type="http://schemas.openxmlformats.org/officeDocument/2006/relationships/font" Target="/ppt/fonts/font8.dat" Id="Rb9776e8d3a3a42e5" /><Relationship Type="http://schemas.openxmlformats.org/officeDocument/2006/relationships/font" Target="/ppt/fonts/font9.dat" Id="Ra4f3065a8aac4101" /><Relationship Type="http://schemas.openxmlformats.org/officeDocument/2006/relationships/font" Target="/ppt/fonts/font10.dat" Id="R6bdc656edd8f4921" /><Relationship Type="http://schemas.openxmlformats.org/officeDocument/2006/relationships/font" Target="/ppt/fonts/font11.dat" Id="R402fa74314aa4935" /><Relationship Type="http://schemas.openxmlformats.org/officeDocument/2006/relationships/font" Target="/ppt/fonts/font12.dat" Id="Rd3fb4876df00443c" /><Relationship Type="http://schemas.openxmlformats.org/officeDocument/2006/relationships/font" Target="/ppt/fonts/font13.dat" Id="R9b7c6dd539bb4c4d" /><Relationship Type="http://schemas.openxmlformats.org/officeDocument/2006/relationships/font" Target="/ppt/fonts/font14.dat" Id="R60936f0ac1cb44d5" /><Relationship Type="http://schemas.openxmlformats.org/officeDocument/2006/relationships/font" Target="/ppt/fonts/font15.dat" Id="Rb7edb9f632b74660" /><Relationship Type="http://schemas.openxmlformats.org/officeDocument/2006/relationships/font" Target="/ppt/fonts/font16.dat" Id="R605ff6da67a94cb7" /><Relationship Type="http://schemas.openxmlformats.org/officeDocument/2006/relationships/font" Target="/ppt/fonts/font17.dat" Id="R07a79144a71a46cf" /><Relationship Type="http://schemas.openxmlformats.org/officeDocument/2006/relationships/font" Target="/ppt/fonts/font18.dat" Id="R41787abf51614d48" /><Relationship Type="http://schemas.openxmlformats.org/officeDocument/2006/relationships/font" Target="/ppt/fonts/font19.dat" Id="R7a206bbefbc74e4a" /><Relationship Type="http://schemas.openxmlformats.org/officeDocument/2006/relationships/font" Target="/ppt/fonts/font20.dat" Id="R85f1fb3d258041a4" /><Relationship Type="http://schemas.openxmlformats.org/officeDocument/2006/relationships/font" Target="/ppt/fonts/font21.dat" Id="Rb83975fd7aec4dd8" /><Relationship Type="http://schemas.openxmlformats.org/officeDocument/2006/relationships/font" Target="/ppt/fonts/font22.dat" Id="Ree7f0a3b7d0f4dea" /><Relationship Type="http://schemas.openxmlformats.org/officeDocument/2006/relationships/font" Target="/ppt/fonts/font23.dat" Id="Re426cebe55354ed7" /><Relationship Type="http://schemas.openxmlformats.org/officeDocument/2006/relationships/font" Target="/ppt/fonts/font24.dat" Id="R2b9b392f4fca49ca" /><Relationship Type="http://schemas.openxmlformats.org/officeDocument/2006/relationships/slide" Target="/ppt/slides/slide1.xml" Id="Ra37ef5608ca648ae" /><Relationship Type="http://schemas.openxmlformats.org/officeDocument/2006/relationships/slide" Target="/ppt/slides/slide2.xml" Id="R76e0c38529d846f7" /><Relationship Type="http://schemas.openxmlformats.org/officeDocument/2006/relationships/slide" Target="/ppt/slides/slide3.xml" Id="R1d1b6907d3d5491f" /><Relationship Type="http://schemas.openxmlformats.org/officeDocument/2006/relationships/slide" Target="/ppt/slides/slide4.xml" Id="Rd98b1e95007f41e6" /><Relationship Type="http://schemas.openxmlformats.org/officeDocument/2006/relationships/slide" Target="/ppt/slides/slide5.xml" Id="Rcda842e4f1874a19" /><Relationship Type="http://schemas.openxmlformats.org/officeDocument/2006/relationships/slide" Target="/ppt/slides/slide6.xml" Id="R45ce9c60cf16479d" /><Relationship Type="http://schemas.openxmlformats.org/officeDocument/2006/relationships/slide" Target="/ppt/slides/slide7.xml" Id="Rc0f0cfe1bc234e75" /><Relationship Type="http://schemas.openxmlformats.org/officeDocument/2006/relationships/slide" Target="/ppt/slides/slide8.xml" Id="R5421b7f478c54ec0" /><Relationship Type="http://schemas.openxmlformats.org/officeDocument/2006/relationships/slide" Target="/ppt/slides/slide9.xml" Id="R7f78ac4e95cc4a60" /><Relationship Type="http://schemas.openxmlformats.org/officeDocument/2006/relationships/slide" Target="/ppt/slides/slide10.xml" Id="Rfd6122ae352043d1" /><Relationship Type="http://schemas.openxmlformats.org/officeDocument/2006/relationships/slide" Target="/ppt/slides/slide11.xml" Id="R75efd3b8e9044bfb" /><Relationship Type="http://schemas.openxmlformats.org/officeDocument/2006/relationships/slide" Target="/ppt/slides/slide12.xml" Id="R9585afc6cfae4559" /><Relationship Type="http://schemas.openxmlformats.org/officeDocument/2006/relationships/slide" Target="/ppt/slides/slide13.xml" Id="Rc8212279c6a548f4" /><Relationship Type="http://schemas.openxmlformats.org/officeDocument/2006/relationships/slide" Target="/ppt/slides/slide14.xml" Id="Rd592f6ea1cec4c7d" /><Relationship Type="http://schemas.openxmlformats.org/officeDocument/2006/relationships/slide" Target="/ppt/slides/slide15.xml" Id="Rdf8280da5cfb42c2" /><Relationship Type="http://schemas.openxmlformats.org/officeDocument/2006/relationships/slide" Target="/ppt/slides/slide16.xml" Id="Re1ffecc4e3b8428d" /><Relationship Type="http://schemas.openxmlformats.org/officeDocument/2006/relationships/slide" Target="/ppt/slides/slide17.xml" Id="Re9b9fb638d354b9a" /><Relationship Type="http://schemas.openxmlformats.org/officeDocument/2006/relationships/slide" Target="/ppt/slides/slide18.xml" Id="R9c95ee4d0c7641f5" /><Relationship Type="http://schemas.openxmlformats.org/officeDocument/2006/relationships/slide" Target="/ppt/slides/slide19.xml" Id="Rc172c07b69034552" /><Relationship Type="http://schemas.openxmlformats.org/officeDocument/2006/relationships/slide" Target="/ppt/slides/slide20.xml" Id="Rb25f6707fc694e17" /><Relationship Type="http://schemas.openxmlformats.org/officeDocument/2006/relationships/slide" Target="/ppt/slides/slide21.xml" Id="Rd37b4f0adc19413f" /><Relationship Type="http://schemas.openxmlformats.org/officeDocument/2006/relationships/slide" Target="/ppt/slides/slide22.xml" Id="R2f6645b299a54edb" /><Relationship Type="http://schemas.openxmlformats.org/officeDocument/2006/relationships/slide" Target="/ppt/slides/slide23.xml" Id="R5d8d07838e0d473d" /><Relationship Type="http://schemas.openxmlformats.org/officeDocument/2006/relationships/slide" Target="/ppt/slides/slide24.xml" Id="R37d54cb65c764ca4" /><Relationship Type="http://schemas.openxmlformats.org/officeDocument/2006/relationships/slide" Target="/ppt/slides/slide25.xml" Id="R9394f9b65f10449f" /><Relationship Type="http://schemas.openxmlformats.org/officeDocument/2006/relationships/slide" Target="/ppt/slides/slide26.xml" Id="Red3a44c7914c4acd" /><Relationship Type="http://schemas.openxmlformats.org/officeDocument/2006/relationships/slide" Target="/ppt/slides/slide27.xml" Id="R2a59afcbca6e40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1786429d59a47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b9b67c09b24f56" /><Relationship Type="http://schemas.openxmlformats.org/officeDocument/2006/relationships/notesMaster" Target="/ppt/notesMasters/notesMaster1.xml" Id="Raae34d16c4ba45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06df8534c54070" /><Relationship Type="http://schemas.openxmlformats.org/officeDocument/2006/relationships/notesMaster" Target="/ppt/notesMasters/notesMaster1.xml" Id="R57afdcc56c904d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0c8f3586d25416c" /><Relationship Type="http://schemas.openxmlformats.org/officeDocument/2006/relationships/notesMaster" Target="/ppt/notesMasters/notesMaster1.xml" Id="R88ca0063e5924bd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4449992ccc4baa" /><Relationship Type="http://schemas.openxmlformats.org/officeDocument/2006/relationships/notesMaster" Target="/ppt/notesMasters/notesMaster1.xml" Id="R91bd2402669244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d43c5acaa3f4ac7" /><Relationship Type="http://schemas.openxmlformats.org/officeDocument/2006/relationships/notesMaster" Target="/ppt/notesMasters/notesMaster1.xml" Id="Ra439763e6de44f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3a989cacfec4477" /><Relationship Type="http://schemas.openxmlformats.org/officeDocument/2006/relationships/notesMaster" Target="/ppt/notesMasters/notesMaster1.xml" Id="R2baea15bc17c448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8681c72fe54f6d" /><Relationship Type="http://schemas.openxmlformats.org/officeDocument/2006/relationships/notesMaster" Target="/ppt/notesMasters/notesMaster1.xml" Id="R5b2348f4c81a46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0a6e87f62248b3" /><Relationship Type="http://schemas.openxmlformats.org/officeDocument/2006/relationships/notesMaster" Target="/ppt/notesMasters/notesMaster1.xml" Id="R5a9e15a20aab445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53ebca201c048b2" /><Relationship Type="http://schemas.openxmlformats.org/officeDocument/2006/relationships/notesMaster" Target="/ppt/notesMasters/notesMaster1.xml" Id="R2fe6c881f220487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9ddf092421b4b03" /><Relationship Type="http://schemas.openxmlformats.org/officeDocument/2006/relationships/notesMaster" Target="/ppt/notesMasters/notesMaster1.xml" Id="R1dee2016f4af495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63f64261334869" /><Relationship Type="http://schemas.openxmlformats.org/officeDocument/2006/relationships/notesMaster" Target="/ppt/notesMasters/notesMaster1.xml" Id="R8d07b6ee72b34c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5668fa76ff46bc" /><Relationship Type="http://schemas.openxmlformats.org/officeDocument/2006/relationships/notesMaster" Target="/ppt/notesMasters/notesMaster1.xml" Id="R2aa86e49a0ef44f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ee64136f95d4301" /><Relationship Type="http://schemas.openxmlformats.org/officeDocument/2006/relationships/notesMaster" Target="/ppt/notesMasters/notesMaster1.xml" Id="R2dfc8a39b3744db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e69c4dfc11641a0" /><Relationship Type="http://schemas.openxmlformats.org/officeDocument/2006/relationships/notesMaster" Target="/ppt/notesMasters/notesMaster1.xml" Id="R009930ceb91d45a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ac0ccae25884c72" /><Relationship Type="http://schemas.openxmlformats.org/officeDocument/2006/relationships/notesMaster" Target="/ppt/notesMasters/notesMaster1.xml" Id="Ra862c20f90c44ca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e2e1e9b57f8406c" /><Relationship Type="http://schemas.openxmlformats.org/officeDocument/2006/relationships/notesMaster" Target="/ppt/notesMasters/notesMaster1.xml" Id="Rb9c8f711850548b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6ad49ad95dc498c" /><Relationship Type="http://schemas.openxmlformats.org/officeDocument/2006/relationships/notesMaster" Target="/ppt/notesMasters/notesMaster1.xml" Id="R333cb438e251471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609381447a64c46" /><Relationship Type="http://schemas.openxmlformats.org/officeDocument/2006/relationships/notesMaster" Target="/ppt/notesMasters/notesMaster1.xml" Id="Rb07008ec77a0418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de8b6f33d224411" /><Relationship Type="http://schemas.openxmlformats.org/officeDocument/2006/relationships/notesMaster" Target="/ppt/notesMasters/notesMaster1.xml" Id="R2bbd6bc9cd9f421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7eb433009354d9f" /><Relationship Type="http://schemas.openxmlformats.org/officeDocument/2006/relationships/notesMaster" Target="/ppt/notesMasters/notesMaster1.xml" Id="Rff9152bcdbb9428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47fbf66d6c24892" /><Relationship Type="http://schemas.openxmlformats.org/officeDocument/2006/relationships/notesMaster" Target="/ppt/notesMasters/notesMaster1.xml" Id="R4403f92a0ba043a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dc1f71288894a5e" /><Relationship Type="http://schemas.openxmlformats.org/officeDocument/2006/relationships/notesMaster" Target="/ppt/notesMasters/notesMaster1.xml" Id="R63acd112d4474f0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10023a7de5849d7" /><Relationship Type="http://schemas.openxmlformats.org/officeDocument/2006/relationships/notesMaster" Target="/ppt/notesMasters/notesMaster1.xml" Id="R3c56f600237b4f4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287814be9634daf" /><Relationship Type="http://schemas.openxmlformats.org/officeDocument/2006/relationships/notesMaster" Target="/ppt/notesMasters/notesMaster1.xml" Id="Rf5c64c6962a344c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2f7a2a743d84b07" /><Relationship Type="http://schemas.openxmlformats.org/officeDocument/2006/relationships/notesMaster" Target="/ppt/notesMasters/notesMaster1.xml" Id="Rb2b71c9f1477481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b475c1784584375" /><Relationship Type="http://schemas.openxmlformats.org/officeDocument/2006/relationships/notesMaster" Target="/ppt/notesMasters/notesMaster1.xml" Id="Ra1a1fa3e6fef4a5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e33351a9f034e18" /><Relationship Type="http://schemas.openxmlformats.org/officeDocument/2006/relationships/notesMaster" Target="/ppt/notesMasters/notesMaster1.xml" Id="R65d6a10b16604b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Weather Archive Jena dataset and research sources listed on slide 26.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Fire_Weather_Monitoring_Deep_Dive.docx.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Weather Archive Jena dataset and research sources listed on slide 26.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Fire_Weather_Monitoring_Deep_Dive.docx.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Weather Archive Jena dataset and research sources listed on slide 26.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Fire_Weather_Monitoring_Deep_Dive.docx.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Weather Archive Jena dataset and research sources listed on slide 26.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Fire_Weather_Monitoring_Deep_Dive.docx.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Weather Archive Jena dataset and research sources listed on slide 26.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Fire_Weather_Monitoring_Deep_Dive.docx.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457200" lvl="0" indent="-29845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u="sng">
                <a:solidFill>
                  <a:schemeClr val="hlink"/>
                </a:solidFill>
              </a:rPr>
              <a:t>[Sources]</a:t>
            </a:r>
          </a:p>
          <a:p xmlns:a="http://schemas.openxmlformats.org/drawingml/2006/main">
            <a:pPr marL="457200" lvl="0" indent="-29845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u="sng">
                <a:solidFill>
                  <a:schemeClr val="hlink"/>
                </a:solidFill>
              </a:rPr>
              <a:t>- Weather Archive Jena dataset and research sources listed on slide 26.</a:t>
            </a:r>
          </a:p>
          <a:p xmlns:a="http://schemas.openxmlformats.org/drawingml/2006/main">
            <a:pPr marL="457200" lvl="0" indent="-29845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u="sng">
                <a:solidFill>
                  <a:schemeClr val="hlink"/>
                </a:solidFill>
              </a:rPr>
              <a:t>- Fire_Weather_Monitoring_Deep_Dive.docx.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Weather Archive Jena dataset and research sources listed on slide 26.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Fire_Weather_Monitoring_Deep_Dive.docx.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Weather Archive Jena dataset and research sources listed on slide 26.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Fire_Weather_Monitoring_Deep_Dive.docx.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Weather Archive Jena dataset and research sources listed on slide 26.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Fire_Weather_Monitoring_Deep_Dive.docx.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Weather Archive Jena dataset and research sources listed on slide 26.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Fire_Weather_Monitoring_Deep_Dive.docx.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Weather Archive Jena dataset and research sources listed on slide 26.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Fire_Weather_Monitoring_Deep_Dive.docx.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Weather Archive Jena dataset and research sources listed on slide 26.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Fire_Weather_Monitoring_Deep_Dive.docx.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ai_worker/models/manifest.json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ai_worker/train_models.py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ai_worker/ml_service.py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ai_worker/models/manifest.json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ai_worker/train_models.py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ai_worker/ml_service.py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ai_worker/models/manifest.json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ai_worker/train_models.py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ai_worker/ml_service.py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ai_worker/models/manifest.json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ai_worker/train_models.py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ai_worker/ml_service.py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ai_worker/models/manifest.json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ai_worker/train_models.py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ai_worker/ml_service.py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ai_worker/models/manifest.json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ai_worker/train_models.py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ai_worker/ml_service.py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ai_worker/models/manifest.json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ai_worker/train_models.py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ai_worker/ml_service.py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ai_worker/models/manifest.json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ai_worker/train_models.py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ai_worker/ml_service.py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docs/FIRE_DATA_CONTRACT.md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backend source files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Local integration validation completed August 3,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docs/FIRE_DATA_CONTRACT.md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backend source files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Local integration validation completed August 3,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docs/FIRE_DATA_CONTRACT.md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backend source files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Local integration validation completed August 3,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docs/FIRE_DATA_CONTRACT.md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backend source files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Local integration validation completed August 3,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docs/FIRE_DATA_CONTRACT.md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backend source files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Local integration validation completed August 3,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Sources and project files listed in the presentation and final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Sources and project files listed in the presentation and final package.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097fdb0d4b48f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3f546d66f8402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a943c245354c7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5bfedf531f42f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09ad3fb6624cc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8ef52bd200417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90610a56514cb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e387275cb4463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e5ae23e8414b9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1dc56f5e884e6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35a1da59284d93" /></Relationships>
</file>

<file path=ppt/slideLayouts/slideLayout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DE3EF55E-DA95-4B33-8A41-29FB684A28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3" name="Google Shape;13;p2">
            <a:extLst xmlns:a="http://schemas.openxmlformats.org/drawingml/2006/main">
              <a:ext uri="{FF2B5EF4-FFF2-40B4-BE49-F238E27FC236}">
                <a16:creationId xmlns:a16="http://schemas.microsoft.com/office/drawing/2014/main" id="{63666B82-F18D-434E-8283-BADD6800EC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4" name="Google Shape;14;p2">
            <a:extLst xmlns:a="http://schemas.openxmlformats.org/drawingml/2006/main">
              <a:ext uri="{FF2B5EF4-FFF2-40B4-BE49-F238E27FC236}">
                <a16:creationId xmlns:a16="http://schemas.microsoft.com/office/drawing/2014/main" id="{089076EA-0244-4FEC-83AA-3694A36812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53B43285-792C-4826-82E0-783FCB39579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0DD3FB7C-CD97-483B-9232-992C542EA4F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F683F934-0D88-46C9-9503-C753F1EA63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F4EFECAC-5064-468E-8CD8-2D32F41E77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5BE175BF-7283-400F-9C7F-02937014DC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4">
            <a:extLst xmlns:a="http://schemas.openxmlformats.org/drawingml/2006/main">
              <a:ext uri="{FF2B5EF4-FFF2-40B4-BE49-F238E27FC236}">
                <a16:creationId xmlns:a16="http://schemas.microsoft.com/office/drawing/2014/main" id="{E60B0DE9-1E12-4CD2-9FB8-DB1BC25B80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3" name="Google Shape;23;p4">
            <a:extLst xmlns:a="http://schemas.openxmlformats.org/drawingml/2006/main">
              <a:ext uri="{FF2B5EF4-FFF2-40B4-BE49-F238E27FC236}">
                <a16:creationId xmlns:a16="http://schemas.microsoft.com/office/drawing/2014/main" id="{3FE7E825-D0D4-484B-BD59-CE9D340CE3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4" name="Google Shape;24;p4">
            <a:extLst xmlns:a="http://schemas.openxmlformats.org/drawingml/2006/main">
              <a:ext uri="{FF2B5EF4-FFF2-40B4-BE49-F238E27FC236}">
                <a16:creationId xmlns:a16="http://schemas.microsoft.com/office/drawing/2014/main" id="{19C0C247-D348-4881-8D93-5F6752BECC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4">
            <a:extLst xmlns:a="http://schemas.openxmlformats.org/drawingml/2006/main">
              <a:ext uri="{FF2B5EF4-FFF2-40B4-BE49-F238E27FC236}">
                <a16:creationId xmlns:a16="http://schemas.microsoft.com/office/drawing/2014/main" id="{DB55DB40-9EEE-4AD6-90F6-C0661689CD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6" name="Google Shape;26;p4">
            <a:extLst xmlns:a="http://schemas.openxmlformats.org/drawingml/2006/main">
              <a:ext uri="{FF2B5EF4-FFF2-40B4-BE49-F238E27FC236}">
                <a16:creationId xmlns:a16="http://schemas.microsoft.com/office/drawing/2014/main" id="{8715D35E-8802-46AB-8AEA-A9AF78C183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5">
            <a:extLst xmlns:a="http://schemas.openxmlformats.org/drawingml/2006/main">
              <a:ext uri="{FF2B5EF4-FFF2-40B4-BE49-F238E27FC236}">
                <a16:creationId xmlns:a16="http://schemas.microsoft.com/office/drawing/2014/main" id="{7FCA7309-BACD-4504-AE59-DD92253B0D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9" name="Google Shape;29;p5">
            <a:extLst xmlns:a="http://schemas.openxmlformats.org/drawingml/2006/main">
              <a:ext uri="{FF2B5EF4-FFF2-40B4-BE49-F238E27FC236}">
                <a16:creationId xmlns:a16="http://schemas.microsoft.com/office/drawing/2014/main" id="{59A65E86-91C5-44C6-877D-17DAF65087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0" name="Google Shape;30;p5">
            <a:extLst xmlns:a="http://schemas.openxmlformats.org/drawingml/2006/main">
              <a:ext uri="{FF2B5EF4-FFF2-40B4-BE49-F238E27FC236}">
                <a16:creationId xmlns:a16="http://schemas.microsoft.com/office/drawing/2014/main" id="{E31CAA57-2533-41EE-BA03-47558368B7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Google Shape;31;p5">
            <a:extLst xmlns:a="http://schemas.openxmlformats.org/drawingml/2006/main">
              <a:ext uri="{FF2B5EF4-FFF2-40B4-BE49-F238E27FC236}">
                <a16:creationId xmlns:a16="http://schemas.microsoft.com/office/drawing/2014/main" id="{95BD3507-E122-4328-9DB6-A5B47B224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5">
            <a:extLst xmlns:a="http://schemas.openxmlformats.org/drawingml/2006/main">
              <a:ext uri="{FF2B5EF4-FFF2-40B4-BE49-F238E27FC236}">
                <a16:creationId xmlns:a16="http://schemas.microsoft.com/office/drawing/2014/main" id="{B0E99574-EB04-4DD9-A0E4-DF449A2D58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D256915F-B1F0-4537-8456-460C454231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7B059F37-5F67-4D63-ADD0-BF308B6637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4038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 xmlns:a="http://schemas.openxmlformats.org/drawingml/2006/main"/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2721F1D4-7327-4F0E-A179-05F4FCA6B81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648200" y="1600200"/>
            <a:ext cx="4038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 xmlns:a="http://schemas.openxmlformats.org/drawingml/2006/main"/>
        </p:txBody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EEDB2C8D-1D9B-441F-A1C0-59E11B5169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311891E9-6E7B-43AB-BDF4-7D6B27E6D8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99396FC4-66F9-4843-A8FD-50AF573FAD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7">
            <a:extLst xmlns:a="http://schemas.openxmlformats.org/drawingml/2006/main">
              <a:ext uri="{FF2B5EF4-FFF2-40B4-BE49-F238E27FC236}">
                <a16:creationId xmlns:a16="http://schemas.microsoft.com/office/drawing/2014/main" id="{6F0C23B1-4B16-465B-91CE-28ACAA6997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7">
            <a:extLst xmlns:a="http://schemas.openxmlformats.org/drawingml/2006/main">
              <a:ext uri="{FF2B5EF4-FFF2-40B4-BE49-F238E27FC236}">
                <a16:creationId xmlns:a16="http://schemas.microsoft.com/office/drawing/2014/main" id="{3DAE962D-88B9-4532-9888-825B95FC24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3" name="Google Shape;43;p7">
            <a:extLst xmlns:a="http://schemas.openxmlformats.org/drawingml/2006/main">
              <a:ext uri="{FF2B5EF4-FFF2-40B4-BE49-F238E27FC236}">
                <a16:creationId xmlns:a16="http://schemas.microsoft.com/office/drawing/2014/main" id="{BD5F6C16-6B38-462F-BAB7-47D7EBFF844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2174875"/>
            <a:ext cx="4040188" cy="39512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 xmlns:a="http://schemas.openxmlformats.org/drawingml/2006/main"/>
        </p:txBody>
      </p:sp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9AEB68C6-AEF2-4CD5-8FBA-41BEA6DFB71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7E8A4CBD-F4EF-4CD9-A4C7-CEB10965F95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645025" y="2174875"/>
            <a:ext cx="4041775" cy="39512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 xmlns:a="http://schemas.openxmlformats.org/drawingml/2006/main"/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196C386-5D70-4AB8-9558-E135939906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08E2FE5A-C64A-4900-AECD-BDA7BFD1D0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88C21081-6A82-45A7-B059-FCC37880E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8">
            <a:extLst xmlns:a="http://schemas.openxmlformats.org/drawingml/2006/main">
              <a:ext uri="{FF2B5EF4-FFF2-40B4-BE49-F238E27FC236}">
                <a16:creationId xmlns:a16="http://schemas.microsoft.com/office/drawing/2014/main" id="{ACEC211F-6F94-4E00-A625-0A4E595073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1" name="Google Shape;51;p8">
            <a:extLst xmlns:a="http://schemas.openxmlformats.org/drawingml/2006/main">
              <a:ext uri="{FF2B5EF4-FFF2-40B4-BE49-F238E27FC236}">
                <a16:creationId xmlns:a16="http://schemas.microsoft.com/office/drawing/2014/main" id="{8AB2876D-985E-49D0-BFEF-519A841FC8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8">
            <a:extLst xmlns:a="http://schemas.openxmlformats.org/drawingml/2006/main">
              <a:ext uri="{FF2B5EF4-FFF2-40B4-BE49-F238E27FC236}">
                <a16:creationId xmlns:a16="http://schemas.microsoft.com/office/drawing/2014/main" id="{97E3B49D-3BC7-45D7-ADF3-06F627E66D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87AFC5D2-9D21-40FC-984D-A4B5E34E96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9">
            <a:extLst xmlns:a="http://schemas.openxmlformats.org/drawingml/2006/main">
              <a:ext uri="{FF2B5EF4-FFF2-40B4-BE49-F238E27FC236}">
                <a16:creationId xmlns:a16="http://schemas.microsoft.com/office/drawing/2014/main" id="{44ED693D-7B72-4DCD-BA0E-C4DB8A4FF3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9">
            <a:extLst xmlns:a="http://schemas.openxmlformats.org/drawingml/2006/main">
              <a:ext uri="{FF2B5EF4-FFF2-40B4-BE49-F238E27FC236}">
                <a16:creationId xmlns:a16="http://schemas.microsoft.com/office/drawing/2014/main" id="{1ED721D2-C826-4FB3-94AF-04D59CA2E0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575050" y="273050"/>
            <a:ext cx="5111750" cy="5853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57" name="Google Shape;57;p9">
            <a:extLst xmlns:a="http://schemas.openxmlformats.org/drawingml/2006/main">
              <a:ext uri="{FF2B5EF4-FFF2-40B4-BE49-F238E27FC236}">
                <a16:creationId xmlns:a16="http://schemas.microsoft.com/office/drawing/2014/main" id="{C115239A-3B2A-4ED1-BC16-8EA83E133C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 xmlns:a="http://schemas.openxmlformats.org/drawingml/2006/main"/>
        </p:txBody>
      </p:sp>
      <p:sp>
        <p:nvSpPr>
          <p:cNvPr id="58" name="Google Shape;58;p9">
            <a:extLst xmlns:a="http://schemas.openxmlformats.org/drawingml/2006/main">
              <a:ext uri="{FF2B5EF4-FFF2-40B4-BE49-F238E27FC236}">
                <a16:creationId xmlns:a16="http://schemas.microsoft.com/office/drawing/2014/main" id="{51EBE4E1-7874-4FEC-8B9D-AFF446AC52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979CF39E-61E9-4D76-BCBB-A4B0F120EE1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5CBD5859-8A7D-42AA-9C47-1D7DEA74F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10">
            <a:extLst xmlns:a="http://schemas.openxmlformats.org/drawingml/2006/main">
              <a:ext uri="{FF2B5EF4-FFF2-40B4-BE49-F238E27FC236}">
                <a16:creationId xmlns:a16="http://schemas.microsoft.com/office/drawing/2014/main" id="{191CBFBD-012B-4769-A882-E553B49A4B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Google Shape;63;p10">
            <a:extLst xmlns:a="http://schemas.openxmlformats.org/drawingml/2006/main">
              <a:ext uri="{FF2B5EF4-FFF2-40B4-BE49-F238E27FC236}">
                <a16:creationId xmlns:a16="http://schemas.microsoft.com/office/drawing/2014/main" id="{33C2B589-F234-4F10-89BA-76EDB5FCD40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792288" y="612775"/>
            <a:ext cx="5486400" cy="411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4" name="Google Shape;64;p10">
            <a:extLst xmlns:a="http://schemas.openxmlformats.org/drawingml/2006/main">
              <a:ext uri="{FF2B5EF4-FFF2-40B4-BE49-F238E27FC236}">
                <a16:creationId xmlns:a16="http://schemas.microsoft.com/office/drawing/2014/main" id="{90555358-7951-4025-B30D-7DED47F322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792288" y="5367338"/>
            <a:ext cx="5486400" cy="804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 xmlns:a="http://schemas.openxmlformats.org/drawingml/2006/main"/>
        </p:txBody>
      </p:sp>
      <p:sp>
        <p:nvSpPr>
          <p:cNvPr id="65" name="Google Shape;65;p10">
            <a:extLst xmlns:a="http://schemas.openxmlformats.org/drawingml/2006/main">
              <a:ext uri="{FF2B5EF4-FFF2-40B4-BE49-F238E27FC236}">
                <a16:creationId xmlns:a16="http://schemas.microsoft.com/office/drawing/2014/main" id="{1F305D77-6676-46E1-A87F-14C730722C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AB8A11C8-B977-4B9A-84CE-BBA53724B0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C69EC847-0682-402F-BB90-C0D2C63AA05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11">
            <a:extLst xmlns:a="http://schemas.openxmlformats.org/drawingml/2006/main">
              <a:ext uri="{FF2B5EF4-FFF2-40B4-BE49-F238E27FC236}">
                <a16:creationId xmlns:a16="http://schemas.microsoft.com/office/drawing/2014/main" id="{033DB19A-6A93-4A6C-BE1D-4CDD887BA6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Google Shape;70;p11">
            <a:extLst xmlns:a="http://schemas.openxmlformats.org/drawingml/2006/main">
              <a:ext uri="{FF2B5EF4-FFF2-40B4-BE49-F238E27FC236}">
                <a16:creationId xmlns:a16="http://schemas.microsoft.com/office/drawing/2014/main" id="{B6451397-781A-46E3-AF1E-6CDAA6452C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2309019" y="-251618"/>
            <a:ext cx="4525963" cy="822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1" name="Google Shape;71;p11">
            <a:extLst xmlns:a="http://schemas.openxmlformats.org/drawingml/2006/main">
              <a:ext uri="{FF2B5EF4-FFF2-40B4-BE49-F238E27FC236}">
                <a16:creationId xmlns:a16="http://schemas.microsoft.com/office/drawing/2014/main" id="{31A4E202-6F4B-4F60-B2B1-756C8F6FED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2" name="Google Shape;72;p11">
            <a:extLst xmlns:a="http://schemas.openxmlformats.org/drawingml/2006/main">
              <a:ext uri="{FF2B5EF4-FFF2-40B4-BE49-F238E27FC236}">
                <a16:creationId xmlns:a16="http://schemas.microsoft.com/office/drawing/2014/main" id="{BF294410-74D8-4258-9F26-0572083B2D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05D55727-93F1-4A48-9441-DD473A688C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2">
            <a:extLst xmlns:a="http://schemas.openxmlformats.org/drawingml/2006/main">
              <a:ext uri="{FF2B5EF4-FFF2-40B4-BE49-F238E27FC236}">
                <a16:creationId xmlns:a16="http://schemas.microsoft.com/office/drawing/2014/main" id="{E0FB6FDC-C6D1-45CA-A397-3FBB3558D8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4732338" y="2171701"/>
            <a:ext cx="5851525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2">
            <a:extLst xmlns:a="http://schemas.openxmlformats.org/drawingml/2006/main">
              <a:ext uri="{FF2B5EF4-FFF2-40B4-BE49-F238E27FC236}">
                <a16:creationId xmlns:a16="http://schemas.microsoft.com/office/drawing/2014/main" id="{3566DA2E-D4B3-403B-82BF-6E457596D1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541338" y="190500"/>
            <a:ext cx="5851525" cy="601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7" name="Google Shape;77;p12">
            <a:extLst xmlns:a="http://schemas.openxmlformats.org/drawingml/2006/main">
              <a:ext uri="{FF2B5EF4-FFF2-40B4-BE49-F238E27FC236}">
                <a16:creationId xmlns:a16="http://schemas.microsoft.com/office/drawing/2014/main" id="{7F2ED0A8-4358-4A61-A6D7-42F882653E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8" name="Google Shape;78;p12">
            <a:extLst xmlns:a="http://schemas.openxmlformats.org/drawingml/2006/main">
              <a:ext uri="{FF2B5EF4-FFF2-40B4-BE49-F238E27FC236}">
                <a16:creationId xmlns:a16="http://schemas.microsoft.com/office/drawing/2014/main" id="{4325E041-5454-427D-B2AC-C1D1AB094C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9" name="Google Shape;79;p12">
            <a:extLst xmlns:a="http://schemas.openxmlformats.org/drawingml/2006/main">
              <a:ext uri="{FF2B5EF4-FFF2-40B4-BE49-F238E27FC236}">
                <a16:creationId xmlns:a16="http://schemas.microsoft.com/office/drawing/2014/main" id="{BEAB1598-5811-4994-AE08-32582DDE11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0e6d18f22e4747" /><Relationship Type="http://schemas.openxmlformats.org/officeDocument/2006/relationships/slideLayout" Target="/ppt/slideLayouts/slideLayout1.xml" Id="R4c8d29d1639241e9" /><Relationship Type="http://schemas.openxmlformats.org/officeDocument/2006/relationships/slideLayout" Target="/ppt/slideLayouts/slideLayout2.xml" Id="R023fa7bdc8ec46df" /><Relationship Type="http://schemas.openxmlformats.org/officeDocument/2006/relationships/slideLayout" Target="/ppt/slideLayouts/slideLayout3.xml" Id="R0946709a8b2d42be" /><Relationship Type="http://schemas.openxmlformats.org/officeDocument/2006/relationships/slideLayout" Target="/ppt/slideLayouts/slideLayout4.xml" Id="R36118a46fbf34fac" /><Relationship Type="http://schemas.openxmlformats.org/officeDocument/2006/relationships/slideLayout" Target="/ppt/slideLayouts/slideLayout5.xml" Id="R94fcd6f18b9c4bfe" /><Relationship Type="http://schemas.openxmlformats.org/officeDocument/2006/relationships/slideLayout" Target="/ppt/slideLayouts/slideLayout6.xml" Id="R2d6c49f68c53407a" /><Relationship Type="http://schemas.openxmlformats.org/officeDocument/2006/relationships/slideLayout" Target="/ppt/slideLayouts/slideLayout7.xml" Id="Rc10c4087b0b4414a" /><Relationship Type="http://schemas.openxmlformats.org/officeDocument/2006/relationships/slideLayout" Target="/ppt/slideLayouts/slideLayout8.xml" Id="R5ccfdcb5c58147a6" /><Relationship Type="http://schemas.openxmlformats.org/officeDocument/2006/relationships/slideLayout" Target="/ppt/slideLayouts/slideLayout9.xml" Id="Rbe7680cd0cb74321" /><Relationship Type="http://schemas.openxmlformats.org/officeDocument/2006/relationships/slideLayout" Target="/ppt/slideLayouts/slideLayout10.xml" Id="R056a416bb3834f8a" /><Relationship Type="http://schemas.openxmlformats.org/officeDocument/2006/relationships/slideLayout" Target="/ppt/slideLayouts/slideLayout11.xml" Id="R401deec24f9049d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5DCBAFE3-21E1-450C-B225-6884C8559F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BEFA10D3-8C05-4245-8723-61EBA93A33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DD872C0F-891C-4BA0-8A07-E54D8595D2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F4EE748E-2455-41B2-8053-69D7D187AA7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10" name="Google Shape;10;p1">
            <a:extLst xmlns:a="http://schemas.openxmlformats.org/drawingml/2006/main">
              <a:ext uri="{FF2B5EF4-FFF2-40B4-BE49-F238E27FC236}">
                <a16:creationId xmlns:a16="http://schemas.microsoft.com/office/drawing/2014/main" id="{A4CDEAA6-318C-4B3F-BCE6-69BEF63D8E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8d29d1639241e9"/>
    <p:sldLayoutId xmlns:r="http://schemas.openxmlformats.org/officeDocument/2006/relationships" id="2147483650" r:id="R023fa7bdc8ec46df"/>
    <p:sldLayoutId xmlns:r="http://schemas.openxmlformats.org/officeDocument/2006/relationships" id="2147483651" r:id="R0946709a8b2d42be"/>
    <p:sldLayoutId xmlns:r="http://schemas.openxmlformats.org/officeDocument/2006/relationships" id="2147483652" r:id="R36118a46fbf34fac"/>
    <p:sldLayoutId xmlns:r="http://schemas.openxmlformats.org/officeDocument/2006/relationships" id="2147483653" r:id="R94fcd6f18b9c4bfe"/>
    <p:sldLayoutId xmlns:r="http://schemas.openxmlformats.org/officeDocument/2006/relationships" id="2147483654" r:id="R2d6c49f68c53407a"/>
    <p:sldLayoutId xmlns:r="http://schemas.openxmlformats.org/officeDocument/2006/relationships" id="2147483655" r:id="Rc10c4087b0b4414a"/>
    <p:sldLayoutId xmlns:r="http://schemas.openxmlformats.org/officeDocument/2006/relationships" id="2147483656" r:id="R5ccfdcb5c58147a6"/>
    <p:sldLayoutId xmlns:r="http://schemas.openxmlformats.org/officeDocument/2006/relationships" id="2147483657" r:id="Rbe7680cd0cb74321"/>
    <p:sldLayoutId xmlns:r="http://schemas.openxmlformats.org/officeDocument/2006/relationships" id="2147483658" r:id="R056a416bb3834f8a"/>
    <p:sldLayoutId xmlns:r="http://schemas.openxmlformats.org/officeDocument/2006/relationships" id="2147483659" r:id="R401deec24f9049de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daee3c5244ed9" /><Relationship Type="http://schemas.openxmlformats.org/officeDocument/2006/relationships/image" Target="/ppt/media/image.png" Id="Rb2158f0768934a75" /><Relationship Type="http://schemas.openxmlformats.org/officeDocument/2006/relationships/notesSlide" Target="/ppt/notesSlides/notesSlide1.xml" Id="R63ed58287ec040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31cd28d194419e" /><Relationship Type="http://schemas.openxmlformats.org/officeDocument/2006/relationships/image" Target="/ppt/media/image.png" Id="R5468a54c889047dd" /><Relationship Type="http://schemas.openxmlformats.org/officeDocument/2006/relationships/notesSlide" Target="/ppt/notesSlides/notesSlide2.xml" Id="Rf42ee86d6f514a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c2be4e8cd043f9" /><Relationship Type="http://schemas.openxmlformats.org/officeDocument/2006/relationships/image" Target="/ppt/media/image.png" Id="R658d66edcde34dc8" /><Relationship Type="http://schemas.openxmlformats.org/officeDocument/2006/relationships/image" Target="/ppt/media/image2.png" Id="R430e30128062412a" /><Relationship Type="http://schemas.openxmlformats.org/officeDocument/2006/relationships/image" Target="/ppt/media/image3.png" Id="R6da47711112645a4" /><Relationship Type="http://schemas.openxmlformats.org/officeDocument/2006/relationships/image" Target="/ppt/media/image4.png" Id="R13b31c0a157443c6" /><Relationship Type="http://schemas.openxmlformats.org/officeDocument/2006/relationships/image" Target="/ppt/media/image5.png" Id="R84b70dac80df4cf1" /><Relationship Type="http://schemas.openxmlformats.org/officeDocument/2006/relationships/image" Target="/ppt/media/image6.png" Id="Re562e0e642394370" /><Relationship Type="http://schemas.openxmlformats.org/officeDocument/2006/relationships/notesSlide" Target="/ppt/notesSlides/notesSlide3.xml" Id="R51d8bc3c0b104f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ffbaf90d294459" /><Relationship Type="http://schemas.openxmlformats.org/officeDocument/2006/relationships/image" Target="/ppt/media/image.png" Id="R25d3464de6bc4e5c" /><Relationship Type="http://schemas.openxmlformats.org/officeDocument/2006/relationships/image" Target="/ppt/media/image7.png" Id="R2b22a84d9daa4cbe" /><Relationship Type="http://schemas.openxmlformats.org/officeDocument/2006/relationships/image" Target="/ppt/media/image8.png" Id="Ra5054b647df44c4c" /><Relationship Type="http://schemas.openxmlformats.org/officeDocument/2006/relationships/image" Target="/ppt/media/image9.png" Id="Rfb0d3706f6eb46ed" /><Relationship Type="http://schemas.openxmlformats.org/officeDocument/2006/relationships/image" Target="/ppt/media/image10.png" Id="R5ae83a888fc04766" /><Relationship Type="http://schemas.openxmlformats.org/officeDocument/2006/relationships/image" Target="/ppt/media/image11.png" Id="R17218dd7f04f40d4" /><Relationship Type="http://schemas.openxmlformats.org/officeDocument/2006/relationships/image" Target="/ppt/media/image12.png" Id="Rae32390195b94859" /><Relationship Type="http://schemas.openxmlformats.org/officeDocument/2006/relationships/notesSlide" Target="/ppt/notesSlides/notesSlide4.xml" Id="Rda96c057688d48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e917b07474386" /><Relationship Type="http://schemas.openxmlformats.org/officeDocument/2006/relationships/image" Target="/ppt/media/image.png" Id="R1dbdf1a2ac154d70" /><Relationship Type="http://schemas.openxmlformats.org/officeDocument/2006/relationships/notesSlide" Target="/ppt/notesSlides/notesSlide5.xml" Id="R0c0870b80dc947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3184eec76e4686" /><Relationship Type="http://schemas.openxmlformats.org/officeDocument/2006/relationships/image" Target="/ppt/media/image.png" Id="R64250a8360504aa7" /><Relationship Type="http://schemas.openxmlformats.org/officeDocument/2006/relationships/image" Target="/ppt/media/image13.png" Id="R9b687a683614483a" /><Relationship Type="http://schemas.openxmlformats.org/officeDocument/2006/relationships/notesSlide" Target="/ppt/notesSlides/notesSlide6.xml" Id="R18aaaadf350846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cf7aafdd4944cb" /><Relationship Type="http://schemas.openxmlformats.org/officeDocument/2006/relationships/image" Target="/ppt/media/image14.png" Id="R4db2ba6822f04423" /><Relationship Type="http://schemas.openxmlformats.org/officeDocument/2006/relationships/image" Target="/ppt/media/image15.png" Id="Redbd66c06aa546ca" /><Relationship Type="http://schemas.openxmlformats.org/officeDocument/2006/relationships/image" Target="/ppt/media/image16.png" Id="Re8b4baa4e821447f" /><Relationship Type="http://schemas.openxmlformats.org/officeDocument/2006/relationships/image" Target="/ppt/media/image17.png" Id="Rc78380d2f2654267" /><Relationship Type="http://schemas.openxmlformats.org/officeDocument/2006/relationships/image" Target="/ppt/media/image18.png" Id="Rb7184eb3bdf74218" /><Relationship Type="http://schemas.openxmlformats.org/officeDocument/2006/relationships/notesSlide" Target="/ppt/notesSlides/notesSlide7.xml" Id="R2fdc0882731a4a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6c892e1944399" /><Relationship Type="http://schemas.openxmlformats.org/officeDocument/2006/relationships/image" Target="/ppt/media/image.png" Id="R9bc627c474f14cd2" /><Relationship Type="http://schemas.openxmlformats.org/officeDocument/2006/relationships/image" Target="/ppt/media/image19.png" Id="Rad33fbdaed154fd6" /><Relationship Type="http://schemas.openxmlformats.org/officeDocument/2006/relationships/notesSlide" Target="/ppt/notesSlides/notesSlide8.xml" Id="Ra24ea05f1dd048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ed85ae2214c71" /><Relationship Type="http://schemas.openxmlformats.org/officeDocument/2006/relationships/image" Target="/ppt/media/image.png" Id="Rd4bb5a7cf5024501" /><Relationship Type="http://schemas.openxmlformats.org/officeDocument/2006/relationships/image" Target="/ppt/media/image20.png" Id="R59ebc130f16c4175" /><Relationship Type="http://schemas.openxmlformats.org/officeDocument/2006/relationships/image" Target="/ppt/media/image21.png" Id="R543777b821aa4a6c" /><Relationship Type="http://schemas.openxmlformats.org/officeDocument/2006/relationships/notesSlide" Target="/ppt/notesSlides/notesSlide9.xml" Id="R430ddf9f0cf940f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a9e90adef4ebd" /><Relationship Type="http://schemas.openxmlformats.org/officeDocument/2006/relationships/image" Target="/ppt/media/image14.png" Id="R53d870ad4af34b70" /><Relationship Type="http://schemas.openxmlformats.org/officeDocument/2006/relationships/image" Target="/ppt/media/image22.png" Id="R52c33bb9da3f4d70" /><Relationship Type="http://schemas.openxmlformats.org/officeDocument/2006/relationships/image" Target="/ppt/media/image23.png" Id="R1966e6aeb7bf4cb3" /><Relationship Type="http://schemas.openxmlformats.org/officeDocument/2006/relationships/notesSlide" Target="/ppt/notesSlides/notesSlide10.xml" Id="Raca5a702b98c457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b36be047694be1" /><Relationship Type="http://schemas.openxmlformats.org/officeDocument/2006/relationships/image" Target="/ppt/media/image.png" Id="Rf972921966b742b0" /><Relationship Type="http://schemas.openxmlformats.org/officeDocument/2006/relationships/image" Target="/ppt/media/image24.png" Id="R63fb1b6801cd4e54" /><Relationship Type="http://schemas.openxmlformats.org/officeDocument/2006/relationships/image" Target="/ppt/media/image25.png" Id="R88aa1b9a4b1241ed" /><Relationship Type="http://schemas.openxmlformats.org/officeDocument/2006/relationships/notesSlide" Target="/ppt/notesSlides/notesSlide11.xml" Id="Rbd22b36c3184449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4c341948494e85" /><Relationship Type="http://schemas.openxmlformats.org/officeDocument/2006/relationships/image" Target="/ppt/media/image.png" Id="R126bec7176264a90" /><Relationship Type="http://schemas.openxmlformats.org/officeDocument/2006/relationships/image" Target="/ppt/media/image2.png" Id="Rc220edb5ad5541a6" /><Relationship Type="http://schemas.openxmlformats.org/officeDocument/2006/relationships/image" Target="/ppt/media/image26.png" Id="Rd73d45d61c714087" /><Relationship Type="http://schemas.openxmlformats.org/officeDocument/2006/relationships/image" Target="/ppt/media/image27.png" Id="R433d2a0703344cd9" /><Relationship Type="http://schemas.openxmlformats.org/officeDocument/2006/relationships/notesSlide" Target="/ppt/notesSlides/notesSlide12.xml" Id="R211009e6e60248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acaba329ba4808" /><Relationship Type="http://schemas.openxmlformats.org/officeDocument/2006/relationships/image" Target="/ppt/media/image.png" Id="Ra9eabcddf203433c" /><Relationship Type="http://schemas.openxmlformats.org/officeDocument/2006/relationships/notesSlide" Target="/ppt/notesSlides/notesSlide13.xml" Id="R3012f749e976477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0754b5b1ff47c1" /><Relationship Type="http://schemas.openxmlformats.org/officeDocument/2006/relationships/image" Target="/ppt/media/image.png" Id="Rb7f20dd372c6469d" /><Relationship Type="http://schemas.openxmlformats.org/officeDocument/2006/relationships/image" Target="/ppt/media/image28.png" Id="R7f9ce65f285e4221" /><Relationship Type="http://schemas.openxmlformats.org/officeDocument/2006/relationships/image" Target="/ppt/media/image29.png" Id="R2d8b7486c81f4d03" /><Relationship Type="http://schemas.openxmlformats.org/officeDocument/2006/relationships/notesSlide" Target="/ppt/notesSlides/notesSlide14.xml" Id="R1861cc47aabb469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6784403b54493b" /><Relationship Type="http://schemas.openxmlformats.org/officeDocument/2006/relationships/image" Target="/ppt/media/image30.png" Id="R61b29e1b2cb24541" /><Relationship Type="http://schemas.openxmlformats.org/officeDocument/2006/relationships/image" Target="/ppt/media/image29.png" Id="R11f214fc67634d94" /><Relationship Type="http://schemas.openxmlformats.org/officeDocument/2006/relationships/notesSlide" Target="/ppt/notesSlides/notesSlide15.xml" Id="R1ef8e1f9488d47c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9a1e94bc54656" /><Relationship Type="http://schemas.openxmlformats.org/officeDocument/2006/relationships/image" Target="/ppt/media/image29.png" Id="R31e05aeda21d47ac" /><Relationship Type="http://schemas.openxmlformats.org/officeDocument/2006/relationships/image" Target="/ppt/media/image31.png" Id="R605570cb62394900" /><Relationship Type="http://schemas.openxmlformats.org/officeDocument/2006/relationships/notesSlide" Target="/ppt/notesSlides/notesSlide16.xml" Id="R1b52656dfbcf468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6c06bbcfc44af" /><Relationship Type="http://schemas.openxmlformats.org/officeDocument/2006/relationships/notesSlide" Target="/ppt/notesSlides/notesSlide17.xml" Id="Rfc183f88e634478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c4b4065294905" /><Relationship Type="http://schemas.openxmlformats.org/officeDocument/2006/relationships/image" Target="/ppt/media/image.png" Id="R4ea9eb275a934048" /><Relationship Type="http://schemas.openxmlformats.org/officeDocument/2006/relationships/image" Target="/ppt/media/image29.png" Id="Rdc861fe0eb764858" /><Relationship Type="http://schemas.openxmlformats.org/officeDocument/2006/relationships/image" Target="/ppt/media/image32.png" Id="R07ff25f021ac4a6a" /><Relationship Type="http://schemas.openxmlformats.org/officeDocument/2006/relationships/notesSlide" Target="/ppt/notesSlides/notesSlide18.xml" Id="Rd543b36546384b2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065c845a084fe3" /><Relationship Type="http://schemas.openxmlformats.org/officeDocument/2006/relationships/image" Target="/ppt/media/image.png" Id="R44cfe7fdc28f4908" /><Relationship Type="http://schemas.openxmlformats.org/officeDocument/2006/relationships/image" Target="/ppt/media/image29.png" Id="Rcd8691fa42bd4eaa" /><Relationship Type="http://schemas.openxmlformats.org/officeDocument/2006/relationships/image" Target="/ppt/media/image33.png" Id="R09e713ab8a1c4fb2" /><Relationship Type="http://schemas.openxmlformats.org/officeDocument/2006/relationships/notesSlide" Target="/ppt/notesSlides/notesSlide19.xml" Id="Rea1fe2e4c6734bb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dbeee5fb1d4cbc" /><Relationship Type="http://schemas.openxmlformats.org/officeDocument/2006/relationships/image" Target="/ppt/media/image.png" Id="R8aef4a5954164f07" /><Relationship Type="http://schemas.openxmlformats.org/officeDocument/2006/relationships/image" Target="/ppt/media/image29.png" Id="R8f6655d649714aea" /><Relationship Type="http://schemas.openxmlformats.org/officeDocument/2006/relationships/image" Target="/ppt/media/image34.png" Id="Ra8ec5c6cb0f548f3" /><Relationship Type="http://schemas.openxmlformats.org/officeDocument/2006/relationships/notesSlide" Target="/ppt/notesSlides/notesSlide20.xml" Id="R7ca24a4efbef46b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419e5720146ce" /><Relationship Type="http://schemas.openxmlformats.org/officeDocument/2006/relationships/notesSlide" Target="/ppt/notesSlides/notesSlide21.xml" Id="R56562ae0f9de469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8a6d3f45240fb" /><Relationship Type="http://schemas.openxmlformats.org/officeDocument/2006/relationships/notesSlide" Target="/ppt/notesSlides/notesSlide22.xml" Id="R61f248f07fc1417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b231de9c64591" /><Relationship Type="http://schemas.openxmlformats.org/officeDocument/2006/relationships/notesSlide" Target="/ppt/notesSlides/notesSlide23.xml" Id="Rd1f68a15a1bd42e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fdd1a6e22b4677" /><Relationship Type="http://schemas.openxmlformats.org/officeDocument/2006/relationships/notesSlide" Target="/ppt/notesSlides/notesSlide24.xml" Id="R3e1e3473aa104ac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e4cab92f474122" /><Relationship Type="http://schemas.openxmlformats.org/officeDocument/2006/relationships/image" Target="/ppt/media/image.png" Id="R8a13ed17ffa04990" /><Relationship Type="http://schemas.openxmlformats.org/officeDocument/2006/relationships/notesSlide" Target="/ppt/notesSlides/notesSlide25.xml" Id="R4bfe600412b2428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dfa07957c4099" /><Relationship Type="http://schemas.openxmlformats.org/officeDocument/2006/relationships/image" Target="/ppt/media/image.png" Id="Rca6e3eb5886a48f1" /><Relationship Type="http://schemas.openxmlformats.org/officeDocument/2006/relationships/hyperlink" Target="https://www.theweathernetwork.com/en/news/weather/severe/how-the-30-30-30-rule-is-essential-for-wildfire-safety" TargetMode="External" Id="R6f7fa9940ee545b9" /><Relationship Type="http://schemas.openxmlformats.org/officeDocument/2006/relationships/hyperlink" Target="https://www.theweathernetwork.com/en/news/weather/severe/how-the-30-30-30-rule-is-essential-for-wildfire-safety" TargetMode="External" Id="R510aef5d80de4447" /><Relationship Type="http://schemas.openxmlformats.org/officeDocument/2006/relationships/hyperlink" Target="https://www.weather.gov/safety/wildfire-ww" TargetMode="External" Id="R7231d723cc384534" /><Relationship Type="http://schemas.openxmlformats.org/officeDocument/2006/relationships/hyperlink" Target="https://www.weather.gov/fire/" TargetMode="External" Id="Rf5a037fed0e64f61" /><Relationship Type="http://schemas.openxmlformats.org/officeDocument/2006/relationships/hyperlink" Target="https://firms.modaps.eosdis.nasa.gov/" TargetMode="External" Id="Rc40b052cbe52490b" /><Relationship Type="http://schemas.openxmlformats.org/officeDocument/2006/relationships/hyperlink" Target="https://archive.ics.uci.edu/dataset/162/forest+fires" TargetMode="External" Id="Rc2bf7064ed6d4101" /><Relationship Type="http://schemas.openxmlformats.org/officeDocument/2006/relationships/hyperlink" Target="https://www.kaggle.com/datasets/pankrzysiu/weather-archive-jena" TargetMode="External" Id="Rbcc41795f8c044cd" /><Relationship Type="http://schemas.openxmlformats.org/officeDocument/2006/relationships/hyperlink" Target="https://www.w3schools.com/python/" TargetMode="External" Id="Recbc8cf12d7f416b" /><Relationship Type="http://schemas.openxmlformats.org/officeDocument/2006/relationships/notesSlide" Target="/ppt/notesSlides/notesSlide26.xml" Id="R52bf835a1363425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c5b57098a4a8e" /><Relationship Type="http://schemas.openxmlformats.org/officeDocument/2006/relationships/image" Target="/ppt/media/image35.png" Id="R510997d2b952467e" /><Relationship Type="http://schemas.openxmlformats.org/officeDocument/2006/relationships/image" Target="/ppt/media/image36.png" Id="R7c655255e17d4a46" /><Relationship Type="http://schemas.openxmlformats.org/officeDocument/2006/relationships/image" Target="/ppt/media/image37.png" Id="Rff37683d97884ea9" /><Relationship Type="http://schemas.openxmlformats.org/officeDocument/2006/relationships/image" Target="/ppt/media/image38.png" Id="Ra8cac8dc4cef4f17" /><Relationship Type="http://schemas.openxmlformats.org/officeDocument/2006/relationships/image" Target="/ppt/media/image39.png" Id="Rcddc9edce1ca4d89" /><Relationship Type="http://schemas.openxmlformats.org/officeDocument/2006/relationships/image" Target="/ppt/media/image40.png" Id="Ra4ea2d247d084804" /><Relationship Type="http://schemas.openxmlformats.org/officeDocument/2006/relationships/image" Target="/ppt/media/image41.png" Id="Rd7d5c5ad08ad4f61" /><Relationship Type="http://schemas.openxmlformats.org/officeDocument/2006/relationships/image" Target="/ppt/media/image42.png" Id="Rdd1844092af5405d" /><Relationship Type="http://schemas.openxmlformats.org/officeDocument/2006/relationships/image" Target="/ppt/media/image43.png" Id="R7247be3592c8409f" /><Relationship Type="http://schemas.openxmlformats.org/officeDocument/2006/relationships/image" Target="/ppt/media/image44.png" Id="R8f92c3c59f7044f6" /><Relationship Type="http://schemas.openxmlformats.org/officeDocument/2006/relationships/image" Target="/ppt/media/image45.png" Id="R92323c5212034e0c" /><Relationship Type="http://schemas.openxmlformats.org/officeDocument/2006/relationships/image" Target="/ppt/media/image46.png" Id="Rdf8215c4570440c3" /><Relationship Type="http://schemas.openxmlformats.org/officeDocument/2006/relationships/image" Target="/ppt/media/image47.png" Id="Rcb423dc2c1af4f29" /><Relationship Type="http://schemas.openxmlformats.org/officeDocument/2006/relationships/image" Target="/ppt/media/image48.png" Id="Rfbbb9b22e8624d5d" /><Relationship Type="http://schemas.openxmlformats.org/officeDocument/2006/relationships/image" Target="/ppt/media/image49.png" Id="R95561ffa9bf743e9" /><Relationship Type="http://schemas.openxmlformats.org/officeDocument/2006/relationships/image" Target="/ppt/media/image50.png" Id="Rdee4d3d987c84a28" /><Relationship Type="http://schemas.openxmlformats.org/officeDocument/2006/relationships/image" Target="/ppt/media/image51.png" Id="Rc1ee1b60a751421c" /><Relationship Type="http://schemas.openxmlformats.org/officeDocument/2006/relationships/image" Target="/ppt/media/image52.png" Id="R6d78ec46c2f34a74" /><Relationship Type="http://schemas.openxmlformats.org/officeDocument/2006/relationships/notesSlide" Target="/ppt/notesSlides/notesSlide27.xml" Id="R3348e8282df0422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0" name="Google Shape;84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2158f0768934a7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5" name="Google Shape;85;p13">
            <a:extLst xmlns:a="http://schemas.openxmlformats.org/drawingml/2006/main">
              <a:ext uri="{FF2B5EF4-FFF2-40B4-BE49-F238E27FC236}">
                <a16:creationId xmlns:a16="http://schemas.microsoft.com/office/drawing/2014/main" id="{6491E410-2057-4E43-8B6F-9EAACC8D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851719"/>
            <a:ext cx="8001000" cy="13409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 u="none" cap="none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FIRE WEATHER </a:t>
            </a:r>
            <a:br/>
            <a:r>
              <a:rPr sz="4800" b="1" i="0" u="none" cap="none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 MONITORING PROJECT</a:t>
            </a:r>
          </a:p>
        </p:txBody>
      </p:sp>
      <p:sp>
        <p:nvSpPr>
          <p:cNvPr id="86" name="Google Shape;86;p13">
            <a:extLst xmlns:a="http://schemas.openxmlformats.org/drawingml/2006/main">
              <a:ext uri="{FF2B5EF4-FFF2-40B4-BE49-F238E27FC236}">
                <a16:creationId xmlns:a16="http://schemas.microsoft.com/office/drawing/2014/main" id="{4F72218B-5948-4647-8241-FBD4DBB0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21260"/>
            <a:ext cx="7620000" cy="4387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>
                <a:solidFill>
                  <a:srgbClr val="F59E0B"/>
                </a:solidFill>
                <a:latin typeface="Manrope SemiBold"/>
                <a:ea typeface="Manrope SemiBold"/>
                <a:cs typeface="Manrope SemiBold"/>
              </a:rPr>
              <a:t>ByteSmart Internship | Research, IoT Pipeline, Dashboard &amp; ML Portfolio</a:t>
            </a:r>
          </a:p>
        </p:txBody>
      </p:sp>
      <p:sp>
        <p:nvSpPr>
          <p:cNvPr id="87" name="Google Shape;87;p13">
            <a:extLst xmlns:a="http://schemas.openxmlformats.org/drawingml/2006/main">
              <a:ext uri="{FF2B5EF4-FFF2-40B4-BE49-F238E27FC236}">
                <a16:creationId xmlns:a16="http://schemas.microsoft.com/office/drawing/2014/main" id="{D51C02DF-8311-4654-AFB7-698F5B54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72681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8A1896C9-FBCE-4859-BFDB-85A0DB64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96531"/>
            <a:ext cx="762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From Jena climate research to a live MQTT, PostgreSQL, dashboard, and ML demonstration.</a:t>
            </a:r>
          </a:p>
        </p:txBody>
      </p:sp>
    </p:spTree>
    <p:extLst>
      <p:ext uri="{BB962C8B-B14F-4D97-AF65-F5344CB8AC3E}">
        <p14:creationId xmlns:p14="http://schemas.microsoft.com/office/powerpoint/2010/main" val="8952982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8" name="Google Shape;93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68a54c889047d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4">
            <a:extLst xmlns:a="http://schemas.openxmlformats.org/drawingml/2006/main">
              <a:ext uri="{FF2B5EF4-FFF2-40B4-BE49-F238E27FC236}">
                <a16:creationId xmlns:a16="http://schemas.microsoft.com/office/drawing/2014/main" id="{0F244284-F4E9-47A7-AFD1-298C9BE4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5593" y="2190750"/>
            <a:ext cx="6500812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4500" b="1" i="0" u="none" cap="none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RESEARCH </a:t>
            </a:r>
            <a:br/>
            <a:r>
              <a:rPr sz="4500" b="1" i="0" u="none" cap="none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FRAMEWORK</a:t>
            </a:r>
          </a:p>
        </p:txBody>
      </p:sp>
      <p:sp>
        <p:nvSpPr>
          <p:cNvPr id="95" name="Google Shape;95;p14">
            <a:extLst xmlns:a="http://schemas.openxmlformats.org/drawingml/2006/main">
              <a:ext uri="{FF2B5EF4-FFF2-40B4-BE49-F238E27FC236}">
                <a16:creationId xmlns:a16="http://schemas.microsoft.com/office/drawing/2014/main" id="{618217C6-0F5D-458D-A669-26F94B666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481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6" name="Google Shape;96;p14">
            <a:extLst xmlns:a="http://schemas.openxmlformats.org/drawingml/2006/main">
              <a:ext uri="{FF2B5EF4-FFF2-40B4-BE49-F238E27FC236}">
                <a16:creationId xmlns:a16="http://schemas.microsoft.com/office/drawing/2014/main" id="{67C7AF01-D1DE-48E5-B723-D1A3C1B2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171950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Refining the analytical lens to focus on actionable fire danger metrics.</a:t>
            </a:r>
          </a:p>
        </p:txBody>
      </p:sp>
    </p:spTree>
    <p:extLst>
      <p:ext uri="{BB962C8B-B14F-4D97-AF65-F5344CB8AC3E}">
        <p14:creationId xmlns:p14="http://schemas.microsoft.com/office/powerpoint/2010/main" val="14974177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0" name="Google Shape;101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8d66edcde34dc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1" name="Google Shape;102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0e30128062412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1750" y="2028825"/>
            <a:ext cx="5229225" cy="3619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3" name="Google Shape;103;p15">
            <a:extLst xmlns:a="http://schemas.openxmlformats.org/drawingml/2006/main">
              <a:ext uri="{FF2B5EF4-FFF2-40B4-BE49-F238E27FC236}">
                <a16:creationId xmlns:a16="http://schemas.microsoft.com/office/drawing/2014/main" id="{9F708C2D-9A4C-46E3-AA72-0175A6A7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028825"/>
            <a:ext cx="5490686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4" b="1" i="0" u="none" cap="none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DATASET PROFILE</a:t>
            </a:r>
          </a:p>
        </p:txBody>
      </p:sp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9895A224-4B7B-455D-8E44-1BECE1FE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191000"/>
            <a:ext cx="52292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The dataset includes full summer cycles, providing critical data for tracking extreme heat events and prolonged dry spells necessary for fire weather modeling.</a:t>
            </a:r>
          </a:p>
        </p:txBody>
      </p:sp>
      <p:pic>
        <p:nvPicPr>
          <p:cNvPr id="124" name="Google Shape;105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a47711112645a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91275" y="2038350"/>
            <a:ext cx="5210175" cy="3600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3F5C05B8-9C0E-4C7D-A0D8-B2F117AB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400300"/>
            <a:ext cx="5229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6670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Temporal Scope:</a:t>
            </a: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 2009 — 2016 (8 Full Years)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03C76EE9-2704-450C-8F41-88ECA978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895600"/>
            <a:ext cx="5229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Granularity:</a:t>
            </a: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 Original 10-minute intervals</a:t>
            </a:r>
          </a:p>
        </p:txBody>
      </p:sp>
      <p:sp>
        <p:nvSpPr>
          <p:cNvPr id="108" name="Google Shape;108;p15">
            <a:extLst xmlns:a="http://schemas.openxmlformats.org/drawingml/2006/main">
              <a:ext uri="{FF2B5EF4-FFF2-40B4-BE49-F238E27FC236}">
                <a16:creationId xmlns:a16="http://schemas.microsoft.com/office/drawing/2014/main" id="{92276504-5FB4-461A-B5FC-E687AD50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390900"/>
            <a:ext cx="52292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Core Metrics:</a:t>
            </a: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 Temperature (°C), Humidity (%), Pressure (mbar)</a:t>
            </a:r>
          </a:p>
        </p:txBody>
      </p:sp>
      <p:pic>
        <p:nvPicPr>
          <p:cNvPr id="128" name="Google Shape;109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b31c0a157443c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1025" y="2452687"/>
            <a:ext cx="171450" cy="2000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9" name="Google Shape;110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b70dac80df4cf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1025" y="2947987"/>
            <a:ext cx="190500" cy="2000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0" name="Google Shape;111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62e0e64239437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1025" y="3443287"/>
            <a:ext cx="190500" cy="2000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2" name="Google Shape;112;p15">
            <a:extLst xmlns:a="http://schemas.openxmlformats.org/drawingml/2006/main">
              <a:ext uri="{FF2B5EF4-FFF2-40B4-BE49-F238E27FC236}">
                <a16:creationId xmlns:a16="http://schemas.microsoft.com/office/drawing/2014/main" id="{ED4BA19D-E451-4EFE-BD7A-2F18D0C1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81025"/>
            <a:ext cx="1138142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50" b="0" i="0" u="none" cap="non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PRIMARY DATA SOURCE: JENA CLIMATE</a:t>
            </a:r>
          </a:p>
        </p:txBody>
      </p:sp>
      <p:sp>
        <p:nvSpPr>
          <p:cNvPr id="113" name="Google Shape;113;p15">
            <a:extLst xmlns:a="http://schemas.openxmlformats.org/drawingml/2006/main">
              <a:ext uri="{FF2B5EF4-FFF2-40B4-BE49-F238E27FC236}">
                <a16:creationId xmlns:a16="http://schemas.microsoft.com/office/drawing/2014/main" id="{52B4A510-24FC-4DCC-B628-A6513CFA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47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857918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0" name="Google Shape;118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d3464de6bc4e5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1" name="Google Shape;119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22a84d9daa4cb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1025" y="2176462"/>
            <a:ext cx="3549550" cy="3324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2" name="Google Shape;120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5054b647df44c4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321075" y="2176462"/>
            <a:ext cx="3549699" cy="3324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3" name="Google Shape;121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b0d3706f6eb46e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61275" y="2176462"/>
            <a:ext cx="3549550" cy="3324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4" name="Google Shape;122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e83a888fc0476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76300" y="2471737"/>
            <a:ext cx="428625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3" name="Google Shape;123;p16">
            <a:extLst xmlns:a="http://schemas.openxmlformats.org/drawingml/2006/main">
              <a:ext uri="{FF2B5EF4-FFF2-40B4-BE49-F238E27FC236}">
                <a16:creationId xmlns:a16="http://schemas.microsoft.com/office/drawing/2014/main" id="{60A2EA2D-C850-49FD-B31E-40230BA9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43237"/>
            <a:ext cx="310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 cap="none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Temporal Resampling</a:t>
            </a:r>
          </a:p>
        </p:txBody>
      </p:sp>
      <p:sp>
        <p:nvSpPr>
          <p:cNvPr id="124" name="Google Shape;124;p16">
            <a:extLst xmlns:a="http://schemas.openxmlformats.org/drawingml/2006/main">
              <a:ext uri="{FF2B5EF4-FFF2-40B4-BE49-F238E27FC236}">
                <a16:creationId xmlns:a16="http://schemas.microsoft.com/office/drawing/2014/main" id="{4AC71D90-9A73-4E3A-BA90-FB5812CA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90912"/>
            <a:ext cx="2959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Resampled 10-minute sensor bursts into hourly medians to smooth signal noise while preserving long-term seasonal macro-trends.</a:t>
            </a:r>
          </a:p>
        </p:txBody>
      </p:sp>
      <p:pic>
        <p:nvPicPr>
          <p:cNvPr id="147" name="Google Shape;125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218dd7f04f40d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616350" y="2471737"/>
            <a:ext cx="381000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16">
            <a:extLst xmlns:a="http://schemas.openxmlformats.org/drawingml/2006/main">
              <a:ext uri="{FF2B5EF4-FFF2-40B4-BE49-F238E27FC236}">
                <a16:creationId xmlns:a16="http://schemas.microsoft.com/office/drawing/2014/main" id="{8026CDFA-9219-47CB-AAEC-3FF4EAE4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350" y="3043237"/>
            <a:ext cx="3107107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 cap="none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Statistical Cleaning</a:t>
            </a:r>
          </a:p>
        </p:txBody>
      </p:sp>
      <p:sp>
        <p:nvSpPr>
          <p:cNvPr id="127" name="Google Shape;127;p16">
            <a:extLst xmlns:a="http://schemas.openxmlformats.org/drawingml/2006/main">
              <a:ext uri="{FF2B5EF4-FFF2-40B4-BE49-F238E27FC236}">
                <a16:creationId xmlns:a16="http://schemas.microsoft.com/office/drawing/2014/main" id="{03CF98C1-C23C-48B3-A6CE-B68624AB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350" y="3490912"/>
            <a:ext cx="295914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Applied 1.5 x IQR filtering after hourly resampling: keep temperature and pressure values within Q1 - 1.5*IQR and Q3 + 1.5*IQR. RH stays bounded at 0-100%.</a:t>
            </a:r>
          </a:p>
        </p:txBody>
      </p:sp>
      <p:pic>
        <p:nvPicPr>
          <p:cNvPr id="150" name="Google Shape;128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32390195b9485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356550" y="2471737"/>
            <a:ext cx="476250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9" name="Google Shape;129;p16">
            <a:extLst xmlns:a="http://schemas.openxmlformats.org/drawingml/2006/main">
              <a:ext uri="{FF2B5EF4-FFF2-40B4-BE49-F238E27FC236}">
                <a16:creationId xmlns:a16="http://schemas.microsoft.com/office/drawing/2014/main" id="{4D283EB1-92B1-4EA8-9AF4-9DFF46799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6550" y="3043237"/>
            <a:ext cx="310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 cap="none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Reproducible Python</a:t>
            </a:r>
          </a:p>
        </p:txBody>
      </p:sp>
      <p:sp>
        <p:nvSpPr>
          <p:cNvPr id="130" name="Google Shape;130;p16">
            <a:extLst xmlns:a="http://schemas.openxmlformats.org/drawingml/2006/main">
              <a:ext uri="{FF2B5EF4-FFF2-40B4-BE49-F238E27FC236}">
                <a16:creationId xmlns:a16="http://schemas.microsoft.com/office/drawing/2014/main" id="{A5360FDC-E5F0-4307-BDC8-5A05E03B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6550" y="3490912"/>
            <a:ext cx="2959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Converted notebook experiments into repeatable Python training, saved model bundles, and a standalone Flask inference service.</a:t>
            </a:r>
          </a:p>
        </p:txBody>
      </p:sp>
      <p:sp>
        <p:nvSpPr>
          <p:cNvPr id="131" name="Google Shape;131;p16">
            <a:extLst xmlns:a="http://schemas.openxmlformats.org/drawingml/2006/main">
              <a:ext uri="{FF2B5EF4-FFF2-40B4-BE49-F238E27FC236}">
                <a16:creationId xmlns:a16="http://schemas.microsoft.com/office/drawing/2014/main" id="{10143522-3708-42D7-A2CE-12258AF5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81025"/>
            <a:ext cx="1138142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50" b="0" i="0" u="none" cap="non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THE ENGINEERING PIPELINE</a:t>
            </a:r>
          </a:p>
        </p:txBody>
      </p:sp>
      <p:sp>
        <p:nvSpPr>
          <p:cNvPr id="132" name="Google Shape;132;p16">
            <a:extLst xmlns:a="http://schemas.openxmlformats.org/drawingml/2006/main">
              <a:ext uri="{FF2B5EF4-FFF2-40B4-BE49-F238E27FC236}">
                <a16:creationId xmlns:a16="http://schemas.microsoft.com/office/drawing/2014/main" id="{D967E982-AC64-4521-82BC-4C22FFE1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47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28319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3" name="Google Shape;137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bdf1a2ac154d7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8" name="Google Shape;138;p17">
            <a:extLst xmlns:a="http://schemas.openxmlformats.org/drawingml/2006/main">
              <a:ext uri="{FF2B5EF4-FFF2-40B4-BE49-F238E27FC236}">
                <a16:creationId xmlns:a16="http://schemas.microsoft.com/office/drawing/2014/main" id="{D600AD59-4946-41A1-B8F7-070DEF634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190750"/>
            <a:ext cx="52292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 b="1" i="0" u="none" cap="none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420k+</a:t>
            </a:r>
          </a:p>
        </p:txBody>
      </p:sp>
      <p:sp>
        <p:nvSpPr>
          <p:cNvPr id="139" name="Google Shape;139;p17">
            <a:extLst xmlns:a="http://schemas.openxmlformats.org/drawingml/2006/main">
              <a:ext uri="{FF2B5EF4-FFF2-40B4-BE49-F238E27FC236}">
                <a16:creationId xmlns:a16="http://schemas.microsoft.com/office/drawing/2014/main" id="{11DAD5E0-22D4-41F1-BD82-900FCBDD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333750"/>
            <a:ext cx="52292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>
                <a:solidFill>
                  <a:srgbClr val="94A3B8"/>
                </a:solidFill>
                <a:latin typeface="Manrope SemiBold"/>
                <a:ea typeface="Manrope SemiBold"/>
                <a:cs typeface="Manrope SemiBold"/>
              </a:rPr>
              <a:t>Raw Observations Analyzed</a:t>
            </a:r>
          </a:p>
        </p:txBody>
      </p:sp>
      <p:sp>
        <p:nvSpPr>
          <p:cNvPr id="140" name="Google Shape;140;p17">
            <a:extLst xmlns:a="http://schemas.openxmlformats.org/drawingml/2006/main">
              <a:ext uri="{FF2B5EF4-FFF2-40B4-BE49-F238E27FC236}">
                <a16:creationId xmlns:a16="http://schemas.microsoft.com/office/drawing/2014/main" id="{BC4FEC13-2800-4375-A8CC-2B8486FC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95537"/>
            <a:ext cx="5490686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4" b="1" i="0" u="none" cap="none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ADVANCED FILTERING LOGIC</a:t>
            </a:r>
          </a:p>
        </p:txBody>
      </p:sp>
      <p:sp>
        <p:nvSpPr>
          <p:cNvPr id="141" name="Google Shape;141;p17">
            <a:extLst xmlns:a="http://schemas.openxmlformats.org/drawingml/2006/main">
              <a:ext uri="{FF2B5EF4-FFF2-40B4-BE49-F238E27FC236}">
                <a16:creationId xmlns:a16="http://schemas.microsoft.com/office/drawing/2014/main" id="{9E4C74CF-1F4F-4F98-AF69-712F7666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5112"/>
            <a:ext cx="52292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By leveraging the entire 2009-2016 timeline rather than small slices, the project achieves a comprehensive understanding of standard baselines versus outlier danger events.</a:t>
            </a:r>
          </a:p>
        </p:txBody>
      </p:sp>
      <p:sp>
        <p:nvSpPr>
          <p:cNvPr id="142" name="Google Shape;142;p17">
            <a:extLst xmlns:a="http://schemas.openxmlformats.org/drawingml/2006/main">
              <a:ext uri="{FF2B5EF4-FFF2-40B4-BE49-F238E27FC236}">
                <a16:creationId xmlns:a16="http://schemas.microsoft.com/office/drawing/2014/main" id="{8866CC80-CE25-4D4F-89C1-02AADC23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029075"/>
            <a:ext cx="52292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 b="1" i="0" u="none" cap="none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70k+</a:t>
            </a:r>
          </a:p>
        </p:txBody>
      </p:sp>
      <p:sp>
        <p:nvSpPr>
          <p:cNvPr id="143" name="Google Shape;143;p17">
            <a:extLst xmlns:a="http://schemas.openxmlformats.org/drawingml/2006/main">
              <a:ext uri="{FF2B5EF4-FFF2-40B4-BE49-F238E27FC236}">
                <a16:creationId xmlns:a16="http://schemas.microsoft.com/office/drawing/2014/main" id="{DFCEE090-FEBE-40E6-B87B-AC167686B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72075"/>
            <a:ext cx="52292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>
                <a:solidFill>
                  <a:srgbClr val="94A3B8"/>
                </a:solidFill>
                <a:latin typeface="Manrope SemiBold"/>
                <a:ea typeface="Manrope SemiBold"/>
                <a:cs typeface="Manrope SemiBold"/>
              </a:rPr>
              <a:t>Cleaned Hourly Data Points</a:t>
            </a:r>
          </a:p>
        </p:txBody>
      </p:sp>
      <p:sp>
        <p:nvSpPr>
          <p:cNvPr id="144" name="Google Shape;144;p17">
            <a:extLst xmlns:a="http://schemas.openxmlformats.org/drawingml/2006/main">
              <a:ext uri="{FF2B5EF4-FFF2-40B4-BE49-F238E27FC236}">
                <a16:creationId xmlns:a16="http://schemas.microsoft.com/office/drawing/2014/main" id="{00D9190E-E7D6-4F2A-9246-C1440DCD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214812"/>
            <a:ext cx="1238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•</a:t>
            </a:r>
          </a:p>
        </p:txBody>
      </p:sp>
      <p:sp>
        <p:nvSpPr>
          <p:cNvPr id="145" name="Google Shape;145;p17">
            <a:extLst xmlns:a="http://schemas.openxmlformats.org/drawingml/2006/main">
              <a:ext uri="{FF2B5EF4-FFF2-40B4-BE49-F238E27FC236}">
                <a16:creationId xmlns:a16="http://schemas.microsoft.com/office/drawing/2014/main" id="{87DE5EC4-2EF9-4E71-8D45-7297B517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14812"/>
            <a:ext cx="4848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3825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IQR-filtered temperature and pressure anomalies</a:t>
            </a:r>
          </a:p>
        </p:txBody>
      </p:sp>
      <p:sp>
        <p:nvSpPr>
          <p:cNvPr id="146" name="Google Shape;146;p17">
            <a:extLst xmlns:a="http://schemas.openxmlformats.org/drawingml/2006/main">
              <a:ext uri="{FF2B5EF4-FFF2-40B4-BE49-F238E27FC236}">
                <a16:creationId xmlns:a16="http://schemas.microsoft.com/office/drawing/2014/main" id="{7015D570-CF31-4550-B552-1117335D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519612"/>
            <a:ext cx="1238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•</a:t>
            </a:r>
          </a:p>
        </p:txBody>
      </p:sp>
      <p:sp>
        <p:nvSpPr>
          <p:cNvPr id="147" name="Google Shape;147;p17">
            <a:extLst xmlns:a="http://schemas.openxmlformats.org/drawingml/2006/main">
              <a:ext uri="{FF2B5EF4-FFF2-40B4-BE49-F238E27FC236}">
                <a16:creationId xmlns:a16="http://schemas.microsoft.com/office/drawing/2014/main" id="{017AF01A-5882-4FD7-8F2F-2816F556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19612"/>
            <a:ext cx="4848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3825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Verified full seasonal coverage (Summer/Winter)</a:t>
            </a:r>
          </a:p>
        </p:txBody>
      </p:sp>
      <p:sp>
        <p:nvSpPr>
          <p:cNvPr id="148" name="Google Shape;148;p17">
            <a:extLst xmlns:a="http://schemas.openxmlformats.org/drawingml/2006/main">
              <a:ext uri="{FF2B5EF4-FFF2-40B4-BE49-F238E27FC236}">
                <a16:creationId xmlns:a16="http://schemas.microsoft.com/office/drawing/2014/main" id="{65E7C7E0-8108-48BB-83D4-3FD04C26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824412"/>
            <a:ext cx="1238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•</a:t>
            </a:r>
          </a:p>
        </p:txBody>
      </p:sp>
      <p:sp>
        <p:nvSpPr>
          <p:cNvPr id="149" name="Google Shape;149;p17">
            <a:extLst xmlns:a="http://schemas.openxmlformats.org/drawingml/2006/main">
              <a:ext uri="{FF2B5EF4-FFF2-40B4-BE49-F238E27FC236}">
                <a16:creationId xmlns:a16="http://schemas.microsoft.com/office/drawing/2014/main" id="{DE200D3A-65CA-4A8E-ACDC-30C94CE8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24412"/>
            <a:ext cx="4848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3825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Standardized measurement units for accuracy</a:t>
            </a:r>
          </a:p>
        </p:txBody>
      </p:sp>
      <p:sp>
        <p:nvSpPr>
          <p:cNvPr id="150" name="Google Shape;150;p17">
            <a:extLst xmlns:a="http://schemas.openxmlformats.org/drawingml/2006/main">
              <a:ext uri="{FF2B5EF4-FFF2-40B4-BE49-F238E27FC236}">
                <a16:creationId xmlns:a16="http://schemas.microsoft.com/office/drawing/2014/main" id="{A1E8DBFD-9264-45AC-B9D9-A0ECCA0E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81025"/>
            <a:ext cx="1138142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50" b="0" i="0" u="none" cap="non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DATA QUALITY &amp; VOLUME</a:t>
            </a:r>
          </a:p>
        </p:txBody>
      </p:sp>
      <p:sp>
        <p:nvSpPr>
          <p:cNvPr id="151" name="Google Shape;151;p17">
            <a:extLst xmlns:a="http://schemas.openxmlformats.org/drawingml/2006/main">
              <a:ext uri="{FF2B5EF4-FFF2-40B4-BE49-F238E27FC236}">
                <a16:creationId xmlns:a16="http://schemas.microsoft.com/office/drawing/2014/main" id="{9A9CE2C1-FADF-412D-B431-AB45BCD9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47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435505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8" name="Google Shape;15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4250a8360504aa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9" name="Google Shape;157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687a683614483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1025" y="1905000"/>
            <a:ext cx="5419725" cy="18383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0" name="Google Shape;158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687a683614483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91250" y="1905000"/>
            <a:ext cx="5419725" cy="18383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1" name="Google Shape;159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687a683614483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1025" y="3933825"/>
            <a:ext cx="5419725" cy="18383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2" name="Google Shape;16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687a683614483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91250" y="3933825"/>
            <a:ext cx="5419725" cy="18383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1" name="Google Shape;161;p18">
            <a:extLst xmlns:a="http://schemas.openxmlformats.org/drawingml/2006/main">
              <a:ext uri="{FF2B5EF4-FFF2-40B4-BE49-F238E27FC236}">
                <a16:creationId xmlns:a16="http://schemas.microsoft.com/office/drawing/2014/main" id="{6B5154B4-08E5-41B9-9F36-114B9D8D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0275"/>
            <a:ext cx="5070633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 cap="none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1. The Tinderbox Correlation</a:t>
            </a:r>
          </a:p>
        </p:txBody>
      </p:sp>
      <p:sp>
        <p:nvSpPr>
          <p:cNvPr id="162" name="Google Shape;162;p18">
            <a:extLst xmlns:a="http://schemas.openxmlformats.org/drawingml/2006/main">
              <a:ext uri="{FF2B5EF4-FFF2-40B4-BE49-F238E27FC236}">
                <a16:creationId xmlns:a16="http://schemas.microsoft.com/office/drawing/2014/main" id="{30359E25-776F-4259-8009-50F73174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48291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How many hourly periods meet the 30/30 screening condition: T &gt;= 30°C and RH &lt;= 30%?</a:t>
            </a:r>
          </a:p>
        </p:txBody>
      </p:sp>
      <p:sp>
        <p:nvSpPr>
          <p:cNvPr id="163" name="Google Shape;163;p18">
            <a:extLst xmlns:a="http://schemas.openxmlformats.org/drawingml/2006/main">
              <a:ext uri="{FF2B5EF4-FFF2-40B4-BE49-F238E27FC236}">
                <a16:creationId xmlns:a16="http://schemas.microsoft.com/office/drawing/2014/main" id="{593906AE-BE34-456E-8536-16AAE7C4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200275"/>
            <a:ext cx="5070633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 cap="none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2. Barometric Warning Signals</a:t>
            </a:r>
          </a:p>
        </p:txBody>
      </p:sp>
      <p:sp>
        <p:nvSpPr>
          <p:cNvPr id="164" name="Google Shape;164;p18">
            <a:extLst xmlns:a="http://schemas.openxmlformats.org/drawingml/2006/main">
              <a:ext uri="{FF2B5EF4-FFF2-40B4-BE49-F238E27FC236}">
                <a16:creationId xmlns:a16="http://schemas.microsoft.com/office/drawing/2014/main" id="{CFE68FD5-8077-4445-AAEF-B1C1D492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647950"/>
            <a:ext cx="48291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Do rapid 3-hour pressure drops appear before the driest hourly windows?</a:t>
            </a:r>
          </a:p>
        </p:txBody>
      </p:sp>
      <p:sp>
        <p:nvSpPr>
          <p:cNvPr id="165" name="Google Shape;165;p18">
            <a:extLst xmlns:a="http://schemas.openxmlformats.org/drawingml/2006/main">
              <a:ext uri="{FF2B5EF4-FFF2-40B4-BE49-F238E27FC236}">
                <a16:creationId xmlns:a16="http://schemas.microsoft.com/office/drawing/2014/main" id="{7015109D-2E39-48DB-A764-901DE373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5070633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 cap="none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3. Diurnal Danger Cycles</a:t>
            </a:r>
          </a:p>
        </p:txBody>
      </p:sp>
      <p:sp>
        <p:nvSpPr>
          <p:cNvPr id="166" name="Google Shape;166;p18">
            <a:extLst xmlns:a="http://schemas.openxmlformats.org/drawingml/2006/main">
              <a:ext uri="{FF2B5EF4-FFF2-40B4-BE49-F238E27FC236}">
                <a16:creationId xmlns:a16="http://schemas.microsoft.com/office/drawing/2014/main" id="{7C791A96-8392-4811-887D-C51B25BF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76775"/>
            <a:ext cx="48291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During which hours do heat and low humidity combine into the strongest daily risk window?</a:t>
            </a:r>
          </a:p>
        </p:txBody>
      </p:sp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38EA6729-8BB7-40DC-97A6-72BF9465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229100"/>
            <a:ext cx="5070633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 u="none" cap="none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4. Sustained Risk Windows</a:t>
            </a:r>
          </a:p>
        </p:txBody>
      </p:sp>
      <p:sp>
        <p:nvSpPr>
          <p:cNvPr id="168" name="Google Shape;168;p18">
            <a:extLst xmlns:a="http://schemas.openxmlformats.org/drawingml/2006/main">
              <a:ext uri="{FF2B5EF4-FFF2-40B4-BE49-F238E27FC236}">
                <a16:creationId xmlns:a16="http://schemas.microsoft.com/office/drawing/2014/main" id="{366A7784-DDB8-4078-8302-7981B32C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676775"/>
            <a:ext cx="48291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Once the 30/30 screen is crossed, how long do continuous elevated-risk events last?</a:t>
            </a:r>
          </a:p>
        </p:txBody>
      </p:sp>
      <p:sp>
        <p:nvSpPr>
          <p:cNvPr id="169" name="Google Shape;169;p18">
            <a:extLst xmlns:a="http://schemas.openxmlformats.org/drawingml/2006/main">
              <a:ext uri="{FF2B5EF4-FFF2-40B4-BE49-F238E27FC236}">
                <a16:creationId xmlns:a16="http://schemas.microsoft.com/office/drawing/2014/main" id="{FB0C3526-3698-48E4-B3BD-3F035534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81025"/>
            <a:ext cx="1138142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50" b="0" i="0" u="none" cap="non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REFINED RESEARCH QUESTIONS</a:t>
            </a:r>
          </a:p>
        </p:txBody>
      </p:sp>
      <p:sp>
        <p:nvSpPr>
          <p:cNvPr id="170" name="Google Shape;170;p18">
            <a:extLst xmlns:a="http://schemas.openxmlformats.org/drawingml/2006/main">
              <a:ext uri="{FF2B5EF4-FFF2-40B4-BE49-F238E27FC236}">
                <a16:creationId xmlns:a16="http://schemas.microsoft.com/office/drawing/2014/main" id="{4613CB2E-05A9-4E02-9D4F-7C5D6128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47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1" name="Google Shape;171;p18">
            <a:extLst xmlns:a="http://schemas.openxmlformats.org/drawingml/2006/main">
              <a:ext uri="{FF2B5EF4-FFF2-40B4-BE49-F238E27FC236}">
                <a16:creationId xmlns:a16="http://schemas.microsoft.com/office/drawing/2014/main" id="{9666D65F-FFC5-4938-85C0-D901E5E4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040000"/>
            <a:ext cx="11000100" cy="6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>
              <a:alpha val="88000"/>
            </a:srgbClr>
          </a:solidFill>
          <a:ln xmlns:a="http://schemas.openxmlformats.org/drawingml/2006/main" w="9525" cmpd="sng">
            <a:solidFill>
              <a:srgbClr val="2E2E2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171B85F2-B004-43D0-835B-515FAA2B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00" y="6100000"/>
            <a:ext cx="10299900" cy="47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5. Seasonal Macro-Trends:</a:t>
            </a:r>
            <a:r>
              <a:rPr sz="1500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 How do heat, humidity, and pressure baselines shift by season and year?</a:t>
            </a:r>
          </a:p>
        </p:txBody>
      </p:sp>
    </p:spTree>
    <p:extLst>
      <p:ext uri="{BB962C8B-B14F-4D97-AF65-F5344CB8AC3E}">
        <p14:creationId xmlns:p14="http://schemas.microsoft.com/office/powerpoint/2010/main" val="4525296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A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6" name="Google Shape;177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db2ba6822f0442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7" name="Google Shape;178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dbd66c06aa546c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34125" y="2366962"/>
            <a:ext cx="5276850" cy="3057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9" name="Google Shape;179;p19">
            <a:extLst xmlns:a="http://schemas.openxmlformats.org/drawingml/2006/main">
              <a:ext uri="{FF2B5EF4-FFF2-40B4-BE49-F238E27FC236}">
                <a16:creationId xmlns:a16="http://schemas.microsoft.com/office/drawing/2014/main" id="{938ED628-A45C-4ABE-9DB6-B9CA3D5D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366962"/>
            <a:ext cx="5540700" cy="32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u="none" cap="none">
                <a:solidFill>
                  <a:srgbClr val="FF4D00"/>
                </a:solidFill>
                <a:latin typeface="Urbanist SemiBold"/>
                <a:ea typeface="Urbanist SemiBold"/>
                <a:cs typeface="Urbanist SemiBold"/>
              </a:rPr>
              <a:t>Finding: Extreme Overlap</a:t>
            </a:r>
          </a:p>
        </p:txBody>
      </p:sp>
      <p:sp>
        <p:nvSpPr>
          <p:cNvPr id="180" name="Google Shape;180;p19">
            <a:extLst xmlns:a="http://schemas.openxmlformats.org/drawingml/2006/main">
              <a:ext uri="{FF2B5EF4-FFF2-40B4-BE49-F238E27FC236}">
                <a16:creationId xmlns:a16="http://schemas.microsoft.com/office/drawing/2014/main" id="{7063A678-E573-4D10-91CD-A7C4FF73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833687"/>
            <a:ext cx="5277000" cy="96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Simultaneous high heat ($T \ge 30^\circ\text{C}$) and low moisture ($\text{RH} \le 30\%$) events are rare but critical.</a:t>
            </a:r>
          </a:p>
        </p:txBody>
      </p:sp>
      <p:sp>
        <p:nvSpPr>
          <p:cNvPr id="181" name="Google Shape;181;p19">
            <a:extLst xmlns:a="http://schemas.openxmlformats.org/drawingml/2006/main">
              <a:ext uri="{FF2B5EF4-FFF2-40B4-BE49-F238E27FC236}">
                <a16:creationId xmlns:a16="http://schemas.microsoft.com/office/drawing/2014/main" id="{03327781-68FD-4E57-A8E7-6D8ACBE6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57487"/>
            <a:ext cx="4720500" cy="32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u="none" cap="none">
                <a:solidFill>
                  <a:srgbClr val="FF4D00"/>
                </a:solidFill>
                <a:latin typeface="Urbanist SemiBold"/>
                <a:ea typeface="Urbanist SemiBold"/>
                <a:cs typeface="Urbanist SemiBold"/>
              </a:rPr>
              <a:t>Meteorological Reasoning</a:t>
            </a:r>
          </a:p>
        </p:txBody>
      </p:sp>
      <p:sp>
        <p:nvSpPr>
          <p:cNvPr id="182" name="Google Shape;182;p19">
            <a:extLst xmlns:a="http://schemas.openxmlformats.org/drawingml/2006/main">
              <a:ext uri="{FF2B5EF4-FFF2-40B4-BE49-F238E27FC236}">
                <a16:creationId xmlns:a16="http://schemas.microsoft.com/office/drawing/2014/main" id="{5743E5EF-AA5D-478D-A7A4-1CEECF3B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24212"/>
            <a:ext cx="4495800" cy="96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When the air is hot and dry, fuel moisture content (FMC) drops rapidly, allowing for nearly instantaneous ignition from spot embers.</a:t>
            </a:r>
          </a:p>
        </p:txBody>
      </p:sp>
      <p:sp>
        <p:nvSpPr>
          <p:cNvPr id="183" name="Google Shape;183;p19">
            <a:extLst xmlns:a="http://schemas.openxmlformats.org/drawingml/2006/main">
              <a:ext uri="{FF2B5EF4-FFF2-40B4-BE49-F238E27FC236}">
                <a16:creationId xmlns:a16="http://schemas.microsoft.com/office/drawing/2014/main" id="{C243D4B1-0F52-4848-B2F0-A272553D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938587"/>
            <a:ext cx="4896000" cy="23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Only 26 out of 68,666 events meet this criteria.</a:t>
            </a:r>
          </a:p>
        </p:txBody>
      </p:sp>
      <p:sp>
        <p:nvSpPr>
          <p:cNvPr id="184" name="Google Shape;184;p19">
            <a:extLst xmlns:a="http://schemas.openxmlformats.org/drawingml/2006/main">
              <a:ext uri="{FF2B5EF4-FFF2-40B4-BE49-F238E27FC236}">
                <a16:creationId xmlns:a16="http://schemas.microsoft.com/office/drawing/2014/main" id="{BBA7F0A8-7632-408A-9C53-8972C309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433887"/>
            <a:ext cx="4896000" cy="23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Acts as a precise filter for fine-fuel drying.</a:t>
            </a:r>
          </a:p>
        </p:txBody>
      </p:sp>
      <p:sp>
        <p:nvSpPr>
          <p:cNvPr id="185" name="Google Shape;185;p19">
            <a:extLst xmlns:a="http://schemas.openxmlformats.org/drawingml/2006/main">
              <a:ext uri="{FF2B5EF4-FFF2-40B4-BE49-F238E27FC236}">
                <a16:creationId xmlns:a16="http://schemas.microsoft.com/office/drawing/2014/main" id="{CD990991-113B-49BE-84B8-FAC45C50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929187"/>
            <a:ext cx="4896000" cy="23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Identified as the primary "Critical Danger" trigger.</a:t>
            </a:r>
          </a:p>
        </p:txBody>
      </p:sp>
      <p:pic>
        <p:nvPicPr>
          <p:cNvPr id="205" name="Google Shape;186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b4baa4e821447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1025" y="3976687"/>
            <a:ext cx="1714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06" name="Google Shape;187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8380d2f265426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1025" y="4471987"/>
            <a:ext cx="2286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07" name="Google Shape;188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184eb3bdf7421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1025" y="4967287"/>
            <a:ext cx="2286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9" name="Google Shape;189;p19">
            <a:extLst xmlns:a="http://schemas.openxmlformats.org/drawingml/2006/main">
              <a:ext uri="{FF2B5EF4-FFF2-40B4-BE49-F238E27FC236}">
                <a16:creationId xmlns:a16="http://schemas.microsoft.com/office/drawing/2014/main" id="{E183C478-4F24-4908-9B08-60C5C88B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025"/>
            <a:ext cx="11331300" cy="43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5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Q1: The Tinderbox Correlation</a:t>
            </a:r>
          </a:p>
        </p:txBody>
      </p:sp>
      <p:sp>
        <p:nvSpPr>
          <p:cNvPr id="190" name="Google Shape;190;p19">
            <a:extLst xmlns:a="http://schemas.openxmlformats.org/drawingml/2006/main">
              <a:ext uri="{FF2B5EF4-FFF2-40B4-BE49-F238E27FC236}">
                <a16:creationId xmlns:a16="http://schemas.microsoft.com/office/drawing/2014/main" id="{B57279E3-EBCF-4814-AFA6-8D5FC6A9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47700" cy="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325289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3" name="Google Shape;195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c627c474f14cd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04" name="Google Shape;196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33fbdaed154fd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1025" y="1400175"/>
            <a:ext cx="11029950" cy="4876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97" name="Google Shape;197;p20">
            <a:extLst xmlns:a="http://schemas.openxmlformats.org/drawingml/2006/main">
              <a:ext uri="{FF2B5EF4-FFF2-40B4-BE49-F238E27FC236}">
                <a16:creationId xmlns:a16="http://schemas.microsoft.com/office/drawing/2014/main" id="{26773F7A-45F9-427C-AC3F-2FFBDCE9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6737"/>
            <a:ext cx="10887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Claim: Pressure is a weak standalone warning signal in this dataset.</a:t>
            </a:r>
          </a:p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Evidence: Only 5% of the most severe dry spells were preceded by a rapid 3-hour pressure drop.</a:t>
            </a:r>
          </a:p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Reasoning: Keep pressure as a supporting feature; temperature and humidity carry the clearer fire-weather signal.</a:t>
            </a:r>
          </a:p>
        </p:txBody>
      </p:sp>
      <p:sp>
        <p:nvSpPr>
          <p:cNvPr id="198" name="Google Shape;198;p20">
            <a:extLst xmlns:a="http://schemas.openxmlformats.org/drawingml/2006/main">
              <a:ext uri="{FF2B5EF4-FFF2-40B4-BE49-F238E27FC236}">
                <a16:creationId xmlns:a16="http://schemas.microsoft.com/office/drawing/2014/main" id="{7390B783-FEB9-4EBD-92EC-8346875B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376737"/>
            <a:ext cx="285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9" name="Google Shape;199;p20">
            <a:extLst xmlns:a="http://schemas.openxmlformats.org/drawingml/2006/main">
              <a:ext uri="{FF2B5EF4-FFF2-40B4-BE49-F238E27FC236}">
                <a16:creationId xmlns:a16="http://schemas.microsoft.com/office/drawing/2014/main" id="{ADEC216E-0EE1-4100-B593-49D1C30B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81025"/>
            <a:ext cx="1138142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50" b="0" i="0" u="none" cap="non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Q2: PRESSURE WARNING SIGNALS</a:t>
            </a:r>
          </a:p>
        </p:txBody>
      </p:sp>
      <p:sp>
        <p:nvSpPr>
          <p:cNvPr id="200" name="Google Shape;200;p20">
            <a:extLst xmlns:a="http://schemas.openxmlformats.org/drawingml/2006/main">
              <a:ext uri="{FF2B5EF4-FFF2-40B4-BE49-F238E27FC236}">
                <a16:creationId xmlns:a16="http://schemas.microsoft.com/office/drawing/2014/main" id="{8AE51542-CB7C-41B6-BC29-FA0AE5FB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47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579073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4" name="Google Shape;205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bb5a7cf502450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06" name="Google Shape;206;p21">
            <a:extLst xmlns:a="http://schemas.openxmlformats.org/drawingml/2006/main">
              <a:ext uri="{FF2B5EF4-FFF2-40B4-BE49-F238E27FC236}">
                <a16:creationId xmlns:a16="http://schemas.microsoft.com/office/drawing/2014/main" id="{49DD08D7-281C-4954-84DF-C5D537F4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429250"/>
            <a:ext cx="53244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Claim: Highest daily vulnerability occurs from 13:00-16:00.</a:t>
            </a:r>
          </a:p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Evidence: Median temperature peaks as relative humidity reaches its daily low.</a:t>
            </a:r>
          </a:p>
        </p:txBody>
      </p:sp>
      <p:sp>
        <p:nvSpPr>
          <p:cNvPr id="207" name="Google Shape;207;p21">
            <a:extLst xmlns:a="http://schemas.openxmlformats.org/drawingml/2006/main">
              <a:ext uri="{FF2B5EF4-FFF2-40B4-BE49-F238E27FC236}">
                <a16:creationId xmlns:a16="http://schemas.microsoft.com/office/drawing/2014/main" id="{EE0FD202-D029-45D7-B29B-533526E2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29250"/>
            <a:ext cx="53244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Reasoning: Heat plus dry air lowers fine-fuel moisture, so warning sensitivity should be highest in the post-noon window.</a:t>
            </a:r>
          </a:p>
        </p:txBody>
      </p:sp>
      <p:pic>
        <p:nvPicPr>
          <p:cNvPr id="217" name="Google Shape;20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9ebc130f16c417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24262" y="2433637"/>
            <a:ext cx="4943475" cy="476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09" name="Google Shape;209;p21">
            <a:extLst xmlns:a="http://schemas.openxmlformats.org/drawingml/2006/main">
              <a:ext uri="{FF2B5EF4-FFF2-40B4-BE49-F238E27FC236}">
                <a16:creationId xmlns:a16="http://schemas.microsoft.com/office/drawing/2014/main" id="{CECF8275-C4F2-4C6A-9E10-BE6CEE27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3850"/>
            <a:ext cx="1138142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50" b="0" i="0" u="none" cap="non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Q3: DIURNAL DANGER CYCLES</a:t>
            </a:r>
          </a:p>
        </p:txBody>
      </p:sp>
      <p:sp>
        <p:nvSpPr>
          <p:cNvPr id="210" name="Google Shape;210;p21">
            <a:extLst xmlns:a="http://schemas.openxmlformats.org/drawingml/2006/main">
              <a:ext uri="{FF2B5EF4-FFF2-40B4-BE49-F238E27FC236}">
                <a16:creationId xmlns:a16="http://schemas.microsoft.com/office/drawing/2014/main" id="{CE5B8D9C-AF71-4925-A8B9-0AF648A7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23850"/>
            <a:ext cx="47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220" name="Google Shape;211;p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3777b821aa4a6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96791" y="1143000"/>
            <a:ext cx="7198468" cy="381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815079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A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2" name="Google Shape;216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d870ad4af34b7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33" name="Google Shape;217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c33bb9da3f4d7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1025" y="2662237"/>
            <a:ext cx="3486150" cy="2466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34" name="Google Shape;218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66e6aeb7bf4cb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352925" y="2662237"/>
            <a:ext cx="3486150" cy="2466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35" name="Google Shape;219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c33bb9da3f4d7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124825" y="2662237"/>
            <a:ext cx="3486150" cy="2466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20" name="Google Shape;220;p22">
            <a:extLst xmlns:a="http://schemas.openxmlformats.org/drawingml/2006/main">
              <a:ext uri="{FF2B5EF4-FFF2-40B4-BE49-F238E27FC236}">
                <a16:creationId xmlns:a16="http://schemas.microsoft.com/office/drawing/2014/main" id="{00EE7AA6-7AC7-49BF-AA4E-040D9010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52762"/>
            <a:ext cx="2840400" cy="32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u="none" cap="none">
                <a:solidFill>
                  <a:srgbClr val="FF4D00"/>
                </a:solidFill>
                <a:latin typeface="Urbanist SemiBold"/>
                <a:ea typeface="Urbanist SemiBold"/>
                <a:cs typeface="Urbanist SemiBold"/>
              </a:rPr>
              <a:t>Duration vs. Spikes</a:t>
            </a:r>
          </a:p>
        </p:txBody>
      </p:sp>
      <p:sp>
        <p:nvSpPr>
          <p:cNvPr id="221" name="Google Shape;221;p22">
            <a:extLst xmlns:a="http://schemas.openxmlformats.org/drawingml/2006/main">
              <a:ext uri="{FF2B5EF4-FFF2-40B4-BE49-F238E27FC236}">
                <a16:creationId xmlns:a16="http://schemas.microsoft.com/office/drawing/2014/main" id="{6D1536F3-5DF5-4F47-93BE-EC4294FE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19487"/>
            <a:ext cx="2705100" cy="133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Isolated spikes in temperature are less dangerous than sustained exposure to hot, dry air.</a:t>
            </a:r>
          </a:p>
        </p:txBody>
      </p:sp>
      <p:sp>
        <p:nvSpPr>
          <p:cNvPr id="222" name="Google Shape;222;p22">
            <a:extLst xmlns:a="http://schemas.openxmlformats.org/drawingml/2006/main">
              <a:ext uri="{FF2B5EF4-FFF2-40B4-BE49-F238E27FC236}">
                <a16:creationId xmlns:a16="http://schemas.microsoft.com/office/drawing/2014/main" id="{5B60C39C-5E48-4D4E-A0F8-713F8F3E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52762"/>
            <a:ext cx="2840400" cy="32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u="none" cap="none">
                <a:solidFill>
                  <a:srgbClr val="FF4D00"/>
                </a:solidFill>
                <a:latin typeface="Urbanist SemiBold"/>
                <a:ea typeface="Urbanist SemiBold"/>
                <a:cs typeface="Urbanist SemiBold"/>
              </a:rPr>
              <a:t>Operation Impact</a:t>
            </a:r>
          </a:p>
        </p:txBody>
      </p:sp>
      <p:sp>
        <p:nvSpPr>
          <p:cNvPr id="223" name="Google Shape;223;p22">
            <a:extLst xmlns:a="http://schemas.openxmlformats.org/drawingml/2006/main">
              <a:ext uri="{FF2B5EF4-FFF2-40B4-BE49-F238E27FC236}">
                <a16:creationId xmlns:a16="http://schemas.microsoft.com/office/drawing/2014/main" id="{5A8F2668-50A9-4697-B0FB-5549D2D4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519487"/>
            <a:ext cx="2705100" cy="96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Risk persists across consecutive hours, requiring long-term alert monitoring.</a:t>
            </a:r>
          </a:p>
        </p:txBody>
      </p:sp>
      <p:sp>
        <p:nvSpPr>
          <p:cNvPr id="224" name="Google Shape;224;p22">
            <a:extLst xmlns:a="http://schemas.openxmlformats.org/drawingml/2006/main">
              <a:ext uri="{FF2B5EF4-FFF2-40B4-BE49-F238E27FC236}">
                <a16:creationId xmlns:a16="http://schemas.microsoft.com/office/drawing/2014/main" id="{07F786F3-3626-4016-8FDC-C1B1D162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52762"/>
            <a:ext cx="2840400" cy="32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u="none" cap="none">
                <a:solidFill>
                  <a:srgbClr val="FF4D00"/>
                </a:solidFill>
                <a:latin typeface="Urbanist SemiBold"/>
                <a:ea typeface="Urbanist SemiBold"/>
                <a:cs typeface="Urbanist SemiBold"/>
              </a:rPr>
              <a:t>Prediction Goal</a:t>
            </a:r>
          </a:p>
        </p:txBody>
      </p:sp>
      <p:sp>
        <p:nvSpPr>
          <p:cNvPr id="225" name="Google Shape;225;p22">
            <a:extLst xmlns:a="http://schemas.openxmlformats.org/drawingml/2006/main">
              <a:ext uri="{FF2B5EF4-FFF2-40B4-BE49-F238E27FC236}">
                <a16:creationId xmlns:a16="http://schemas.microsoft.com/office/drawing/2014/main" id="{259D9AF8-A24E-4DCF-B989-12B7FE90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519487"/>
            <a:ext cx="2705100" cy="133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Inter"/>
                <a:ea typeface="Inter"/>
                <a:cs typeface="Inter"/>
              </a:rPr>
              <a:t>Models must predict not just the threshold, but the *length* of the danger window.</a:t>
            </a:r>
          </a:p>
        </p:txBody>
      </p:sp>
      <p:sp>
        <p:nvSpPr>
          <p:cNvPr id="226" name="Google Shape;226;p22">
            <a:extLst xmlns:a="http://schemas.openxmlformats.org/drawingml/2006/main">
              <a:ext uri="{FF2B5EF4-FFF2-40B4-BE49-F238E27FC236}">
                <a16:creationId xmlns:a16="http://schemas.microsoft.com/office/drawing/2014/main" id="{DB7CADCF-EB1B-441E-B6CD-8DEBE8DD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025"/>
            <a:ext cx="11331300" cy="55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3600" b="0" i="0" u="none" cap="none">
                <a:solidFill>
                  <a:srgbClr val="E2E8F0"/>
                </a:solidFill>
                <a:latin typeface="Urbanist Medium"/>
                <a:ea typeface="Urbanist Medium"/>
                <a:cs typeface="Urbanist Medium"/>
              </a:rPr>
              <a:t>Q4: Sustained </a:t>
            </a:r>
            <a:r>
              <a:rPr sz="3600" b="0" i="0" u="none" cap="none">
                <a:solidFill>
                  <a:srgbClr val="FF4D00"/>
                </a:solidFill>
                <a:latin typeface="Urbanist Medium"/>
                <a:ea typeface="Urbanist Medium"/>
                <a:cs typeface="Urbanist Medium"/>
              </a:rPr>
              <a:t>Risk</a:t>
            </a:r>
            <a:r>
              <a:rPr sz="3600" b="0" i="0" u="none" cap="none">
                <a:solidFill>
                  <a:srgbClr val="E2E8F0"/>
                </a:solidFill>
                <a:latin typeface="Urbanist Medium"/>
                <a:ea typeface="Urbanist Medium"/>
                <a:cs typeface="Urbanist Medium"/>
              </a:rPr>
              <a:t> Windows</a:t>
            </a:r>
          </a:p>
        </p:txBody>
      </p:sp>
      <p:sp>
        <p:nvSpPr>
          <p:cNvPr id="227" name="Google Shape;227;p22">
            <a:extLst xmlns:a="http://schemas.openxmlformats.org/drawingml/2006/main">
              <a:ext uri="{FF2B5EF4-FFF2-40B4-BE49-F238E27FC236}">
                <a16:creationId xmlns:a16="http://schemas.microsoft.com/office/drawing/2014/main" id="{2DC9C93E-728E-4557-BA90-F7D98E70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57300" cy="5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4D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795955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5" name="Google Shape;232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72921966b742b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56" name="Google Shape;233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fb1b6801cd4e5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1025" y="4116585"/>
            <a:ext cx="5324475" cy="1695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57" name="Google Shape;234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aa1b9a4b1241e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286500" y="4116585"/>
            <a:ext cx="5324475" cy="1695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35" name="Google Shape;235;p23">
            <a:extLst xmlns:a="http://schemas.openxmlformats.org/drawingml/2006/main">
              <a:ext uri="{FF2B5EF4-FFF2-40B4-BE49-F238E27FC236}">
                <a16:creationId xmlns:a16="http://schemas.microsoft.com/office/drawing/2014/main" id="{21E5E059-B3DC-47EC-9D54-8767864A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933625"/>
            <a:ext cx="11029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3">
            <a:extLst xmlns:a="http://schemas.openxmlformats.org/drawingml/2006/main">
              <a:ext uri="{FF2B5EF4-FFF2-40B4-BE49-F238E27FC236}">
                <a16:creationId xmlns:a16="http://schemas.microsoft.com/office/drawing/2014/main" id="{F9F71089-B5FE-4EC5-A4B4-95DCBF1F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362" y="2855565"/>
            <a:ext cx="254781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SPRING (MAR-MAY)</a:t>
            </a:r>
          </a:p>
        </p:txBody>
      </p:sp>
      <p:sp>
        <p:nvSpPr>
          <p:cNvPr id="237" name="Google Shape;237;p23">
            <a:extLst xmlns:a="http://schemas.openxmlformats.org/drawingml/2006/main">
              <a:ext uri="{FF2B5EF4-FFF2-40B4-BE49-F238E27FC236}">
                <a16:creationId xmlns:a16="http://schemas.microsoft.com/office/drawing/2014/main" id="{83E83413-745C-40A4-8ABF-2709B47A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198465"/>
            <a:ext cx="2426493" cy="213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Rising temps, high variability.</a:t>
            </a:r>
          </a:p>
        </p:txBody>
      </p:sp>
      <p:sp>
        <p:nvSpPr>
          <p:cNvPr id="238" name="Google Shape;238;p23">
            <a:extLst xmlns:a="http://schemas.openxmlformats.org/drawingml/2006/main">
              <a:ext uri="{FF2B5EF4-FFF2-40B4-BE49-F238E27FC236}">
                <a16:creationId xmlns:a16="http://schemas.microsoft.com/office/drawing/2014/main" id="{08360B86-39E3-4AD4-A440-E42709D1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131" y="2855565"/>
            <a:ext cx="254781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DC2626"/>
                </a:solidFill>
                <a:latin typeface="Urbanist"/>
                <a:ea typeface="Urbanist"/>
                <a:cs typeface="Urbanist"/>
              </a:rPr>
              <a:t>SUMMER (JUN-AUG)</a:t>
            </a:r>
          </a:p>
        </p:txBody>
      </p:sp>
      <p:sp>
        <p:nvSpPr>
          <p:cNvPr id="239" name="Google Shape;239;p23">
            <a:extLst xmlns:a="http://schemas.openxmlformats.org/drawingml/2006/main">
              <a:ext uri="{FF2B5EF4-FFF2-40B4-BE49-F238E27FC236}">
                <a16:creationId xmlns:a16="http://schemas.microsoft.com/office/drawing/2014/main" id="{9BDA056C-53E1-4CBE-8704-E0E66523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794" y="3198465"/>
            <a:ext cx="2426493" cy="213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Peak Fire Season. Max risk overlap.</a:t>
            </a:r>
          </a:p>
        </p:txBody>
      </p:sp>
      <p:sp>
        <p:nvSpPr>
          <p:cNvPr id="240" name="Google Shape;240;p23">
            <a:extLst xmlns:a="http://schemas.openxmlformats.org/drawingml/2006/main">
              <a:ext uri="{FF2B5EF4-FFF2-40B4-BE49-F238E27FC236}">
                <a16:creationId xmlns:a16="http://schemas.microsoft.com/office/drawing/2014/main" id="{AC233757-66B5-4F1C-B5A7-817AD90F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5900" y="2855565"/>
            <a:ext cx="254781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AUTUMN (SEP-NOV)</a:t>
            </a:r>
          </a:p>
        </p:txBody>
      </p:sp>
      <p:sp>
        <p:nvSpPr>
          <p:cNvPr id="241" name="Google Shape;241;p23">
            <a:extLst xmlns:a="http://schemas.openxmlformats.org/drawingml/2006/main">
              <a:ext uri="{FF2B5EF4-FFF2-40B4-BE49-F238E27FC236}">
                <a16:creationId xmlns:a16="http://schemas.microsoft.com/office/drawing/2014/main" id="{24EF25FF-47DD-4F40-821C-A27135D8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6563" y="3198465"/>
            <a:ext cx="2426493" cy="213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Decreasing vulnerability.</a:t>
            </a:r>
          </a:p>
        </p:txBody>
      </p:sp>
      <p:sp>
        <p:nvSpPr>
          <p:cNvPr id="242" name="Google Shape;242;p23">
            <a:extLst xmlns:a="http://schemas.openxmlformats.org/drawingml/2006/main">
              <a:ext uri="{FF2B5EF4-FFF2-40B4-BE49-F238E27FC236}">
                <a16:creationId xmlns:a16="http://schemas.microsoft.com/office/drawing/2014/main" id="{215496C6-0F02-4ED6-830A-2E514AD9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3670" y="2855565"/>
            <a:ext cx="254781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WINTER (DEC-FEB)</a:t>
            </a:r>
          </a:p>
        </p:txBody>
      </p:sp>
      <p:sp>
        <p:nvSpPr>
          <p:cNvPr id="243" name="Google Shape;243;p23">
            <a:extLst xmlns:a="http://schemas.openxmlformats.org/drawingml/2006/main">
              <a:ext uri="{FF2B5EF4-FFF2-40B4-BE49-F238E27FC236}">
                <a16:creationId xmlns:a16="http://schemas.microsoft.com/office/drawing/2014/main" id="{5564D355-32BF-4F38-A72D-F6F66E6D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4332" y="3198465"/>
            <a:ext cx="2426493" cy="213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Stable moisture, low risk.</a:t>
            </a:r>
          </a:p>
        </p:txBody>
      </p:sp>
      <p:sp>
        <p:nvSpPr>
          <p:cNvPr id="244" name="Google Shape;244;p23">
            <a:extLst xmlns:a="http://schemas.openxmlformats.org/drawingml/2006/main">
              <a:ext uri="{FF2B5EF4-FFF2-40B4-BE49-F238E27FC236}">
                <a16:creationId xmlns:a16="http://schemas.microsoft.com/office/drawing/2014/main" id="{1AC384CC-98A3-4ECA-920A-87B695E4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07110"/>
            <a:ext cx="49244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Claim: Summer has the clearest elevated-risk baseline.</a:t>
            </a:r>
          </a:p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Evidence: Median temperatures rise about 12°C while humidity drops about 15% versus winter.</a:t>
            </a:r>
          </a:p>
        </p:txBody>
      </p:sp>
      <p:sp>
        <p:nvSpPr>
          <p:cNvPr id="245" name="Google Shape;245;p23">
            <a:extLst xmlns:a="http://schemas.openxmlformats.org/drawingml/2006/main">
              <a:ext uri="{FF2B5EF4-FFF2-40B4-BE49-F238E27FC236}">
                <a16:creationId xmlns:a16="http://schemas.microsoft.com/office/drawing/2014/main" id="{4A898088-C05C-4A81-9F2A-E74E77BE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507110"/>
            <a:ext cx="49244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Reasoning: Seasonal aggregation over 8 summers reduces dependence on any single extreme year.</a:t>
            </a:r>
          </a:p>
        </p:txBody>
      </p:sp>
      <p:sp>
        <p:nvSpPr>
          <p:cNvPr id="246" name="Google Shape;246;p23">
            <a:extLst xmlns:a="http://schemas.openxmlformats.org/drawingml/2006/main">
              <a:ext uri="{FF2B5EF4-FFF2-40B4-BE49-F238E27FC236}">
                <a16:creationId xmlns:a16="http://schemas.microsoft.com/office/drawing/2014/main" id="{0D5288A8-FFBE-4BF1-A881-29D08324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81025"/>
            <a:ext cx="1138142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50" b="0" i="0" u="none" cap="non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Q5: SEASONAL MACRO-TRENDS</a:t>
            </a:r>
          </a:p>
        </p:txBody>
      </p:sp>
      <p:sp>
        <p:nvSpPr>
          <p:cNvPr id="247" name="Google Shape;247;p23">
            <a:extLst xmlns:a="http://schemas.openxmlformats.org/drawingml/2006/main">
              <a:ext uri="{FF2B5EF4-FFF2-40B4-BE49-F238E27FC236}">
                <a16:creationId xmlns:a16="http://schemas.microsoft.com/office/drawing/2014/main" id="{411C1F0B-B927-42E5-A783-0EA0BCF0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47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3">
            <a:extLst xmlns:a="http://schemas.openxmlformats.org/drawingml/2006/main">
              <a:ext uri="{FF2B5EF4-FFF2-40B4-BE49-F238E27FC236}">
                <a16:creationId xmlns:a16="http://schemas.microsoft.com/office/drawing/2014/main" id="{D6A809FF-B359-47D2-99D9-475943E3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8071" y="2512665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38100" cmpd="sng">
            <a:solidFill>
              <a:srgbClr val="0C0C0C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9" name="Google Shape;249;p23">
            <a:extLst xmlns:a="http://schemas.openxmlformats.org/drawingml/2006/main">
              <a:ext uri="{FF2B5EF4-FFF2-40B4-BE49-F238E27FC236}">
                <a16:creationId xmlns:a16="http://schemas.microsoft.com/office/drawing/2014/main" id="{AD11B7A0-5F0C-48F6-8296-39443C71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841" y="2512665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2626"/>
          </a:solidFill>
          <a:ln xmlns:a="http://schemas.openxmlformats.org/drawingml/2006/main" w="38100" cmpd="sng">
            <a:solidFill>
              <a:srgbClr val="0C0C0C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0" name="Google Shape;250;p23">
            <a:extLst xmlns:a="http://schemas.openxmlformats.org/drawingml/2006/main">
              <a:ext uri="{FF2B5EF4-FFF2-40B4-BE49-F238E27FC236}">
                <a16:creationId xmlns:a16="http://schemas.microsoft.com/office/drawing/2014/main" id="{C867061C-0FB8-47DF-9DCB-E2CA306D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3610" y="2512665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38100" cmpd="sng">
            <a:solidFill>
              <a:srgbClr val="0C0C0C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3">
            <a:extLst xmlns:a="http://schemas.openxmlformats.org/drawingml/2006/main">
              <a:ext uri="{FF2B5EF4-FFF2-40B4-BE49-F238E27FC236}">
                <a16:creationId xmlns:a16="http://schemas.microsoft.com/office/drawing/2014/main" id="{C0C22222-B10A-4D66-A403-BFE1321D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1379" y="2512665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4155"/>
          </a:solidFill>
          <a:ln xmlns:a="http://schemas.openxmlformats.org/drawingml/2006/main" w="38100" cmpd="sng">
            <a:solidFill>
              <a:srgbClr val="0C0C0C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9064187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5" name="Google Shape;256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6bec7176264a9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76" name="Google Shape;257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20edb5ad5541a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1025" y="2028825"/>
            <a:ext cx="5229225" cy="3619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77" name="Google Shape;258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3d45d61c71408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90550" y="2038350"/>
            <a:ext cx="5210175" cy="3600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9" name="Google Shape;259;p24">
            <a:extLst xmlns:a="http://schemas.openxmlformats.org/drawingml/2006/main">
              <a:ext uri="{FF2B5EF4-FFF2-40B4-BE49-F238E27FC236}">
                <a16:creationId xmlns:a16="http://schemas.microsoft.com/office/drawing/2014/main" id="{ECBC7CDE-C0C7-4AF9-B5ED-1E658E90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28825"/>
            <a:ext cx="5490686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4" b="1" i="0" u="none" cap="none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MODEL FOUNDATION</a:t>
            </a:r>
          </a:p>
        </p:txBody>
      </p:sp>
      <p:sp>
        <p:nvSpPr>
          <p:cNvPr id="260" name="Google Shape;260;p24">
            <a:extLst xmlns:a="http://schemas.openxmlformats.org/drawingml/2006/main">
              <a:ext uri="{FF2B5EF4-FFF2-40B4-BE49-F238E27FC236}">
                <a16:creationId xmlns:a16="http://schemas.microsoft.com/office/drawing/2014/main" id="{2E2DF1F5-F19C-4892-8E01-6F947FDC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5229225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Final Build: EDA findings now support a complete MQTT, PostgreSQL, read-only dashboard, live-stream, and ML-service demonstration.</a:t>
            </a:r>
          </a:p>
        </p:txBody>
      </p:sp>
      <p:sp>
        <p:nvSpPr>
          <p:cNvPr id="261" name="Google Shape;261;p24">
            <a:extLst xmlns:a="http://schemas.openxmlformats.org/drawingml/2006/main">
              <a:ext uri="{FF2B5EF4-FFF2-40B4-BE49-F238E27FC236}">
                <a16:creationId xmlns:a16="http://schemas.microsoft.com/office/drawing/2014/main" id="{1B209A61-281F-4787-9DE6-86124FF1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00300"/>
            <a:ext cx="5229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Data: strong for sensor EDA; limited for fire outcomes.</a:t>
            </a:r>
          </a:p>
        </p:txBody>
      </p:sp>
      <p:sp>
        <p:nvSpPr>
          <p:cNvPr id="262" name="Google Shape;262;p24">
            <a:extLst xmlns:a="http://schemas.openxmlformats.org/drawingml/2006/main">
              <a:ext uri="{FF2B5EF4-FFF2-40B4-BE49-F238E27FC236}">
                <a16:creationId xmlns:a16="http://schemas.microsoft.com/office/drawing/2014/main" id="{D01DDB6C-DF1A-4651-8547-AE3254F1C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47975"/>
            <a:ext cx="5229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Cleaning: 1,463 anomalies removed; 68,666 rows retained.</a:t>
            </a:r>
          </a:p>
        </p:txBody>
      </p:sp>
      <p:sp>
        <p:nvSpPr>
          <p:cNvPr id="263" name="Google Shape;263;p24">
            <a:extLst xmlns:a="http://schemas.openxmlformats.org/drawingml/2006/main">
              <a:ext uri="{FF2B5EF4-FFF2-40B4-BE49-F238E27FC236}">
                <a16:creationId xmlns:a16="http://schemas.microsoft.com/office/drawing/2014/main" id="{A5B2436F-094B-42C1-8732-EBE80776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95650"/>
            <a:ext cx="52292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8575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CER: each question now links claim, evidence, reasoning.</a:t>
            </a:r>
          </a:p>
        </p:txBody>
      </p:sp>
      <p:pic>
        <p:nvPicPr>
          <p:cNvPr id="283" name="Google Shape;264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3d2a0703344cd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1750" y="2452687"/>
            <a:ext cx="190500" cy="2000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84" name="Google Shape;265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3d2a0703344cd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1750" y="2900362"/>
            <a:ext cx="190500" cy="2000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85" name="Google Shape;266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3d2a0703344cd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1750" y="3348037"/>
            <a:ext cx="190500" cy="2000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67" name="Google Shape;267;p24">
            <a:extLst xmlns:a="http://schemas.openxmlformats.org/drawingml/2006/main">
              <a:ext uri="{FF2B5EF4-FFF2-40B4-BE49-F238E27FC236}">
                <a16:creationId xmlns:a16="http://schemas.microsoft.com/office/drawing/2014/main" id="{7E4B5FC8-3CA1-48AE-A1D1-ACEACF15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81025"/>
            <a:ext cx="1138142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50" b="0" i="0" u="none" cap="non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KEY FINDINGS &amp; IMPLICATIONS</a:t>
            </a:r>
          </a:p>
        </p:txBody>
      </p:sp>
      <p:sp>
        <p:nvSpPr>
          <p:cNvPr id="268" name="Google Shape;268;p24">
            <a:extLst xmlns:a="http://schemas.openxmlformats.org/drawingml/2006/main">
              <a:ext uri="{FF2B5EF4-FFF2-40B4-BE49-F238E27FC236}">
                <a16:creationId xmlns:a16="http://schemas.microsoft.com/office/drawing/2014/main" id="{3DFA209F-1861-4156-8C7F-4FAD78B2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47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9709381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8" name="Google Shape;273;p2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eabcddf203433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74" name="Google Shape;274;p25">
            <a:extLst xmlns:a="http://schemas.openxmlformats.org/drawingml/2006/main">
              <a:ext uri="{FF2B5EF4-FFF2-40B4-BE49-F238E27FC236}">
                <a16:creationId xmlns:a16="http://schemas.microsoft.com/office/drawing/2014/main" id="{3F751927-DDBF-465E-BA5B-5CDDBDF6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5593" y="2190750"/>
            <a:ext cx="6500700" cy="138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4500" b="1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MACHINE</a:t>
            </a:r>
            <a:br/>
            <a:r>
              <a:rPr sz="4500" b="1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LEARNING</a:t>
            </a:r>
          </a:p>
        </p:txBody>
      </p:sp>
      <p:sp>
        <p:nvSpPr>
          <p:cNvPr id="275" name="Google Shape;275;p25">
            <a:extLst xmlns:a="http://schemas.openxmlformats.org/drawingml/2006/main">
              <a:ext uri="{FF2B5EF4-FFF2-40B4-BE49-F238E27FC236}">
                <a16:creationId xmlns:a16="http://schemas.microsoft.com/office/drawing/2014/main" id="{D872B565-8BDE-4D7A-A918-4CE0F5D2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481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76" name="Google Shape;276;p25">
            <a:extLst xmlns:a="http://schemas.openxmlformats.org/drawingml/2006/main">
              <a:ext uri="{FF2B5EF4-FFF2-40B4-BE49-F238E27FC236}">
                <a16:creationId xmlns:a16="http://schemas.microsoft.com/office/drawing/2014/main" id="{9AE50DFD-2E4F-4CDC-AFAD-520F43E4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171950"/>
            <a:ext cx="619140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Final service: one linear task and two logistic tasks; K-Means remains an early experiment.</a:t>
            </a:r>
          </a:p>
        </p:txBody>
      </p:sp>
    </p:spTree>
    <p:extLst>
      <p:ext uri="{BB962C8B-B14F-4D97-AF65-F5344CB8AC3E}">
        <p14:creationId xmlns:p14="http://schemas.microsoft.com/office/powerpoint/2010/main" val="19062915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3" name="Google Shape;281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f20dd372c6469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82" name="Google Shape;282;p26">
            <a:extLst xmlns:a="http://schemas.openxmlformats.org/drawingml/2006/main">
              <a:ext uri="{FF2B5EF4-FFF2-40B4-BE49-F238E27FC236}">
                <a16:creationId xmlns:a16="http://schemas.microsoft.com/office/drawing/2014/main" id="{20ADD035-AD51-44A0-BD67-78638F10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81025"/>
            <a:ext cx="11381400" cy="43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5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Linear Regression</a:t>
            </a:r>
          </a:p>
        </p:txBody>
      </p:sp>
      <p:sp>
        <p:nvSpPr>
          <p:cNvPr id="283" name="Google Shape;283;p26">
            <a:extLst xmlns:a="http://schemas.openxmlformats.org/drawingml/2006/main">
              <a:ext uri="{FF2B5EF4-FFF2-40B4-BE49-F238E27FC236}">
                <a16:creationId xmlns:a16="http://schemas.microsoft.com/office/drawing/2014/main" id="{642FD1CB-D9B7-448E-B255-61E6D40C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47700" cy="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296" name="Google Shape;284;p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ce65f285e422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" y="1800225"/>
            <a:ext cx="5662761" cy="3619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85" name="Google Shape;285;p26">
            <a:extLst xmlns:a="http://schemas.openxmlformats.org/drawingml/2006/main">
              <a:ext uri="{FF2B5EF4-FFF2-40B4-BE49-F238E27FC236}">
                <a16:creationId xmlns:a16="http://schemas.microsoft.com/office/drawing/2014/main" id="{183546A2-3495-4CA2-A1BD-B5563F1E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95525"/>
            <a:ext cx="4991100" cy="54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CCCCCC"/>
                </a:solidFill>
                <a:latin typeface="Inter"/>
                <a:ea typeface="Inter"/>
                <a:cs typeface="Inter"/>
              </a:rPr>
              <a:t>Task: Estimate relative humidity from temperature and pressure.</a:t>
            </a:r>
          </a:p>
        </p:txBody>
      </p:sp>
      <p:sp>
        <p:nvSpPr>
          <p:cNvPr id="286" name="Google Shape;286;p26">
            <a:extLst xmlns:a="http://schemas.openxmlformats.org/drawingml/2006/main">
              <a:ext uri="{FF2B5EF4-FFF2-40B4-BE49-F238E27FC236}">
                <a16:creationId xmlns:a16="http://schemas.microsoft.com/office/drawing/2014/main" id="{C028BFC5-C3C3-44C2-9454-9A85B252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34605"/>
            <a:ext cx="4991100" cy="54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CCCCCC"/>
                </a:solidFill>
                <a:latin typeface="Inter"/>
                <a:ea typeface="Inter"/>
                <a:cs typeface="Inter"/>
              </a:rPr>
              <a:t>Held-out result: R² 0.3189 and MAE 11.05 percentage points.</a:t>
            </a:r>
          </a:p>
        </p:txBody>
      </p:sp>
      <p:sp>
        <p:nvSpPr>
          <p:cNvPr id="287" name="Google Shape;287;p26">
            <a:extLst xmlns:a="http://schemas.openxmlformats.org/drawingml/2006/main">
              <a:ext uri="{FF2B5EF4-FFF2-40B4-BE49-F238E27FC236}">
                <a16:creationId xmlns:a16="http://schemas.microsoft.com/office/drawing/2014/main" id="{EA799639-5888-4E1C-A149-1907B3CD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73685"/>
            <a:ext cx="4991100" cy="54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CCCCCC"/>
                </a:solidFill>
                <a:latin typeface="Inter"/>
                <a:ea typeface="Inter"/>
                <a:cs typeface="Inter"/>
              </a:rPr>
              <a:t>Use: A baseline weather estimate—not a wildfire forecast.</a:t>
            </a:r>
          </a:p>
        </p:txBody>
      </p:sp>
      <p:pic>
        <p:nvPicPr>
          <p:cNvPr id="300" name="Google Shape;288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d8b7486c81f4d0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72225" y="229552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01" name="Google Shape;289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d8b7486c81f4d0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72225" y="303460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02" name="Google Shape;290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d8b7486c81f4d0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72225" y="377368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2437519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5" name="Google Shape;295;p27">
            <a:extLst xmlns:a="http://schemas.openxmlformats.org/drawingml/2006/main">
              <a:ext uri="{FF2B5EF4-FFF2-40B4-BE49-F238E27FC236}">
                <a16:creationId xmlns:a16="http://schemas.microsoft.com/office/drawing/2014/main" id="{7D8BA460-3CEB-4C55-BC16-20E382E0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81025"/>
            <a:ext cx="11381400" cy="43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5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Logistic </a:t>
            </a:r>
            <a:r>
              <a:rPr sz="285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Regression</a:t>
            </a:r>
          </a:p>
        </p:txBody>
      </p:sp>
      <p:sp>
        <p:nvSpPr>
          <p:cNvPr id="296" name="Google Shape;296;p27">
            <a:extLst xmlns:a="http://schemas.openxmlformats.org/drawingml/2006/main">
              <a:ext uri="{FF2B5EF4-FFF2-40B4-BE49-F238E27FC236}">
                <a16:creationId xmlns:a16="http://schemas.microsoft.com/office/drawing/2014/main" id="{8DE56780-082C-4E40-814D-BEB16812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47700" cy="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307" name="Google Shape;297;p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b29e1b2cb2454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1526" y="1584851"/>
            <a:ext cx="4726474" cy="4222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98" name="Google Shape;298;p27">
            <a:extLst xmlns:a="http://schemas.openxmlformats.org/drawingml/2006/main">
              <a:ext uri="{FF2B5EF4-FFF2-40B4-BE49-F238E27FC236}">
                <a16:creationId xmlns:a16="http://schemas.microsoft.com/office/drawing/2014/main" id="{282E5AE1-226B-4A60-9482-06ADD2619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19325"/>
            <a:ext cx="4991100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CCCCCC"/>
                </a:solidFill>
                <a:latin typeface="Inter"/>
                <a:ea typeface="Inter"/>
                <a:cs typeface="Inter"/>
              </a:rPr>
              <a:t>Task: Estimate whether relative humidity is below the 30% project screen.</a:t>
            </a:r>
          </a:p>
        </p:txBody>
      </p:sp>
      <p:sp>
        <p:nvSpPr>
          <p:cNvPr id="299" name="Google Shape;299;p27">
            <a:extLst xmlns:a="http://schemas.openxmlformats.org/drawingml/2006/main">
              <a:ext uri="{FF2B5EF4-FFF2-40B4-BE49-F238E27FC236}">
                <a16:creationId xmlns:a16="http://schemas.microsoft.com/office/drawing/2014/main" id="{3B8CA00B-5CE4-42F6-A976-41A386CC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58405"/>
            <a:ext cx="4991100" cy="54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CCCCCC"/>
                </a:solidFill>
                <a:latin typeface="Inter"/>
                <a:ea typeface="Inter"/>
                <a:cs typeface="Inter"/>
              </a:rPr>
              <a:t>Rare class: Only 0.22% positives in the Jena evaluation.</a:t>
            </a:r>
          </a:p>
        </p:txBody>
      </p:sp>
      <p:sp>
        <p:nvSpPr>
          <p:cNvPr id="300" name="Google Shape;300;p27">
            <a:extLst xmlns:a="http://schemas.openxmlformats.org/drawingml/2006/main">
              <a:ext uri="{FF2B5EF4-FFF2-40B4-BE49-F238E27FC236}">
                <a16:creationId xmlns:a16="http://schemas.microsoft.com/office/drawing/2014/main" id="{240A2303-3725-4A1B-AF6A-5769748A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97485"/>
            <a:ext cx="4991100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CCCCCC"/>
                </a:solidFill>
                <a:latin typeface="Inter"/>
                <a:ea typeface="Inter"/>
                <a:cs typeface="Inter"/>
              </a:rPr>
              <a:t>Evaluation: Report precision, recall, F1, and ROC-AUC—not accuracy alone.</a:t>
            </a:r>
          </a:p>
        </p:txBody>
      </p:sp>
      <p:pic>
        <p:nvPicPr>
          <p:cNvPr id="311" name="Google Shape;301;p2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f214fc67634d9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991225" y="221932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12" name="Google Shape;302;p2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f214fc67634d9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991225" y="295840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13" name="Google Shape;303;p2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f214fc67634d9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991225" y="369748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65627131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8" name="Google Shape;308;p28">
            <a:extLst xmlns:a="http://schemas.openxmlformats.org/drawingml/2006/main">
              <a:ext uri="{FF2B5EF4-FFF2-40B4-BE49-F238E27FC236}">
                <a16:creationId xmlns:a16="http://schemas.microsoft.com/office/drawing/2014/main" id="{EA81EFAE-56F0-4AC3-B4DC-CDD8094C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81025"/>
            <a:ext cx="11381400" cy="43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5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K-Means (Early Experiment)</a:t>
            </a:r>
          </a:p>
        </p:txBody>
      </p:sp>
      <p:sp>
        <p:nvSpPr>
          <p:cNvPr id="309" name="Google Shape;309;p28">
            <a:extLst xmlns:a="http://schemas.openxmlformats.org/drawingml/2006/main">
              <a:ext uri="{FF2B5EF4-FFF2-40B4-BE49-F238E27FC236}">
                <a16:creationId xmlns:a16="http://schemas.microsoft.com/office/drawing/2014/main" id="{7B733D45-3449-422C-ABCA-B384A6FA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47700" cy="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0" name="Google Shape;310;p28">
            <a:extLst xmlns:a="http://schemas.openxmlformats.org/drawingml/2006/main">
              <a:ext uri="{FF2B5EF4-FFF2-40B4-BE49-F238E27FC236}">
                <a16:creationId xmlns:a16="http://schemas.microsoft.com/office/drawing/2014/main" id="{B32CD5A9-EF85-4AE6-80C3-DBD7B909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143125"/>
            <a:ext cx="4991100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CCCCCC"/>
                </a:solidFill>
                <a:latin typeface="Inter"/>
                <a:ea typeface="Inter"/>
                <a:cs typeface="Inter"/>
              </a:rPr>
              <a:t>Exploration: Grouped weather observations into three environmental regimes.</a:t>
            </a:r>
          </a:p>
        </p:txBody>
      </p:sp>
      <p:sp>
        <p:nvSpPr>
          <p:cNvPr id="311" name="Google Shape;311;p28">
            <a:extLst xmlns:a="http://schemas.openxmlformats.org/drawingml/2006/main">
              <a:ext uri="{FF2B5EF4-FFF2-40B4-BE49-F238E27FC236}">
                <a16:creationId xmlns:a16="http://schemas.microsoft.com/office/drawing/2014/main" id="{F43E9265-516D-41E3-87CF-26544EDA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82205"/>
            <a:ext cx="49911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CCCCCC"/>
                </a:solidFill>
                <a:latin typeface="Inter"/>
                <a:ea typeface="Inter"/>
                <a:cs typeface="Inter"/>
              </a:rPr>
              <a:t>Final decision:
 - Preserve the experiment
 - Exclude it from the final service
 - Ship only tasks tied to clear user questions</a:t>
            </a:r>
          </a:p>
        </p:txBody>
      </p:sp>
      <p:sp>
        <p:nvSpPr>
          <p:cNvPr id="312" name="Google Shape;312;p28">
            <a:extLst xmlns:a="http://schemas.openxmlformats.org/drawingml/2006/main">
              <a:ext uri="{FF2B5EF4-FFF2-40B4-BE49-F238E27FC236}">
                <a16:creationId xmlns:a16="http://schemas.microsoft.com/office/drawing/2014/main" id="{D3FF13D7-89DC-4A20-9D4F-6E5684EA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69866"/>
            <a:ext cx="4991100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cap="none">
                <a:solidFill>
                  <a:srgbClr val="CCCCCC"/>
                </a:solidFill>
                <a:latin typeface="Inter"/>
                <a:ea typeface="Inter"/>
                <a:cs typeface="Inter"/>
              </a:rPr>
              <a:t>Lesson: An interesting algorithm is not automatically the right production feature.</a:t>
            </a:r>
          </a:p>
        </p:txBody>
      </p:sp>
      <p:pic>
        <p:nvPicPr>
          <p:cNvPr id="322" name="Google Shape;313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e05aeda21d47a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448425" y="214312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23" name="Google Shape;314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e05aeda21d47a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448425" y="288220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24" name="Google Shape;315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e05aeda21d47a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448425" y="4169866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25" name="Google Shape;316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5570cb6239490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" y="1800225"/>
            <a:ext cx="5686426" cy="366778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02095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1" name="Google Shape;321;p29">
            <a:extLst xmlns:a="http://schemas.openxmlformats.org/drawingml/2006/main">
              <a:ext uri="{FF2B5EF4-FFF2-40B4-BE49-F238E27FC236}">
                <a16:creationId xmlns:a16="http://schemas.microsoft.com/office/drawing/2014/main" id="{004080F9-F8B0-4675-80C8-72B7BE68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5643" y="2889257"/>
            <a:ext cx="6500700" cy="69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4500" b="1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FINAL ML SERVICE</a:t>
            </a:r>
          </a:p>
        </p:txBody>
      </p:sp>
      <p:sp>
        <p:nvSpPr>
          <p:cNvPr id="322" name="Google Shape;322;p29">
            <a:extLst xmlns:a="http://schemas.openxmlformats.org/drawingml/2006/main">
              <a:ext uri="{FF2B5EF4-FFF2-40B4-BE49-F238E27FC236}">
                <a16:creationId xmlns:a16="http://schemas.microsoft.com/office/drawing/2014/main" id="{ACEB94D5-DC4D-4F88-B256-16B234C3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03471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3" name="Google Shape;323;p29">
            <a:extLst xmlns:a="http://schemas.openxmlformats.org/drawingml/2006/main">
              <a:ext uri="{FF2B5EF4-FFF2-40B4-BE49-F238E27FC236}">
                <a16:creationId xmlns:a16="http://schemas.microsoft.com/office/drawing/2014/main" id="{5432A12C-A6B3-4BB6-8652-56C9056A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171950"/>
            <a:ext cx="619140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Saved models load once; the dashboard submits one event and displays one prediction.</a:t>
            </a:r>
          </a:p>
        </p:txBody>
      </p:sp>
    </p:spTree>
    <p:extLst>
      <p:ext uri="{BB962C8B-B14F-4D97-AF65-F5344CB8AC3E}">
        <p14:creationId xmlns:p14="http://schemas.microsoft.com/office/powerpoint/2010/main" val="174614900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5" name="Google Shape;328;p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ea9eb275a93404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29" name="Google Shape;329;p30">
            <a:extLst xmlns:a="http://schemas.openxmlformats.org/drawingml/2006/main">
              <a:ext uri="{FF2B5EF4-FFF2-40B4-BE49-F238E27FC236}">
                <a16:creationId xmlns:a16="http://schemas.microsoft.com/office/drawing/2014/main" id="{32AA5FDF-8D72-4988-A1A1-F973E16A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04825"/>
            <a:ext cx="11119500" cy="175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285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How accurately can temperature and pressure estimate relative humidity?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0" name="Google Shape;330;p30">
            <a:extLst xmlns:a="http://schemas.openxmlformats.org/drawingml/2006/main">
              <a:ext uri="{FF2B5EF4-FFF2-40B4-BE49-F238E27FC236}">
                <a16:creationId xmlns:a16="http://schemas.microsoft.com/office/drawing/2014/main" id="{46F15DDC-21DA-4A49-8E5F-F44E6E5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04825"/>
            <a:ext cx="47700" cy="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1" name="Google Shape;331;p30">
            <a:extLst xmlns:a="http://schemas.openxmlformats.org/drawingml/2006/main">
              <a:ext uri="{FF2B5EF4-FFF2-40B4-BE49-F238E27FC236}">
                <a16:creationId xmlns:a16="http://schemas.microsoft.com/office/drawing/2014/main" id="{50EB8E9E-5508-4950-A6DE-52DD47DD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95525"/>
            <a:ext cx="4991100" cy="54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CCCCC"/>
                </a:solidFill>
                <a:latin typeface="Inter"/>
                <a:ea typeface="Inter"/>
                <a:cs typeface="Inter"/>
              </a:rPr>
              <a:t>Inputs: One event's temperature and pressure.</a:t>
            </a:r>
          </a:p>
        </p:txBody>
      </p:sp>
      <p:sp>
        <p:nvSpPr>
          <p:cNvPr id="332" name="Google Shape;332;p30">
            <a:extLst xmlns:a="http://schemas.openxmlformats.org/drawingml/2006/main">
              <a:ext uri="{FF2B5EF4-FFF2-40B4-BE49-F238E27FC236}">
                <a16:creationId xmlns:a16="http://schemas.microsoft.com/office/drawing/2014/main" id="{ED7477C6-E2FD-4D0F-95E8-9B94CA7A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34605"/>
            <a:ext cx="4991100" cy="54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CCCCC"/>
                </a:solidFill>
                <a:latin typeface="Inter"/>
                <a:ea typeface="Inter"/>
                <a:cs typeface="Inter"/>
              </a:rPr>
              <a:t>Output: Predicted relative humidity percentage.</a:t>
            </a:r>
          </a:p>
        </p:txBody>
      </p:sp>
      <p:sp>
        <p:nvSpPr>
          <p:cNvPr id="333" name="Google Shape;333;p30">
            <a:extLst xmlns:a="http://schemas.openxmlformats.org/drawingml/2006/main">
              <a:ext uri="{FF2B5EF4-FFF2-40B4-BE49-F238E27FC236}">
                <a16:creationId xmlns:a16="http://schemas.microsoft.com/office/drawing/2014/main" id="{67FF740F-DF4A-4D65-94C2-2CB58270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73685"/>
            <a:ext cx="4991100" cy="54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CCCCC"/>
                </a:solidFill>
                <a:latin typeface="Inter"/>
                <a:ea typeface="Inter"/>
                <a:cs typeface="Inter"/>
              </a:rPr>
              <a:t>Held-out metrics: R² 0.3189; MAE 11.05 percentage points.</a:t>
            </a:r>
          </a:p>
        </p:txBody>
      </p:sp>
      <p:pic>
        <p:nvPicPr>
          <p:cNvPr id="351" name="Google Shape;334;p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c861fe0eb76485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72225" y="229552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52" name="Google Shape;335;p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c861fe0eb76485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72225" y="303460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53" name="Google Shape;336;p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c861fe0eb76485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72225" y="377368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54" name="Google Shape;337;p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c861fe0eb76485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6025" y="451718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8" name="Google Shape;338;p30">
            <a:extLst xmlns:a="http://schemas.openxmlformats.org/drawingml/2006/main">
              <a:ext uri="{FF2B5EF4-FFF2-40B4-BE49-F238E27FC236}">
                <a16:creationId xmlns:a16="http://schemas.microsoft.com/office/drawing/2014/main" id="{A06D4053-C65F-4398-B73A-B658E456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0675" y="4442399"/>
            <a:ext cx="4991100" cy="54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CCCCC"/>
                </a:solidFill>
                <a:latin typeface="Inter"/>
                <a:ea typeface="Inter"/>
                <a:cs typeface="Inter"/>
              </a:rPr>
              <a:t>Meaning: Useful as a baseline relationship, not an ignition forecast.</a:t>
            </a:r>
          </a:p>
        </p:txBody>
      </p:sp>
      <p:pic>
        <p:nvPicPr>
          <p:cNvPr id="356" name="Google Shape;339;p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ff25f021ac4a6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" y="1824641"/>
            <a:ext cx="5349325" cy="34004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28015417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61" name="Google Shape;344;p3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cfe7fdc28f490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45" name="Google Shape;345;p31">
            <a:extLst xmlns:a="http://schemas.openxmlformats.org/drawingml/2006/main">
              <a:ext uri="{FF2B5EF4-FFF2-40B4-BE49-F238E27FC236}">
                <a16:creationId xmlns:a16="http://schemas.microsoft.com/office/drawing/2014/main" id="{2C99CCDA-340F-4E97-9060-69851B6D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04825"/>
            <a:ext cx="11119500" cy="263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285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Will relative humidity fall below the project's 30% screening threshold?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6" name="Google Shape;346;p31">
            <a:extLst xmlns:a="http://schemas.openxmlformats.org/drawingml/2006/main">
              <a:ext uri="{FF2B5EF4-FFF2-40B4-BE49-F238E27FC236}">
                <a16:creationId xmlns:a16="http://schemas.microsoft.com/office/drawing/2014/main" id="{E3FAAA30-7DB5-4019-A9FF-C6AED5BD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7525"/>
            <a:ext cx="47700" cy="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7" name="Google Shape;347;p31">
            <a:extLst xmlns:a="http://schemas.openxmlformats.org/drawingml/2006/main">
              <a:ext uri="{FF2B5EF4-FFF2-40B4-BE49-F238E27FC236}">
                <a16:creationId xmlns:a16="http://schemas.microsoft.com/office/drawing/2014/main" id="{1A1B2DCA-BB36-47DC-9306-BF600DCD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95525"/>
            <a:ext cx="4991100" cy="8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350">
                <a:solidFill>
                  <a:srgbClr val="CCCCCC"/>
                </a:solidFill>
                <a:latin typeface="Inter"/>
                <a:ea typeface="Inter"/>
                <a:cs typeface="Inter"/>
              </a:rPr>
              <a:t>Model: Logistic regression with a validation-selected threshold.</a:t>
            </a:r>
          </a:p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8" name="Google Shape;348;p31">
            <a:extLst xmlns:a="http://schemas.openxmlformats.org/drawingml/2006/main">
              <a:ext uri="{FF2B5EF4-FFF2-40B4-BE49-F238E27FC236}">
                <a16:creationId xmlns:a16="http://schemas.microsoft.com/office/drawing/2014/main" id="{EACA2B65-F438-47F3-886A-0A1EF813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50480"/>
            <a:ext cx="49911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350">
                <a:solidFill>
                  <a:srgbClr val="CCCCCC"/>
                </a:solidFill>
                <a:latin typeface="Inter"/>
                <a:ea typeface="Inter"/>
                <a:cs typeface="Inter"/>
              </a:rPr>
              <a:t>Output: Probability plus a low-humidity classification.</a:t>
            </a:r>
          </a:p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9" name="Google Shape;349;p31">
            <a:extLst xmlns:a="http://schemas.openxmlformats.org/drawingml/2006/main">
              <a:ext uri="{FF2B5EF4-FFF2-40B4-BE49-F238E27FC236}">
                <a16:creationId xmlns:a16="http://schemas.microsoft.com/office/drawing/2014/main" id="{C1DBBAD6-847D-4136-B7B5-E074F7DD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3985"/>
            <a:ext cx="4991100" cy="8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350">
                <a:solidFill>
                  <a:srgbClr val="CCCCCC"/>
                </a:solidFill>
                <a:latin typeface="Inter"/>
                <a:ea typeface="Inter"/>
                <a:cs typeface="Inter"/>
              </a:rPr>
              <a:t>Rare event: 0.22% positive rate in the Jena evaluation.</a:t>
            </a:r>
          </a:p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367" name="Google Shape;350;p3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8691fa42bd4ea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72225" y="229552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68" name="Google Shape;351;p3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8691fa42bd4ea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72225" y="303460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69" name="Google Shape;352;p3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8691fa42bd4ea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72225" y="3649860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70" name="Google Shape;353;p3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8691fa42bd4ea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6025" y="436478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54" name="Google Shape;354;p31">
            <a:extLst xmlns:a="http://schemas.openxmlformats.org/drawingml/2006/main">
              <a:ext uri="{FF2B5EF4-FFF2-40B4-BE49-F238E27FC236}">
                <a16:creationId xmlns:a16="http://schemas.microsoft.com/office/drawing/2014/main" id="{D8EF334C-BEAC-449B-8D92-631C5274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0675" y="4351323"/>
            <a:ext cx="4991100" cy="54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CCCCC"/>
                </a:solidFill>
                <a:latin typeface="Inter"/>
                <a:ea typeface="Inter"/>
                <a:cs typeface="Inter"/>
              </a:rPr>
              <a:t>Meaning: Review precision and recall before trusting the label.</a:t>
            </a:r>
          </a:p>
        </p:txBody>
      </p:sp>
      <p:pic>
        <p:nvPicPr>
          <p:cNvPr id="372" name="Google Shape;355;p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e713ab8a1c4fb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4706" y="1787713"/>
            <a:ext cx="4468895" cy="390525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2287309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7" name="Google Shape;360;p3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ef4a5954164f0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61" name="Google Shape;361;p32">
            <a:extLst xmlns:a="http://schemas.openxmlformats.org/drawingml/2006/main">
              <a:ext uri="{FF2B5EF4-FFF2-40B4-BE49-F238E27FC236}">
                <a16:creationId xmlns:a16="http://schemas.microsoft.com/office/drawing/2014/main" id="{2B9DF3C2-8FA3-4722-89A0-86A627D8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04825"/>
            <a:ext cx="11119500" cy="350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285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Can temperature plus pressure change flag an exploratory pressure-risk event?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</a:p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2" name="Google Shape;362;p32">
            <a:extLst xmlns:a="http://schemas.openxmlformats.org/drawingml/2006/main">
              <a:ext uri="{FF2B5EF4-FFF2-40B4-BE49-F238E27FC236}">
                <a16:creationId xmlns:a16="http://schemas.microsoft.com/office/drawing/2014/main" id="{F9177F1D-6BC5-4D5A-B26E-D0B73032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7525"/>
            <a:ext cx="47700" cy="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3" name="Google Shape;363;p32">
            <a:extLst xmlns:a="http://schemas.openxmlformats.org/drawingml/2006/main">
              <a:ext uri="{FF2B5EF4-FFF2-40B4-BE49-F238E27FC236}">
                <a16:creationId xmlns:a16="http://schemas.microsoft.com/office/drawing/2014/main" id="{D5EDEB66-8B98-4B0B-A162-2C5CBCF5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95525"/>
            <a:ext cx="4991100" cy="12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350">
                <a:solidFill>
                  <a:srgbClr val="CCCCCC"/>
                </a:solidFill>
                <a:latin typeface="Inter"/>
                <a:ea typeface="Inter"/>
                <a:cs typeface="Inter"/>
              </a:rPr>
              <a:t>Input: One current event; prior pressure comes from PostgreSQL.</a:t>
            </a:r>
          </a:p>
          <a:p xmlns:a="http://schemas.openxmlformats.org/drawingml/2006/main">
            <a:pPr marL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</a:p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4" name="Google Shape;364;p32">
            <a:extLst xmlns:a="http://schemas.openxmlformats.org/drawingml/2006/main">
              <a:ext uri="{FF2B5EF4-FFF2-40B4-BE49-F238E27FC236}">
                <a16:creationId xmlns:a16="http://schemas.microsoft.com/office/drawing/2014/main" id="{D1C63EA6-0F91-4F56-8D78-D89B3FB4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02855"/>
            <a:ext cx="4991100" cy="12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350">
                <a:solidFill>
                  <a:srgbClr val="CCCCCC"/>
                </a:solidFill>
                <a:latin typeface="Inter"/>
                <a:ea typeface="Inter"/>
                <a:cs typeface="Inter"/>
              </a:rPr>
              <a:t>Feature: Pressure change per hour over elapsed time.</a:t>
            </a:r>
          </a:p>
          <a:p xmlns:a="http://schemas.openxmlformats.org/drawingml/2006/main">
            <a:pPr marL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</a:p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5" name="Google Shape;365;p32">
            <a:extLst xmlns:a="http://schemas.openxmlformats.org/drawingml/2006/main">
              <a:ext uri="{FF2B5EF4-FFF2-40B4-BE49-F238E27FC236}">
                <a16:creationId xmlns:a16="http://schemas.microsoft.com/office/drawing/2014/main" id="{DB6D5DC3-6990-4B44-91A2-2F34CDAD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81610"/>
            <a:ext cx="4991100" cy="12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350">
                <a:solidFill>
                  <a:srgbClr val="CCCCCC"/>
                </a:solidFill>
                <a:latin typeface="Inter"/>
                <a:ea typeface="Inter"/>
                <a:cs typeface="Inter"/>
              </a:rPr>
              <a:t>Output: Probability from the saved logistic model.</a:t>
            </a:r>
          </a:p>
          <a:p xmlns:a="http://schemas.openxmlformats.org/drawingml/2006/main">
            <a:pPr marL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</a:p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383" name="Google Shape;366;p3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6655d649714ae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72225" y="229552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84" name="Google Shape;367;p3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6655d649714ae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72225" y="303460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85" name="Google Shape;368;p3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6655d649714ae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72225" y="369748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86" name="Google Shape;369;p3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6655d649714ae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6025" y="4364785"/>
            <a:ext cx="152400" cy="180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70" name="Google Shape;370;p32">
            <a:extLst xmlns:a="http://schemas.openxmlformats.org/drawingml/2006/main">
              <a:ext uri="{FF2B5EF4-FFF2-40B4-BE49-F238E27FC236}">
                <a16:creationId xmlns:a16="http://schemas.microsoft.com/office/drawing/2014/main" id="{FF12B833-006B-49B6-BD53-64DF1AAA4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0675" y="4351323"/>
            <a:ext cx="4991100" cy="54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CCCCC"/>
                </a:solidFill>
                <a:latin typeface="Inter"/>
                <a:ea typeface="Inter"/>
                <a:cs typeface="Inter"/>
              </a:rPr>
              <a:t>Meaning: A supporting signal—not proof of wind or wildfire.</a:t>
            </a:r>
          </a:p>
        </p:txBody>
      </p:sp>
      <p:pic>
        <p:nvPicPr>
          <p:cNvPr id="388" name="Google Shape;371;p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c5c6cb0f548f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6675" y="1980712"/>
            <a:ext cx="5523951" cy="3614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318087334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6" name="Google Shape;376;p33">
            <a:extLst xmlns:a="http://schemas.openxmlformats.org/drawingml/2006/main">
              <a:ext uri="{FF2B5EF4-FFF2-40B4-BE49-F238E27FC236}">
                <a16:creationId xmlns:a16="http://schemas.microsoft.com/office/drawing/2014/main" id="{BFC3725D-8EE2-4070-990E-9B6AA406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0C0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7" name="Google Shape;377;p33">
            <a:extLst xmlns:a="http://schemas.openxmlformats.org/drawingml/2006/main">
              <a:ext uri="{FF2B5EF4-FFF2-40B4-BE49-F238E27FC236}">
                <a16:creationId xmlns:a16="http://schemas.microsoft.com/office/drawing/2014/main" id="{892DD1C7-B095-4CB1-80B1-B99558A8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50100" cy="4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8" name="Google Shape;378;p33">
            <a:extLst xmlns:a="http://schemas.openxmlformats.org/drawingml/2006/main">
              <a:ext uri="{FF2B5EF4-FFF2-40B4-BE49-F238E27FC236}">
                <a16:creationId xmlns:a16="http://schemas.microsoft.com/office/drawing/2014/main" id="{4AB5265C-FF81-450D-BA1C-E9AB6AE1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55000"/>
            <a:ext cx="10500000" cy="6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END-TO-END SYSTEM ARCHITECTURE</a:t>
            </a:r>
          </a:p>
        </p:txBody>
      </p:sp>
      <p:sp>
        <p:nvSpPr>
          <p:cNvPr id="379" name="Google Shape;379;p33">
            <a:extLst xmlns:a="http://schemas.openxmlformats.org/drawingml/2006/main">
              <a:ext uri="{FF2B5EF4-FFF2-40B4-BE49-F238E27FC236}">
                <a16:creationId xmlns:a16="http://schemas.microsoft.com/office/drawing/2014/main" id="{FE7C3966-03C2-4873-8CC5-261D5EBA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000" y="1450000"/>
            <a:ext cx="11000100" cy="51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1. Event generator shapes repeatable measurement scenarios.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2. Mosquitto carries raw telemetry through MQTT.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3. Subscriber validates each event and writes raw + flattened PostgreSQL rows atomically.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4. Read-only API serves analytics and a persistent Server-Sent Events stream.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5. Dashboard shows Analytics, Live Event Stream, and Machine Learning tabs.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6. Separate Flask service loads saved models and predicts one event at a time.</a:t>
            </a:r>
          </a:p>
        </p:txBody>
      </p:sp>
    </p:spTree>
    <p:extLst>
      <p:ext uri="{BB962C8B-B14F-4D97-AF65-F5344CB8AC3E}">
        <p14:creationId xmlns:p14="http://schemas.microsoft.com/office/powerpoint/2010/main" val="47552333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4" name="Google Shape;384;p34">
            <a:extLst xmlns:a="http://schemas.openxmlformats.org/drawingml/2006/main">
              <a:ext uri="{FF2B5EF4-FFF2-40B4-BE49-F238E27FC236}">
                <a16:creationId xmlns:a16="http://schemas.microsoft.com/office/drawing/2014/main" id="{283AB5E3-C7E5-4777-9208-7C6B8D3D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0C0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5" name="Google Shape;385;p34">
            <a:extLst xmlns:a="http://schemas.openxmlformats.org/drawingml/2006/main">
              <a:ext uri="{FF2B5EF4-FFF2-40B4-BE49-F238E27FC236}">
                <a16:creationId xmlns:a16="http://schemas.microsoft.com/office/drawing/2014/main" id="{217D463C-C80F-4C2E-B84F-31B52497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50100" cy="4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86" name="Google Shape;386;p34">
            <a:extLst xmlns:a="http://schemas.openxmlformats.org/drawingml/2006/main">
              <a:ext uri="{FF2B5EF4-FFF2-40B4-BE49-F238E27FC236}">
                <a16:creationId xmlns:a16="http://schemas.microsoft.com/office/drawing/2014/main" id="{7EEF89F4-7A16-465E-81E6-F8AA9748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55000"/>
            <a:ext cx="10500000" cy="6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RAW EVENT &amp; DATABASE CONTRACT</a:t>
            </a:r>
          </a:p>
        </p:txBody>
      </p:sp>
      <p:sp>
        <p:nvSpPr>
          <p:cNvPr id="387" name="Google Shape;387;p34">
            <a:extLst xmlns:a="http://schemas.openxmlformats.org/drawingml/2006/main">
              <a:ext uri="{FF2B5EF4-FFF2-40B4-BE49-F238E27FC236}">
                <a16:creationId xmlns:a16="http://schemas.microsoft.com/office/drawing/2014/main" id="{A265E6DF-DBFA-4166-8352-FD3531F1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000" y="1500000"/>
            <a:ext cx="11000100" cy="489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Raw MQTT message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Identifiers, timestamp, and sensor measurements only. No scenario, severity, outlier, quality, status, or risk labels.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Subscriber enrichment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Validates measurements; derives quality, scenario classification, severity, outlier state, and a transparent screening score.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Atomic storage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jena_telemetry preserves original JSON for audit. fire_weather_events stores flattened fields for queries, exports, and the dashboard.</a:t>
            </a:r>
          </a:p>
        </p:txBody>
      </p:sp>
    </p:spTree>
    <p:extLst>
      <p:ext uri="{BB962C8B-B14F-4D97-AF65-F5344CB8AC3E}">
        <p14:creationId xmlns:p14="http://schemas.microsoft.com/office/powerpoint/2010/main" val="37824568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2" name="Google Shape;392;p35">
            <a:extLst xmlns:a="http://schemas.openxmlformats.org/drawingml/2006/main">
              <a:ext uri="{FF2B5EF4-FFF2-40B4-BE49-F238E27FC236}">
                <a16:creationId xmlns:a16="http://schemas.microsoft.com/office/drawing/2014/main" id="{9E11279F-8B30-4FE0-8C8F-0C2BA8E8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0C0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3" name="Google Shape;393;p35">
            <a:extLst xmlns:a="http://schemas.openxmlformats.org/drawingml/2006/main">
              <a:ext uri="{FF2B5EF4-FFF2-40B4-BE49-F238E27FC236}">
                <a16:creationId xmlns:a16="http://schemas.microsoft.com/office/drawing/2014/main" id="{BCECACC7-CD74-4A2E-A8E5-0ADA6C43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50100" cy="4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4" name="Google Shape;394;p35">
            <a:extLst xmlns:a="http://schemas.openxmlformats.org/drawingml/2006/main">
              <a:ext uri="{FF2B5EF4-FFF2-40B4-BE49-F238E27FC236}">
                <a16:creationId xmlns:a16="http://schemas.microsoft.com/office/drawing/2014/main" id="{CCC00B30-F137-4B81-B438-94FF2957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55000"/>
            <a:ext cx="10500000" cy="6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DASHBOARD &amp; LIVE STREAM</a:t>
            </a:r>
          </a:p>
        </p:txBody>
      </p:sp>
      <p:sp>
        <p:nvSpPr>
          <p:cNvPr id="395" name="Google Shape;395;p35">
            <a:extLst xmlns:a="http://schemas.openxmlformats.org/drawingml/2006/main">
              <a:ext uri="{FF2B5EF4-FFF2-40B4-BE49-F238E27FC236}">
                <a16:creationId xmlns:a16="http://schemas.microsoft.com/office/drawing/2014/main" id="{41C3EF07-C44C-4797-BF85-00CD6939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000" y="1500000"/>
            <a:ext cx="11000100" cy="489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Analytics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Database filters, KPIs, trends, scenario coverage, and attention items.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Live Event Stream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A persistent Server-Sent Events connection pushes newly committed rows immediately as readable event cards.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Machine Learning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A form sends one event through the dashboard API to the standalone service on port 5001.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Boundary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The browser is read-only: it never publishes MQTT events or writes to PostgreSQL.</a:t>
            </a:r>
          </a:p>
        </p:txBody>
      </p:sp>
    </p:spTree>
    <p:extLst>
      <p:ext uri="{BB962C8B-B14F-4D97-AF65-F5344CB8AC3E}">
        <p14:creationId xmlns:p14="http://schemas.microsoft.com/office/powerpoint/2010/main" val="193984356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0" name="Google Shape;400;p36">
            <a:extLst xmlns:a="http://schemas.openxmlformats.org/drawingml/2006/main">
              <a:ext uri="{FF2B5EF4-FFF2-40B4-BE49-F238E27FC236}">
                <a16:creationId xmlns:a16="http://schemas.microsoft.com/office/drawing/2014/main" id="{E733B641-CAC4-4DE4-A14B-B1E6D17D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0C0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1" name="Google Shape;401;p36">
            <a:extLst xmlns:a="http://schemas.openxmlformats.org/drawingml/2006/main">
              <a:ext uri="{FF2B5EF4-FFF2-40B4-BE49-F238E27FC236}">
                <a16:creationId xmlns:a16="http://schemas.microsoft.com/office/drawing/2014/main" id="{C3A35891-D8D1-41FF-B740-EA7CE18E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50100" cy="4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02" name="Google Shape;402;p36">
            <a:extLst xmlns:a="http://schemas.openxmlformats.org/drawingml/2006/main">
              <a:ext uri="{FF2B5EF4-FFF2-40B4-BE49-F238E27FC236}">
                <a16:creationId xmlns:a16="http://schemas.microsoft.com/office/drawing/2014/main" id="{8EDE2B68-7415-4532-A39A-F63503C7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55000"/>
            <a:ext cx="10500000" cy="6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VALIDATION, LIMITATIONS &amp; NEXT STEP</a:t>
            </a:r>
          </a:p>
        </p:txBody>
      </p:sp>
      <p:sp>
        <p:nvSpPr>
          <p:cNvPr id="403" name="Google Shape;403;p36">
            <a:extLst xmlns:a="http://schemas.openxmlformats.org/drawingml/2006/main">
              <a:ext uri="{FF2B5EF4-FFF2-40B4-BE49-F238E27FC236}">
                <a16:creationId xmlns:a16="http://schemas.microsoft.com/office/drawing/2014/main" id="{7720B44A-F512-44C1-8598-6D74F4FC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000" y="1450000"/>
            <a:ext cx="11000100" cy="50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Validated locally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PostgreSQL and Mosquitto ran successfully; 1,150 persisted events were reported; API health, all three tabs, live updates, and ML predictions worked.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Important limitation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Jena contains weather measurements, not ignition or burned-area outcomes. The score and models are educational screening signals.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Next edge step</a:t>
            </a: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Add real Arduino sketches, documented sensors, and hardware photos after physical testing.</a:t>
            </a:r>
          </a:p>
        </p:txBody>
      </p:sp>
    </p:spTree>
    <p:extLst>
      <p:ext uri="{BB962C8B-B14F-4D97-AF65-F5344CB8AC3E}">
        <p14:creationId xmlns:p14="http://schemas.microsoft.com/office/powerpoint/2010/main" val="164857498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4" name="Google Shape;408;p3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13ed17ffa0499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09" name="Google Shape;409;p37">
            <a:extLst xmlns:a="http://schemas.openxmlformats.org/drawingml/2006/main">
              <a:ext uri="{FF2B5EF4-FFF2-40B4-BE49-F238E27FC236}">
                <a16:creationId xmlns:a16="http://schemas.microsoft.com/office/drawing/2014/main" id="{DD2AD25E-A7AC-41ED-859E-51B0BF5B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0720" y="1974502"/>
            <a:ext cx="4470558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5250" b="1" i="0" u="none" cap="none">
                <a:solidFill>
                  <a:srgbClr val="F59E0B"/>
                </a:solidFill>
                <a:latin typeface="Urbanist"/>
                <a:ea typeface="Urbanist"/>
                <a:cs typeface="Urbanist"/>
              </a:rPr>
              <a:t>FINAL SYSTEM</a:t>
            </a:r>
          </a:p>
        </p:txBody>
      </p:sp>
      <p:sp>
        <p:nvSpPr>
          <p:cNvPr id="410" name="Google Shape;410;p37">
            <a:extLst xmlns:a="http://schemas.openxmlformats.org/drawingml/2006/main">
              <a:ext uri="{FF2B5EF4-FFF2-40B4-BE49-F238E27FC236}">
                <a16:creationId xmlns:a16="http://schemas.microsoft.com/office/drawing/2014/main" id="{98E20A6B-C8DE-4923-B6F1-D9F26C8F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7162" y="3012727"/>
            <a:ext cx="4257675" cy="8775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>
                <a:solidFill>
                  <a:srgbClr val="F59E0B"/>
                </a:solidFill>
                <a:latin typeface="Manrope"/>
                <a:ea typeface="Manrope"/>
                <a:cs typeface="Manrope"/>
              </a:rPr>
              <a:t>Conference-ready and reproducible.</a:t>
            </a:r>
          </a:p>
        </p:txBody>
      </p:sp>
      <p:sp>
        <p:nvSpPr>
          <p:cNvPr id="411" name="Google Shape;411;p37">
            <a:extLst xmlns:a="http://schemas.openxmlformats.org/drawingml/2006/main">
              <a:ext uri="{FF2B5EF4-FFF2-40B4-BE49-F238E27FC236}">
                <a16:creationId xmlns:a16="http://schemas.microsoft.com/office/drawing/2014/main" id="{C696D0E3-75ED-4570-85A7-2434FAB8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64148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12" name="Google Shape;412;p37">
            <a:extLst xmlns:a="http://schemas.openxmlformats.org/drawingml/2006/main">
              <a:ext uri="{FF2B5EF4-FFF2-40B4-BE49-F238E27FC236}">
                <a16:creationId xmlns:a16="http://schemas.microsoft.com/office/drawing/2014/main" id="{C2875DDD-C47C-46E2-95A1-BD8D5B62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7162" y="4083248"/>
            <a:ext cx="4257675" cy="914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 u="none" cap="none">
                <a:solidFill>
                  <a:srgbClr val="94A3B8"/>
                </a:solidFill>
                <a:latin typeface="Manrope"/>
                <a:ea typeface="Manrope"/>
                <a:cs typeface="Manrope"/>
              </a:rPr>
              <a:t>Research → MQTT → PostgreSQL → Read-only Dashboard → ML Service
ByteSmart Internship Portfolio</a:t>
            </a:r>
          </a:p>
        </p:txBody>
      </p:sp>
    </p:spTree>
    <p:extLst>
      <p:ext uri="{BB962C8B-B14F-4D97-AF65-F5344CB8AC3E}">
        <p14:creationId xmlns:p14="http://schemas.microsoft.com/office/powerpoint/2010/main" val="39792359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C0C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22" name="Google Shape;417;p3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6e3eb5886a48f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18" name="Google Shape;418;p38">
            <a:extLst xmlns:a="http://schemas.openxmlformats.org/drawingml/2006/main">
              <a:ext uri="{FF2B5EF4-FFF2-40B4-BE49-F238E27FC236}">
                <a16:creationId xmlns:a16="http://schemas.microsoft.com/office/drawing/2014/main" id="{D5B9A518-DD3A-4A2D-B4AF-8B107E0C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81025"/>
            <a:ext cx="1138142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50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SOURCES &amp; DATA REFERENCES</a:t>
            </a:r>
          </a:p>
        </p:txBody>
      </p:sp>
      <p:sp>
        <p:nvSpPr>
          <p:cNvPr id="419" name="Google Shape;419;p38">
            <a:extLst xmlns:a="http://schemas.openxmlformats.org/drawingml/2006/main">
              <a:ext uri="{FF2B5EF4-FFF2-40B4-BE49-F238E27FC236}">
                <a16:creationId xmlns:a16="http://schemas.microsoft.com/office/drawing/2014/main" id="{09C46B03-6659-437D-BDBC-2B04688C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47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0" name="Google Shape;420;p38">
            <a:extLst xmlns:a="http://schemas.openxmlformats.org/drawingml/2006/main">
              <a:ext uri="{FF2B5EF4-FFF2-40B4-BE49-F238E27FC236}">
                <a16:creationId xmlns:a16="http://schemas.microsoft.com/office/drawing/2014/main" id="{24CA282C-3C96-4DB4-A014-2EAE2B97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25" y="1597725"/>
            <a:ext cx="8687700" cy="385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302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600"/>
              <a:buFont typeface="Manrope"/>
              <a:buChar char="●"/>
            </a:pPr>
            <a:r>
              <a:rPr sz="1600" u="sng">
                <a:solidFill>
                  <a:schemeClr val="hlink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6f7fa9940ee545b9"/>
              </a:rPr>
              <a:t>https</a:t>
            </a:r>
            <a:r>
              <a:rPr sz="1600" u="sng">
                <a:solidFill>
                  <a:schemeClr val="hlink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510aef5d80de4447"/>
              </a:rPr>
              <a:t>://www.theweathernetwork.com/en/news/weather/severe/how-the-30-30-30-rule-is-essential-for-wildfire-safety</a:t>
            </a:r>
          </a:p>
          <a:p xmlns:a="http://schemas.openxmlformats.org/drawingml/2006/main">
            <a:pPr marL="457200" marR="0" lvl="0" indent="-3302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600"/>
              <a:buFont typeface="Manrope"/>
              <a:buChar char="●"/>
            </a:pPr>
            <a:r>
              <a:rPr sz="1600" u="sng">
                <a:solidFill>
                  <a:schemeClr val="hlink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7231d723cc384534"/>
              </a:rPr>
              <a:t>https://www.weather.gov/safety/wildfire-ww</a:t>
            </a:r>
          </a:p>
          <a:p xmlns:a="http://schemas.openxmlformats.org/drawingml/2006/main">
            <a:pPr marL="457200" marR="0" lvl="0" indent="-3302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600"/>
              <a:buFont typeface="Manrope"/>
              <a:buChar char="●"/>
            </a:pPr>
            <a:r>
              <a:rPr sz="1600" u="sng">
                <a:solidFill>
                  <a:schemeClr val="hlink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f5a037fed0e64f61"/>
              </a:rPr>
              <a:t>https://www.weather.gov/fire/</a:t>
            </a:r>
          </a:p>
          <a:p xmlns:a="http://schemas.openxmlformats.org/drawingml/2006/main">
            <a:pPr marL="457200" marR="0" lvl="0" indent="-3302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600"/>
              <a:buFont typeface="Manrope"/>
              <a:buChar char="●"/>
            </a:pPr>
            <a:r>
              <a:rPr sz="1600" u="sng">
                <a:solidFill>
                  <a:schemeClr val="hlink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c40b052cbe52490b"/>
              </a:rPr>
              <a:t>https://firms.modaps.eosdis.nasa.gov/</a:t>
            </a:r>
          </a:p>
          <a:p xmlns:a="http://schemas.openxmlformats.org/drawingml/2006/main">
            <a:pPr marL="457200" marR="0" lvl="0" indent="-3302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600"/>
              <a:buFont typeface="Manrope"/>
              <a:buChar char="●"/>
            </a:pPr>
            <a:r>
              <a:rPr sz="1600" u="sng">
                <a:solidFill>
                  <a:schemeClr val="hlink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c2bf7064ed6d4101"/>
              </a:rPr>
              <a:t>https://archive.ics.uci.edu/dataset/162/forest+fires</a:t>
            </a:r>
          </a:p>
          <a:p xmlns:a="http://schemas.openxmlformats.org/drawingml/2006/main">
            <a:pPr marL="457200" marR="0" lvl="0" indent="-3302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600"/>
              <a:buFont typeface="Manrope"/>
              <a:buChar char="●"/>
            </a:pPr>
            <a:r>
              <a:rPr sz="1600" u="sng">
                <a:solidFill>
                  <a:schemeClr val="hlink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bcc41795f8c044cd"/>
              </a:rPr>
              <a:t>https://www.kaggle.com/datasets/pankrzysiu/weather-archive-jena</a:t>
            </a:r>
          </a:p>
          <a:p xmlns:a="http://schemas.openxmlformats.org/drawingml/2006/main">
            <a:pPr marL="457200" marR="0" lvl="0" indent="-33020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600"/>
              <a:buFont typeface="Manrope"/>
              <a:buChar char="●"/>
            </a:pPr>
            <a:r>
              <a:rPr sz="1600" u="sng">
                <a:solidFill>
                  <a:schemeClr val="hlink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ecbc8cf12d7f416b"/>
              </a:rPr>
              <a:t>https://www.w3schools.com/python/</a:t>
            </a:r>
            <a:r>
              <a:rPr sz="1600">
                <a:solidFill>
                  <a:srgbClr val="CBD5E1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marL="0" marR="0" lvl="0" indent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0691620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82" name="Google Shape;425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0997d2b952467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71500" y="1571625"/>
            <a:ext cx="3555950" cy="1444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83" name="Google Shape;426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c655255e17d4a4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317950" y="1571625"/>
            <a:ext cx="3555950" cy="1444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84" name="Google Shape;427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f37683d97884ea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64400" y="1571625"/>
            <a:ext cx="3556099" cy="1444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85" name="Google Shape;428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8cac8dc4cef4f1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71500" y="3206650"/>
            <a:ext cx="3555950" cy="144467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86" name="Google Shape;429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dc9edce1ca4d8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317950" y="3206650"/>
            <a:ext cx="3555950" cy="144467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87" name="Google Shape;430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ea2d247d08480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64400" y="3206650"/>
            <a:ext cx="3556099" cy="144467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88" name="Google Shape;431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d5c5ad08ad4f6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71500" y="4841825"/>
            <a:ext cx="3555950" cy="144467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89" name="Google Shape;432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1844092af5405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317950" y="4841825"/>
            <a:ext cx="3555950" cy="144467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90" name="Google Shape;433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47be3592c8409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64400" y="4841825"/>
            <a:ext cx="3556099" cy="144467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34" name="Google Shape;434;p39">
            <a:extLst xmlns:a="http://schemas.openxmlformats.org/drawingml/2006/main">
              <a:ext uri="{FF2B5EF4-FFF2-40B4-BE49-F238E27FC236}">
                <a16:creationId xmlns:a16="http://schemas.microsoft.com/office/drawing/2014/main" id="{6AFB78FE-A93F-46B7-A5E5-3C363519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0325"/>
            <a:ext cx="3410100" cy="32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cap="none">
                <a:solidFill>
                  <a:srgbClr val="94A3B8"/>
                </a:solidFill>
                <a:latin typeface="Inter"/>
                <a:ea typeface="Inter"/>
                <a:cs typeface="Inter"/>
              </a:rPr>
              <a:t>ByteSmart Internship | Fire Weather Monitoring Project</a:t>
            </a:r>
          </a:p>
        </p:txBody>
      </p:sp>
      <p:sp>
        <p:nvSpPr>
          <p:cNvPr id="435" name="Google Shape;435;p39">
            <a:extLst xmlns:a="http://schemas.openxmlformats.org/drawingml/2006/main">
              <a:ext uri="{FF2B5EF4-FFF2-40B4-BE49-F238E27FC236}">
                <a16:creationId xmlns:a16="http://schemas.microsoft.com/office/drawing/2014/main" id="{47A6649B-890E-4CA8-B744-9D83F48C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3127200" cy="65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The "detective work" phase—looking for patterns and clues in the data before making big decisions.</a:t>
            </a:r>
          </a:p>
        </p:txBody>
      </p:sp>
      <p:sp>
        <p:nvSpPr>
          <p:cNvPr id="436" name="Google Shape;436;p39">
            <a:extLst xmlns:a="http://schemas.openxmlformats.org/drawingml/2006/main">
              <a:ext uri="{FF2B5EF4-FFF2-40B4-BE49-F238E27FC236}">
                <a16:creationId xmlns:a16="http://schemas.microsoft.com/office/drawing/2014/main" id="{B448BFF0-103D-42B0-B43E-AE803702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6550" y="2124075"/>
            <a:ext cx="3127200" cy="65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A massive library of 7 years of weather records (temperature, humidity, pressure) used for practice.</a:t>
            </a:r>
          </a:p>
        </p:txBody>
      </p:sp>
      <p:sp>
        <p:nvSpPr>
          <p:cNvPr id="437" name="Google Shape;437;p39">
            <a:extLst xmlns:a="http://schemas.openxmlformats.org/drawingml/2006/main">
              <a:ext uri="{FF2B5EF4-FFF2-40B4-BE49-F238E27FC236}">
                <a16:creationId xmlns:a16="http://schemas.microsoft.com/office/drawing/2014/main" id="{A68EAB6D-3878-45F4-A99F-3CDDF55E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000" y="2124075"/>
            <a:ext cx="3127500" cy="65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Cleaning up "jittery" data by turning messy minute-by-minute notes into smooth hourly averages.</a:t>
            </a:r>
          </a:p>
        </p:txBody>
      </p:sp>
      <p:sp>
        <p:nvSpPr>
          <p:cNvPr id="438" name="Google Shape;438;p39">
            <a:extLst xmlns:a="http://schemas.openxmlformats.org/drawingml/2006/main">
              <a:ext uri="{FF2B5EF4-FFF2-40B4-BE49-F238E27FC236}">
                <a16:creationId xmlns:a16="http://schemas.microsoft.com/office/drawing/2014/main" id="{54268904-27C3-43FC-862E-9CB7A8C2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9100"/>
            <a:ext cx="3127200" cy="41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A logic bridge that connects a </a:t>
            </a:r>
            <a:r>
              <a:rPr sz="1125" b="1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Claim</a:t>
            </a: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 to hard </a:t>
            </a:r>
            <a:r>
              <a:rPr sz="1125" b="1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Evidence</a:t>
            </a: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 and logical </a:t>
            </a:r>
            <a:r>
              <a:rPr sz="1125" b="1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Reasoning</a:t>
            </a: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.</a:t>
            </a:r>
          </a:p>
        </p:txBody>
      </p:sp>
      <p:sp>
        <p:nvSpPr>
          <p:cNvPr id="439" name="Google Shape;439;p39">
            <a:extLst xmlns:a="http://schemas.openxmlformats.org/drawingml/2006/main">
              <a:ext uri="{FF2B5EF4-FFF2-40B4-BE49-F238E27FC236}">
                <a16:creationId xmlns:a16="http://schemas.microsoft.com/office/drawing/2014/main" id="{D70AD62C-849E-4BC0-BC37-207A6A14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6550" y="3759100"/>
            <a:ext cx="3127200" cy="65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Using math to spot and delete "glitchy" sensor numbers that are way too high or low to be real.</a:t>
            </a:r>
          </a:p>
        </p:txBody>
      </p:sp>
      <p:sp>
        <p:nvSpPr>
          <p:cNvPr id="440" name="Google Shape;440;p39">
            <a:extLst xmlns:a="http://schemas.openxmlformats.org/drawingml/2006/main">
              <a:ext uri="{FF2B5EF4-FFF2-40B4-BE49-F238E27FC236}">
                <a16:creationId xmlns:a16="http://schemas.microsoft.com/office/drawing/2014/main" id="{DB6B5FC8-5EF8-40F4-BF1C-B3720075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000" y="3759100"/>
            <a:ext cx="3127500" cy="65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The fire danger zone: When it is hotter than </a:t>
            </a:r>
            <a:r>
              <a:rPr sz="1125" b="1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30°C</a:t>
            </a: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 and drier than </a:t>
            </a:r>
            <a:r>
              <a:rPr sz="1125" b="1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30% humidity</a:t>
            </a: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 at the same time.</a:t>
            </a:r>
          </a:p>
        </p:txBody>
      </p:sp>
      <p:sp>
        <p:nvSpPr>
          <p:cNvPr id="441" name="Google Shape;441;p39">
            <a:extLst xmlns:a="http://schemas.openxmlformats.org/drawingml/2006/main">
              <a:ext uri="{FF2B5EF4-FFF2-40B4-BE49-F238E27FC236}">
                <a16:creationId xmlns:a16="http://schemas.microsoft.com/office/drawing/2014/main" id="{B6984F3B-6A85-42AE-8AB8-A1085377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94275"/>
            <a:ext cx="3127200" cy="65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A lightweight publish/subscribe protocol used to carry raw weather events through Mosquitto.</a:t>
            </a:r>
          </a:p>
        </p:txBody>
      </p:sp>
      <p:sp>
        <p:nvSpPr>
          <p:cNvPr id="442" name="Google Shape;442;p39">
            <a:extLst xmlns:a="http://schemas.openxmlformats.org/drawingml/2006/main">
              <a:ext uri="{FF2B5EF4-FFF2-40B4-BE49-F238E27FC236}">
                <a16:creationId xmlns:a16="http://schemas.microsoft.com/office/drawing/2014/main" id="{F458F3F2-0C76-47C7-8390-C55C8CFE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6550" y="5394275"/>
            <a:ext cx="3127200" cy="65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The database that preserves raw payloads and flattened dashboard records before display.</a:t>
            </a:r>
          </a:p>
        </p:txBody>
      </p:sp>
      <p:sp>
        <p:nvSpPr>
          <p:cNvPr id="443" name="Google Shape;443;p39">
            <a:extLst xmlns:a="http://schemas.openxmlformats.org/drawingml/2006/main">
              <a:ext uri="{FF2B5EF4-FFF2-40B4-BE49-F238E27FC236}">
                <a16:creationId xmlns:a16="http://schemas.microsoft.com/office/drawing/2014/main" id="{06366117-B915-4663-A2FF-AD656AE60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000" y="5394275"/>
            <a:ext cx="3127500" cy="4800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b="0" i="0" u="none" cap="none">
                <a:solidFill>
                  <a:srgbClr val="475569"/>
                </a:solidFill>
                <a:latin typeface="Inter"/>
                <a:ea typeface="Inter"/>
                <a:cs typeface="Inter"/>
              </a:rPr>
              <a:t>Server-Sent Events keep one connection open so newly committed rows appear immediately.</a:t>
            </a:r>
          </a:p>
        </p:txBody>
      </p:sp>
      <p:pic>
        <p:nvPicPr>
          <p:cNvPr id="501" name="Google Shape;444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92c3c59f7044f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0100" y="1804987"/>
            <a:ext cx="1905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45" name="Google Shape;445;p39">
            <a:extLst xmlns:a="http://schemas.openxmlformats.org/drawingml/2006/main">
              <a:ext uri="{FF2B5EF4-FFF2-40B4-BE49-F238E27FC236}">
                <a16:creationId xmlns:a16="http://schemas.microsoft.com/office/drawing/2014/main" id="{07B01DA1-F388-4216-85C1-34F0DA44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71650"/>
            <a:ext cx="360000" cy="20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</a:rPr>
              <a:t>EDA</a:t>
            </a:r>
          </a:p>
        </p:txBody>
      </p:sp>
      <p:pic>
        <p:nvPicPr>
          <p:cNvPr id="503" name="Google Shape;446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2323c5212034e0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546550" y="1804987"/>
            <a:ext cx="17145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47" name="Google Shape;447;p39">
            <a:extLst xmlns:a="http://schemas.openxmlformats.org/drawingml/2006/main">
              <a:ext uri="{FF2B5EF4-FFF2-40B4-BE49-F238E27FC236}">
                <a16:creationId xmlns:a16="http://schemas.microsoft.com/office/drawing/2014/main" id="{808A48E7-B363-45AC-8B21-27E6A838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00" y="1771650"/>
            <a:ext cx="1270200" cy="20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</a:rPr>
              <a:t>Jena Dataset</a:t>
            </a:r>
          </a:p>
        </p:txBody>
      </p:sp>
      <p:pic>
        <p:nvPicPr>
          <p:cNvPr id="505" name="Google Shape;448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8215c4570440c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293000" y="1804987"/>
            <a:ext cx="1905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49" name="Google Shape;449;p39">
            <a:extLst xmlns:a="http://schemas.openxmlformats.org/drawingml/2006/main">
              <a:ext uri="{FF2B5EF4-FFF2-40B4-BE49-F238E27FC236}">
                <a16:creationId xmlns:a16="http://schemas.microsoft.com/office/drawing/2014/main" id="{654B49D7-EA4E-4330-8A4B-DFD4280E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7800" y="1771650"/>
            <a:ext cx="1110000" cy="20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</a:rPr>
              <a:t>Resampling</a:t>
            </a:r>
          </a:p>
        </p:txBody>
      </p:sp>
      <p:pic>
        <p:nvPicPr>
          <p:cNvPr id="507" name="Google Shape;450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423dc2c1af4f2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0100" y="3440013"/>
            <a:ext cx="1905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51" name="Google Shape;451;p39">
            <a:extLst xmlns:a="http://schemas.openxmlformats.org/drawingml/2006/main">
              <a:ext uri="{FF2B5EF4-FFF2-40B4-BE49-F238E27FC236}">
                <a16:creationId xmlns:a16="http://schemas.microsoft.com/office/drawing/2014/main" id="{ED736A81-BEB9-4A91-B6D2-9EADF9B8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6675"/>
            <a:ext cx="800100" cy="20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</a:rPr>
              <a:t>CER Map</a:t>
            </a:r>
          </a:p>
        </p:txBody>
      </p:sp>
      <p:pic>
        <p:nvPicPr>
          <p:cNvPr id="509" name="Google Shape;452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bbb9b22e8624d5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546550" y="3440013"/>
            <a:ext cx="219075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53" name="Google Shape;453;p39">
            <a:extLst xmlns:a="http://schemas.openxmlformats.org/drawingml/2006/main">
              <a:ext uri="{FF2B5EF4-FFF2-40B4-BE49-F238E27FC236}">
                <a16:creationId xmlns:a16="http://schemas.microsoft.com/office/drawing/2014/main" id="{6FCE6EF8-8EBD-4FF3-91C8-8BCE3AF3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9925" y="3406675"/>
            <a:ext cx="1110000" cy="20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</a:rPr>
              <a:t>IQR Filtering</a:t>
            </a:r>
          </a:p>
        </p:txBody>
      </p:sp>
      <p:pic>
        <p:nvPicPr>
          <p:cNvPr id="511" name="Google Shape;454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5561ffa9bf743e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293000" y="3440013"/>
            <a:ext cx="17145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55" name="Google Shape;455;p39">
            <a:extLst xmlns:a="http://schemas.openxmlformats.org/drawingml/2006/main">
              <a:ext uri="{FF2B5EF4-FFF2-40B4-BE49-F238E27FC236}">
                <a16:creationId xmlns:a16="http://schemas.microsoft.com/office/drawing/2014/main" id="{A8E77EEF-9762-4C3B-82CA-744E6446B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8750" y="3406675"/>
            <a:ext cx="980100" cy="20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</a:rPr>
              <a:t>30/30 Rule</a:t>
            </a:r>
          </a:p>
        </p:txBody>
      </p:sp>
      <p:pic>
        <p:nvPicPr>
          <p:cNvPr id="513" name="Google Shape;456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e4d3d987c84a2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0100" y="5075187"/>
            <a:ext cx="1905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57" name="Google Shape;457;p39">
            <a:extLst xmlns:a="http://schemas.openxmlformats.org/drawingml/2006/main">
              <a:ext uri="{FF2B5EF4-FFF2-40B4-BE49-F238E27FC236}">
                <a16:creationId xmlns:a16="http://schemas.microsoft.com/office/drawing/2014/main" id="{018A2AD3-B531-4F82-80A4-955401BF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41850"/>
            <a:ext cx="1520100" cy="20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</a:rPr>
              <a:t>MQTT</a:t>
            </a:r>
          </a:p>
        </p:txBody>
      </p:sp>
      <p:pic>
        <p:nvPicPr>
          <p:cNvPr id="515" name="Google Shape;458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1ee1b60a751421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546550" y="5075187"/>
            <a:ext cx="1905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59" name="Google Shape;459;p39">
            <a:extLst xmlns:a="http://schemas.openxmlformats.org/drawingml/2006/main">
              <a:ext uri="{FF2B5EF4-FFF2-40B4-BE49-F238E27FC236}">
                <a16:creationId xmlns:a16="http://schemas.microsoft.com/office/drawing/2014/main" id="{E70EFF68-596E-4129-9FBB-6E3D9135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50" y="5041850"/>
            <a:ext cx="1230300" cy="20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</a:rPr>
              <a:t>PostgreSQL</a:t>
            </a:r>
          </a:p>
        </p:txBody>
      </p:sp>
      <p:pic>
        <p:nvPicPr>
          <p:cNvPr id="517" name="Google Shape;460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78ec46c2f34a7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293000" y="5075187"/>
            <a:ext cx="1905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61" name="Google Shape;461;p39">
            <a:extLst xmlns:a="http://schemas.openxmlformats.org/drawingml/2006/main">
              <a:ext uri="{FF2B5EF4-FFF2-40B4-BE49-F238E27FC236}">
                <a16:creationId xmlns:a16="http://schemas.microsoft.com/office/drawing/2014/main" id="{B34E831B-D00B-4682-A7D2-F0EDB675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7800" y="5041850"/>
            <a:ext cx="1070100" cy="20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 u="none" cap="none">
                <a:solidFill>
                  <a:srgbClr val="1E293B"/>
                </a:solidFill>
                <a:latin typeface="Poppins SemiBold"/>
                <a:ea typeface="Poppins SemiBold"/>
                <a:cs typeface="Poppins SemiBold"/>
              </a:rPr>
              <a:t>SSE</a:t>
            </a:r>
          </a:p>
        </p:txBody>
      </p:sp>
      <p:sp>
        <p:nvSpPr>
          <p:cNvPr id="462" name="Google Shape;462;p39">
            <a:extLst xmlns:a="http://schemas.openxmlformats.org/drawingml/2006/main">
              <a:ext uri="{FF2B5EF4-FFF2-40B4-BE49-F238E27FC236}">
                <a16:creationId xmlns:a16="http://schemas.microsoft.com/office/drawing/2014/main" id="{C683940A-C9CD-4719-8DAA-99A51425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1500"/>
            <a:ext cx="11401500" cy="43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50">
                <a:solidFill>
                  <a:srgbClr val="FFFFFF"/>
                </a:solidFill>
                <a:latin typeface="Urbanist"/>
                <a:ea typeface="Urbanist"/>
                <a:cs typeface="Urbanist"/>
              </a:rPr>
              <a:t>Glossary: Project Terms</a:t>
            </a:r>
          </a:p>
        </p:txBody>
      </p:sp>
      <p:sp>
        <p:nvSpPr>
          <p:cNvPr id="463" name="Google Shape;463;p39">
            <a:extLst xmlns:a="http://schemas.openxmlformats.org/drawingml/2006/main">
              <a:ext uri="{FF2B5EF4-FFF2-40B4-BE49-F238E27FC236}">
                <a16:creationId xmlns:a16="http://schemas.microsoft.com/office/drawing/2014/main" id="{2A21C898-C1ED-4AB2-8769-61658079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1025"/>
            <a:ext cx="47700" cy="4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8215033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Microsoft PowerPoint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Rathin Seth</dc:creator>
  <lastModifiedBy>Rathin Seth</lastModifiedBy>
  <dc:title>Fire Weather Monitoring Project</dc:title>
  <dcterms:created xsi:type="dcterms:W3CDTF">2026-08-03T22:30:40.1510000Z</dcterms:created>
  <dcterms:modified xsi:type="dcterms:W3CDTF">2026-08-03T22:30:40.1510000Z</dcterms:modified>
</coreProperties>
</file>